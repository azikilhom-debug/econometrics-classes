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27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889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| 1-DARS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elegant_infographic_style_back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>
              <a:alpha val="88000"/>
            </a:srgbClr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F7F8FA">
              <a:alpha val="93000"/>
            </a:srgbClr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5303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EKONOMETRIKAGA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04672" y="3054096"/>
            <a:ext cx="4754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Fanning maqsadi va vazifalari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657600"/>
            <a:ext cx="1097280" cy="0"/>
          </a:xfrm>
          <a:prstGeom prst="line">
            <a:avLst/>
          </a:prstGeom>
          <a:noFill/>
          <a:ln w="381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3877056"/>
            <a:ext cx="4297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 |  S. Komilov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20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savoldan — ma’lumotga, tahlildan — asosli qarorga.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KIRISH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Darsning asosiy savoli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hodisa haqida bildirgan fikrimizni ma’lumot yordamida qanday tekshiramiz?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828800" y="4160520"/>
            <a:ext cx="1933956" cy="658368"/>
          </a:xfrm>
          <a:prstGeom prst="roundRect">
            <a:avLst>
              <a:gd name="adj" fmla="val 11111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01952" y="4233672"/>
            <a:ext cx="178765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08476" y="433425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18788" y="4160520"/>
            <a:ext cx="19339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91940" y="4233672"/>
            <a:ext cx="178765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433425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08776" y="4160520"/>
            <a:ext cx="19339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81928" y="4233672"/>
            <a:ext cx="178765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Tahlil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8452" y="433425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98764" y="4160520"/>
            <a:ext cx="19339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71916" y="4233672"/>
            <a:ext cx="178765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5074920"/>
            <a:ext cx="9326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Ekonometrikaning asosiy vazifasi iqtisodiy fikrlarni real ma’lumot bilan bog‘lashdir.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MOTIVATSIYA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Nima uchun bu fanni o‘rganamiz?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64008" cy="896112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011680"/>
            <a:ext cx="482803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Nima sababdan savdo kamaydi?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64008" cy="896112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82803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haqiqatan savdoni oshiradimi?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2587752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2587752"/>
            <a:ext cx="64008" cy="896112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7552" y="2770632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3182112"/>
            <a:ext cx="482803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Ta’lim daromadni oshiradimi?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2587752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2587752"/>
            <a:ext cx="64008" cy="896112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9672" y="2770632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9672" y="3182112"/>
            <a:ext cx="482803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Foiz stavkasi inflyatsiyaga ta’sir qiladimi?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3758184"/>
            <a:ext cx="110185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64008" cy="896112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7552" y="3941064"/>
            <a:ext cx="106710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 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4352544"/>
            <a:ext cx="1063447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Talaba davomatining bahoga ta’siri bormi?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bunday savollarga taxmin bilan emas, ma’lumot yordamida javob izlaydi.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DARS YO‘NALISHI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Bugun nimani o‘rganamiz?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621792" cy="621792"/>
          </a:xfrm>
          <a:prstGeom prst="ellipse">
            <a:avLst/>
          </a:prstGeom>
          <a:solidFill>
            <a:srgbClr val="13263D"/>
          </a:solidFill>
          <a:ln w="1905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75104"/>
            <a:ext cx="6217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44752" y="2231136"/>
            <a:ext cx="96012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788920"/>
            <a:ext cx="1188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tushunchasi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23160" y="1920240"/>
            <a:ext cx="621792" cy="621792"/>
          </a:xfrm>
          <a:prstGeom prst="ellipse">
            <a:avLst/>
          </a:prstGeom>
          <a:solidFill>
            <a:srgbClr val="13263D"/>
          </a:solidFill>
          <a:ln w="1905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1975104"/>
            <a:ext cx="6217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2" y="2231136"/>
            <a:ext cx="96012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21992" y="2788920"/>
            <a:ext cx="1188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Fikr va dalil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0" y="1920240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0" y="1975104"/>
            <a:ext cx="6217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45152" y="2231136"/>
            <a:ext cx="96012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22192" y="2788920"/>
            <a:ext cx="1188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O‘zgaruvchi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0" y="1920240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1975104"/>
            <a:ext cx="6217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45352" y="2231136"/>
            <a:ext cx="96012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22392" y="2788920"/>
            <a:ext cx="1188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va X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1920240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0" y="1975104"/>
            <a:ext cx="6217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45552" y="2231136"/>
            <a:ext cx="96012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22592" y="2788920"/>
            <a:ext cx="1188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23960" y="1920240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23960" y="1975104"/>
            <a:ext cx="6217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45752" y="2231136"/>
            <a:ext cx="96012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2788920"/>
            <a:ext cx="1188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Ekonometrikaning maqsadlari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424160" y="1920240"/>
            <a:ext cx="621792" cy="6217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424160" y="1975104"/>
            <a:ext cx="6217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222992" y="2788920"/>
            <a:ext cx="1188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Amaliy qo‘llanish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88720" y="4343400"/>
            <a:ext cx="96926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Oddiydan murakkabga: avval muammo va savol, keyin o‘zgaruvchilar va ma’lumot, undan so‘ng tahlil va qaror.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ASOSIY CASE-STUDY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Universitet yonidagi kafe</a:t>
            </a:r>
            <a:endParaRPr lang="en-US" sz="2800" dirty="0"/>
          </a:p>
        </p:txBody>
      </p:sp>
      <p:pic>
        <p:nvPicPr>
          <p:cNvPr id="4" name="Image 0" descr="/mnt/data/a_wide_clean_modern_vector_illustration_scene_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507492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463040"/>
            <a:ext cx="51206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Kafe egasi oxirgi bir oyda savdo ayrim kunlari yuqori, ayrim kunlari esa ancha past bo‘lganini ko‘rdi.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" y="2834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70432" y="3127248"/>
            <a:ext cx="448056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nima sababdan o‘zgaradi?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960120" y="4434840"/>
            <a:ext cx="4800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savol butun dars davomida asosiy misol sifatida ishlatiladi.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KAFE CASE-STUDY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Savdoga nimalar ta’sir qilishi mumkin?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0" y="2331720"/>
            <a:ext cx="2286000" cy="1051560"/>
          </a:xfrm>
          <a:prstGeom prst="ellipse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7492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14600" y="1700784"/>
            <a:ext cx="2423160" cy="877824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71800" y="1170432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1243584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1453896"/>
            <a:ext cx="365760" cy="1124712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80960" y="1170432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26680" y="1243584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 soni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80960" y="1453896"/>
            <a:ext cx="0" cy="1124712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46920" y="141732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92640" y="1490472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Raqobat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46920" y="1700784"/>
            <a:ext cx="0" cy="877824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406908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4142232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Ob-havo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06040" y="4352544"/>
            <a:ext cx="2331720" cy="0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08960" y="434340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54680" y="4416552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Xizmat sifati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09160" y="4626864"/>
            <a:ext cx="228600" cy="0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52360" y="434340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4416552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Universitetdagi darslar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52360" y="4626864"/>
            <a:ext cx="0" cy="0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646920" y="406908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0" y="4142232"/>
            <a:ext cx="1508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Ta’til davri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46920" y="4352544"/>
            <a:ext cx="0" cy="0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iqtisodiy natijaga ko‘pincha bir nechta omil bir vaqtning o‘zida ta’sir qiladi.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FIKR VA DALIL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Kafe egasining taxmini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Menimcha, narxni oshirganimiz uchun savdo kamaydi.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971800" y="4160520"/>
            <a:ext cx="6217920" cy="822960"/>
          </a:xfrm>
          <a:prstGeom prst="roundRect">
            <a:avLst>
              <a:gd name="adj" fmla="val 8889"/>
            </a:avLst>
          </a:prstGeom>
          <a:solidFill>
            <a:srgbClr val="FFF8E8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4343400"/>
            <a:ext cx="5760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fikr bo‘lishi mumkin. Lekin bu hali dalil emas.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ASOSIY FARQ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Fikr va dalil farqi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64008" cy="274320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91640"/>
            <a:ext cx="47731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4736592" cy="1993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“Reklama savdoni oshiradi.”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— mantiqiy taxmin yoki nazariy qarash. Uni tekshirish uchun kuzatuv va ma’lumot zarur.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64008" cy="27432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1691640"/>
            <a:ext cx="47731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2103120"/>
            <a:ext cx="4736592" cy="1993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va savdo haqidagi real ma’lumotlarning tizimli tahlili.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Dalil fikrni tasdiqlashi, rad etishi yoki aniqlashtirishi mumkin.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4709160"/>
            <a:ext cx="4937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FIKR  ≠  DALIL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KAFE CASE-STUDY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Narx va savdo misoli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4800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64008" cy="150876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712" y="1691640"/>
            <a:ext cx="44531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2103120"/>
            <a:ext cx="441655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20 000 so‘m  →  25 000 so‘m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508760"/>
            <a:ext cx="4800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46520" y="1508760"/>
            <a:ext cx="64008" cy="150876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56832" y="1691640"/>
            <a:ext cx="44531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56832" y="2103120"/>
            <a:ext cx="441655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 mln so‘m  →  1,8 mln so‘m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337560" y="3291840"/>
            <a:ext cx="5577840" cy="0"/>
          </a:xfrm>
          <a:prstGeom prst="line">
            <a:avLst/>
          </a:prstGeom>
          <a:noFill/>
          <a:ln w="15240">
            <a:solidFill>
              <a:srgbClr val="CDD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97840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aynan narx oshgani sababli kamayganmi?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4617720"/>
            <a:ext cx="8503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Ikki ko‘rsatkich bir vaqtda o‘zgargani sababni avtomatik isbotlamaydi.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KAFE CASE-STUDY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Boshqa sabablar ham bo‘lishi mumkin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2120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64008" cy="877824"/>
          </a:xfrm>
          <a:prstGeom prst="rect">
            <a:avLst/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Yangi raqobatchi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2011680"/>
            <a:ext cx="48280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Hududda yangi kafe ochildi.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2120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64008" cy="877824"/>
          </a:xfrm>
          <a:prstGeom prst="rect">
            <a:avLst/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Imtihon davri tugadi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8280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Universitetga keluvchilar kamaydi.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587752"/>
            <a:ext cx="52120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2587752"/>
            <a:ext cx="64008" cy="877824"/>
          </a:xfrm>
          <a:prstGeom prst="rect">
            <a:avLst/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3272" y="2770632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kamaydi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3182112"/>
            <a:ext cx="48280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Kafe kamroq ko‘rindi.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2587752"/>
            <a:ext cx="52120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2587752"/>
            <a:ext cx="64008" cy="877824"/>
          </a:xfrm>
          <a:prstGeom prst="rect">
            <a:avLst/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5392" y="2770632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 soni kamaydi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3182112"/>
            <a:ext cx="48280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Potensial xaridorlar soni tushdi.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3758184"/>
            <a:ext cx="110185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758184"/>
            <a:ext cx="64008" cy="877824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3272" y="3941064"/>
            <a:ext cx="106710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Xizmat sifati o‘zgardi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3272" y="4352544"/>
            <a:ext cx="10634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 tajribasi yomonlashgan bo‘lishi mumkin.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3000" y="5257800"/>
            <a:ext cx="98755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 tahlilda boshqa omillarni ham hisobga olish zarur bo‘lishi mumkin.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EKONOMETRIK FIKRLASH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Oddiy fikrdan ilmiy savolga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64008" cy="2011680"/>
          </a:xfrm>
          <a:prstGeom prst="rect">
            <a:avLst/>
          </a:prstGeom>
          <a:solidFill>
            <a:srgbClr val="A15F5A"/>
          </a:solidFill>
          <a:ln w="12700">
            <a:solidFill>
              <a:srgbClr val="A15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712" y="1783080"/>
            <a:ext cx="44074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Oddiy fikr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2194560"/>
            <a:ext cx="4370832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“Narx savdoni kamaytirdi.”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jumla sabab haqida qat’iy xulosa beradi, lekin tekshiruv usulini ko‘rsatmaydi.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6002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64008" cy="2011680"/>
          </a:xfrm>
          <a:prstGeom prst="rect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2552" y="1783080"/>
            <a:ext cx="44074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Tekshiriladigan savol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2552" y="2194560"/>
            <a:ext cx="4370832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“Narxdagi o‘zgarish savdo hajmidagi o‘zgarish bilan qanday bog‘liq?”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savolni ma’lumot yordamida o‘rganish mumkin.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4434840"/>
            <a:ext cx="96926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 fikrlash taxminni tekshiriladigan savolga aylantiradi.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TA’RIF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Ekonometrika nima?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1463040"/>
            <a:ext cx="10149840" cy="1481328"/>
          </a:xfrm>
          <a:prstGeom prst="roundRect">
            <a:avLst>
              <a:gd name="adj" fmla="val 4938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78308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— iqtisodiy hodisa va jarayonlarni real ma’lumotlar asosida miqdoriy o‘rganish usullari majmui.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554480" y="3840480"/>
            <a:ext cx="2093976" cy="731520"/>
          </a:xfrm>
          <a:prstGeom prst="roundRect">
            <a:avLst>
              <a:gd name="adj" fmla="val 10000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27632" y="3913632"/>
            <a:ext cx="194767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savol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94176" y="401421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04488" y="3840480"/>
            <a:ext cx="20939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77640" y="3913632"/>
            <a:ext cx="194767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44184" y="401421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54496" y="3840480"/>
            <a:ext cx="20939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7648" y="3913632"/>
            <a:ext cx="194767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Tahlil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94192" y="401421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04504" y="3840480"/>
            <a:ext cx="20939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77656" y="3913632"/>
            <a:ext cx="194767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 xulosa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983480"/>
            <a:ext cx="9326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Econometrics atamasi birinchi marta shu fan nomi sifatida uchrashi mumkin; bundan keyin “ekonometrika” ishlatiladi.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ASOSIY G‘OYA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Ekonometrikani sodda tushunish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Iqtisodiyot savol beradi.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ma’lumot yordamida javob izlaydi.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0" cy="1965960"/>
          </a:xfrm>
          <a:prstGeom prst="line">
            <a:avLst/>
          </a:prstGeom>
          <a:noFill/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32004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" y="3200400"/>
            <a:ext cx="64008" cy="137160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53312" y="3383280"/>
            <a:ext cx="40416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fikr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3312" y="3794760"/>
            <a:ext cx="400507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savdoni oshiradi.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29400" y="32004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29400" y="3200400"/>
            <a:ext cx="64008" cy="13716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39712" y="3383280"/>
            <a:ext cx="40416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 savol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39712" y="3794760"/>
            <a:ext cx="400507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savdoni qancha o‘zgartiradi?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9235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Fikr “nima bo‘lishi mumkin?”ni aytadi; ekonometrik savol esa “buni ma’lumot bilan qanday tekshiramiz?” deb so‘raydi.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FANLARARO BOG‘LIQLIK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Ekonometrikaning uchta tayanchi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2743200" cy="18288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IQTISODIYOT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 va nazariya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2743200" cy="1828800"/>
          </a:xfrm>
          <a:prstGeom prst="ellipse">
            <a:avLst/>
          </a:prstGeom>
          <a:solidFill>
            <a:srgbClr val="F5F2E9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MATEMATIKA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Bog‘liqlik va model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0" y="1554480"/>
            <a:ext cx="2743200" cy="18288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266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STATISTIKA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26680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 va tahlil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34840" y="416052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4416552"/>
            <a:ext cx="2880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331720" y="3383280"/>
            <a:ext cx="3749040" cy="777240"/>
          </a:xfrm>
          <a:prstGeom prst="line">
            <a:avLst/>
          </a:prstGeom>
          <a:noFill/>
          <a:ln w="1778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23560" y="3383280"/>
            <a:ext cx="457200" cy="777240"/>
          </a:xfrm>
          <a:prstGeom prst="line">
            <a:avLst/>
          </a:prstGeom>
          <a:noFill/>
          <a:ln w="1778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15400" y="3383280"/>
            <a:ext cx="0" cy="777240"/>
          </a:xfrm>
          <a:prstGeom prst="line">
            <a:avLst/>
          </a:prstGeom>
          <a:noFill/>
          <a:ln w="1778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5440680"/>
            <a:ext cx="9601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iqtisodiy mazmunni matematik ifoda va statistik tahlil bilan birlashtiradi.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UCH TAYANCH: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Iqtisodiyot bizga nimani beradi?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64008" cy="2651760"/>
          </a:xfrm>
          <a:prstGeom prst="rect">
            <a:avLst/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91640"/>
            <a:ext cx="50017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nazariya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4965192" cy="1901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Iqtisodiyot hodisalar qanday bog‘liq bo‘lishi mumkinligini tushuntiradi va tekshirilishi kerak bo‘lgan nazariy fikrlarni shakllantiradi.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508760"/>
            <a:ext cx="48920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64008" cy="265176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1112" y="1691640"/>
            <a:ext cx="45445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Oddiy misol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1112" y="2103120"/>
            <a:ext cx="4507992" cy="1901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Boshqa sharoitlar o‘zgarmasa, mahsulot narxi oshganda talab kamayishi mumkin.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— tekshirilishi mumkin bo‘lgan iqtisodiy taxmin.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80160" y="4754880"/>
            <a:ext cx="9601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Iqtisodiyot “qanday bog‘liqlikni kutishimiz kerak?” degan savolga yo‘l ko‘rsatadi.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UCH TAYANCH: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Matematika nima beradi?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160020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83080" y="174650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 = f(Narx)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965960" y="222199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yozuv talab hajmi narx bilan bog‘liq bo‘lishi mumkinligini ifodalaydi.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80160" y="3246120"/>
            <a:ext cx="9646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0160" y="3246120"/>
            <a:ext cx="64008" cy="150876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0472" y="3429000"/>
            <a:ext cx="9299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Nima uchun kerak?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0472" y="3840480"/>
            <a:ext cx="926287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Matematika iqtisodiy fikrni qisqa, aniq va tartibli shaklda ifodalashga yordam beradi. Bu yerda hali hisob-kitob qilmayapmiz — faqat bog‘liqlikni belgilayapmiz.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965960" y="5120640"/>
            <a:ext cx="8229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Formulani tushuncha ortidan beramiz: avval mazmun, keyin belgi.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UCH TAYANCH: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Statistika nima beradi?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64008" cy="128016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Tartibga soladi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2011680"/>
            <a:ext cx="48280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Ma’lumotlarni jadval va ko‘rsatkichlar ko‘rinishida tashkil qiladi.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64008" cy="128016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Umumlashtiradi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8280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Ko‘p kuzatuvni tushunarli xulosaga jamlaydi.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990088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2990088"/>
            <a:ext cx="64008" cy="128016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3272" y="3172968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Farqlarni ko‘rsatadi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3584448"/>
            <a:ext cx="48280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O‘rtacha qiymat va tarqalishni ko‘rishga yordam beradi.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2990088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2990088"/>
            <a:ext cx="64008" cy="128016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5392" y="3172968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Bog‘liqlikni o‘rganadi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3584448"/>
            <a:ext cx="48280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Ko‘rsatkichlar birga qanday o‘zgarishini tekshirishga yordam beradi.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4892040"/>
            <a:ext cx="98755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ushbu statistik vositalardan iqtisodiy savollarga javob topishda foydalanadi.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ASOSIY TUSHUNCHA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O‘zgaruvchi nima?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719072"/>
            <a:ext cx="94183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O‘zgaruvchi (variable) — qiymati odamlar, korxonalar, hududlar yoki vaqt davomida o‘zgarishi mumkin bo‘lgan ko‘rsatkich.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3200400"/>
            <a:ext cx="1298448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3218688"/>
            <a:ext cx="1152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3200400"/>
            <a:ext cx="1298448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9464" y="3218688"/>
            <a:ext cx="1152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 haqi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32504" y="3200400"/>
            <a:ext cx="1298448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05656" y="3218688"/>
            <a:ext cx="1152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68696" y="3200400"/>
            <a:ext cx="1298448" cy="347472"/>
          </a:xfrm>
          <a:prstGeom prst="roundRect">
            <a:avLst>
              <a:gd name="adj" fmla="val 39474"/>
            </a:avLst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41848" y="3218688"/>
            <a:ext cx="1152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Daromad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04888" y="3200400"/>
            <a:ext cx="1298448" cy="347472"/>
          </a:xfrm>
          <a:prstGeom prst="roundRect">
            <a:avLst>
              <a:gd name="adj" fmla="val 39474"/>
            </a:avLst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3218688"/>
            <a:ext cx="1152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41080" y="3200400"/>
            <a:ext cx="1298448" cy="347472"/>
          </a:xfrm>
          <a:prstGeom prst="roundRect">
            <a:avLst>
              <a:gd name="adj" fmla="val 39474"/>
            </a:avLst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14232" y="3218688"/>
            <a:ext cx="1152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Inflyatsiya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77272" y="3200400"/>
            <a:ext cx="1298448" cy="347472"/>
          </a:xfrm>
          <a:prstGeom prst="roundRect">
            <a:avLst>
              <a:gd name="adj" fmla="val 39474"/>
            </a:avLst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50424" y="3218688"/>
            <a:ext cx="115214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4343400"/>
            <a:ext cx="96926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Agar ko‘rsatkichning qiymati kuzatuvdan kuzatuvga o‘zgarsa, u ekonometrik tahlilda o‘zgaruvchi bo‘lishi mumkin.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TALABALAR YOSHI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O‘zgaruvchiga oddiy misol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417320"/>
          <a:ext cx="5943600" cy="2971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Talaba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Yosh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Ali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Madina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Jasur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Shahnoza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108960" y="1417320"/>
            <a:ext cx="5943600" cy="585216"/>
          </a:xfrm>
          <a:prstGeom prst="rect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4612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44768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11680" y="51206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Talabalarning yoshi bir xil emas. Demak, yosh — o‘zgaruvchi.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Y TUSHUNCHASI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Natijaviy o‘zgaruvchi — 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508760"/>
            <a:ext cx="2103120" cy="2103120"/>
          </a:xfrm>
          <a:prstGeom prst="ellipse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93392"/>
            <a:ext cx="2103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7132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— tadqiqotda tushuntirish yoki prognoz qilish maqsad qilingan natijaviy ko‘rsatkich.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0" y="2697480"/>
            <a:ext cx="68580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Masalan, reklamaning savdoga ta’siri o‘rganilsa, savdo hajmi Y hisoblanadi.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1071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 haqi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967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7415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Inflyatsiya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5548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863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Foyda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AMALIY QOIDA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ni qanday topamiz?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Biz nimani tushuntirmoqchimiz?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828800" y="2907792"/>
            <a:ext cx="8686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Savolda “natija” bo‘lib turgan ko‘rsatkichni toping.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40233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4023360"/>
            <a:ext cx="64008" cy="11430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21992" y="4206240"/>
            <a:ext cx="7790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21992" y="4617720"/>
            <a:ext cx="77541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“Reklama savdoga ta’sir qiladimi?”  →  Y = Savdo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X TUSHUNCHASI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Tushuntiruvchi o‘zgaruvchi —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508760"/>
            <a:ext cx="2103120" cy="2103120"/>
          </a:xfrm>
          <a:prstGeom prst="ellipse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93392"/>
            <a:ext cx="2103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0" y="1664208"/>
            <a:ext cx="6995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— Y dagi o‘zgarishni tushuntirish uchun o‘rganilayotgan omil.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0" y="2560320"/>
            <a:ext cx="6949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tushuntiruvchi o‘zgaruvchi (explanatory variable) deb ataladi. U sabab bo‘lishi mumkin, lekin sababiylikni alohida tekshirish zarur.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3756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1071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967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Tajriba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7415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Daromad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55480" y="416052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28632" y="4178808"/>
            <a:ext cx="11795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Davomat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AMALIY QOIDA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ni qanday topamiz?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Y nima sababdan o‘zgarishi mumkin?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828800" y="2907792"/>
            <a:ext cx="8686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Savolda Y ga ta’sir qilishi kutilayotgan omilni toping.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886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0" y="3886200"/>
            <a:ext cx="64008" cy="1280160"/>
          </a:xfrm>
          <a:prstGeom prst="rect">
            <a:avLst/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39112" y="4069080"/>
            <a:ext cx="36758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Natija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9112" y="4480560"/>
            <a:ext cx="3639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Savdo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3886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3886200"/>
            <a:ext cx="64008" cy="128016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65392" y="4069080"/>
            <a:ext cx="36758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4480560"/>
            <a:ext cx="3639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Reklama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MUSTAHKAMLASH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va X misollari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0"/>
          <a:ext cx="10927080" cy="356616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Savol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Reklama savdoga ta’sir qiladimi?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Savdo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Reklama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Tajriba ish haqiga ta’sir qiladimi?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 haqi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Tajriba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Davomat bahoga ta’sir qiladimi?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Baho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Davomat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Daromad iste’molga ta’sir qiladimi?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Iste’mol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Daromad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1417320"/>
            <a:ext cx="10927080" cy="731520"/>
          </a:xfrm>
          <a:prstGeom prst="rect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0120" y="1627632"/>
            <a:ext cx="6035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0" y="1627632"/>
            <a:ext cx="15544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35440" y="1627632"/>
            <a:ext cx="1920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Y VA 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 sodda bog‘liqlik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141732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83080" y="156362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f(X)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965960" y="203911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yozuv Y ning qiymati X bilan bog‘liq bo‘lishi mumkinligini anglatadi.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10896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3108960"/>
            <a:ext cx="64008" cy="141732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6152" y="3291840"/>
            <a:ext cx="44531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Misol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152" y="3703320"/>
            <a:ext cx="441655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= f(Reklama)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reklama hajmi bilan bog‘liq bo‘lishi mumkin.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310896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3108960"/>
            <a:ext cx="64008" cy="141732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65392" y="3291840"/>
            <a:ext cx="44531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Misol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3703320"/>
            <a:ext cx="441655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Iste’mol = f(Daromad)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Iste’mol daromad bilan bog‘liq bo‘lishi mumkin.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71600" y="5074920"/>
            <a:ext cx="9509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yozuvlar hali sababiy ta’sirni isbotlamaydi — ular o‘rganiladigan bog‘liqlikni ifodalaydi.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CASE-STUDY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Kafe misolida Y va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344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E9D8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Tushuntiriladigan natija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87452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X₁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79392" y="2670048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89320" y="187452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932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062472" y="2670048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0" y="187452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45552" y="2670048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555480" y="187452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5548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X₄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28632" y="2670048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Raqobat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251960" y="4251960"/>
            <a:ext cx="6720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bir dona natija bo‘lishi mumkin, X esa bir yoki bir nechta tushuntiruvchi omillardan iborat bo‘lishi mumkin.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REAL IQTISODIYOT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 nechta omil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150876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83080" y="165506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= f(Narx, Reklama, Mijozlar, Raqobat)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965960" y="213055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iqtisodiyotda natijaga ko‘pincha bir nechta omil birgalikda ta’sir qiladi.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57400" y="3657600"/>
            <a:ext cx="8046720" cy="0"/>
          </a:xfrm>
          <a:prstGeom prst="line">
            <a:avLst/>
          </a:prstGeom>
          <a:noFill/>
          <a:ln w="1524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0" y="406908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01952" y="4087368"/>
            <a:ext cx="1499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406908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96512" y="4087368"/>
            <a:ext cx="1499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06908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91072" y="4087368"/>
            <a:ext cx="1499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406908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85632" y="4087368"/>
            <a:ext cx="1499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Raqobat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5074920"/>
            <a:ext cx="91440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 sababli “faqat bitta omil sabab” degan xulosaga shoshilmaslik kerak.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Nima uchun ma’lumot kerak?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508760"/>
            <a:ext cx="64008" cy="2377440"/>
          </a:xfrm>
          <a:prstGeom prst="rect">
            <a:avLst/>
          </a:prstGeom>
          <a:solidFill>
            <a:srgbClr val="A15F5A"/>
          </a:solidFill>
          <a:ln w="12700">
            <a:solidFill>
              <a:srgbClr val="A15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16152" y="1691640"/>
            <a:ext cx="41330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Ma’lumotsiz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6152" y="2103120"/>
            <a:ext cx="409651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Bizda faqat taxmin bo‘ladi. Qaysi omil qanchalik muhimligini aniq ajrata olmaymiz.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150876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75120" y="1508760"/>
            <a:ext cx="64008" cy="2377440"/>
          </a:xfrm>
          <a:prstGeom prst="rect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85432" y="1691640"/>
            <a:ext cx="41330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 bilan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85432" y="2103120"/>
            <a:ext cx="409651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Taxminni kuzatuvlar yordamida tekshirish, taqqoslash va asosli xulosa chiqarish mumkin.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4572000"/>
            <a:ext cx="93268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nazariy fikrni real kuzatuvlar yordamida tekshiradi.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74520" y="5257800"/>
            <a:ext cx="8412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 (data) — tahlil qilinadigan kuzatuvlar va o‘lchovlar to‘plami.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Kafe ma’lumotlari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3611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Narx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Reklama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Mijozlar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Savdo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Dushanba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20 000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150 000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92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2,7 mln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Seshanba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20 000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100 000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 mln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Chorshanba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25 000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1,6 mln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Payshanba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25 000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50 000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D27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 mln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1325880"/>
            <a:ext cx="10835640" cy="658368"/>
          </a:xfrm>
          <a:prstGeom prst="rect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999232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28032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76872" y="1481328"/>
            <a:ext cx="1874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897112" y="1481328"/>
            <a:ext cx="2606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 bir qator — bir kunlik kuzatuv. Har bir ustun — alohida o‘zgaruvchi.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Jadval bizga nimani ko‘rsatadi?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64008" cy="114300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2011680"/>
            <a:ext cx="48280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20 000 dan 25 000 so‘mga o‘zgargan.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64008" cy="11430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8280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dan 150 000 so‘mgacha farq qilgan.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2880360"/>
            <a:ext cx="64008" cy="114300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3272" y="306324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3474720"/>
            <a:ext cx="48280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 dan 92 nafargacha o‘zgargan.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28803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2880360"/>
            <a:ext cx="64008" cy="11430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5392" y="306324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3474720"/>
            <a:ext cx="48280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 mln dan 2,7 mln so‘mgacha o‘zgargan.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34440" y="4663440"/>
            <a:ext cx="9692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ushbu o‘zgarishlar o‘rtasidagi tizimli bog‘liqlikni o‘rganishga yordam beradi.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MAQSADLAR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Ekonometrikaning 1-maqsadi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TUSHUNTIRISH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66360" y="2240280"/>
            <a:ext cx="1828800" cy="0"/>
          </a:xfrm>
          <a:prstGeom prst="line">
            <a:avLst/>
          </a:prstGeom>
          <a:noFill/>
          <a:ln w="381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Nima uchun Y o‘zgaryapti?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828800" y="2907792"/>
            <a:ext cx="8686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Kafe misoli: nima uchun savdo kamaymoqda?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1-MAQSAD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Tushuntirishga misol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kamayishi quyidagi omillar bilan bog‘liq bo‘lishi mumkin: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64008" cy="141732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" y="2514600"/>
            <a:ext cx="20299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926080"/>
            <a:ext cx="199339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 oshishi talabni kamaytirishi mumkin.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749040" y="23317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49040" y="2331720"/>
            <a:ext cx="64008" cy="141732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59352" y="2514600"/>
            <a:ext cx="20299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59352" y="2926080"/>
            <a:ext cx="199339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kamayishi ko‘rinishni pasaytirishi mumkin.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23317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7960" y="2331720"/>
            <a:ext cx="64008" cy="141732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48272" y="2514600"/>
            <a:ext cx="20299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Raqobat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48272" y="2926080"/>
            <a:ext cx="199339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Yangi kafe mijozlarni bo‘lishishi mumkin.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0" y="23317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26880" y="2331720"/>
            <a:ext cx="64008" cy="141732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37192" y="2514600"/>
            <a:ext cx="20299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 soni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37192" y="2926080"/>
            <a:ext cx="199339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Hududdagi mijoz oqimi o‘zgarishi mumkin.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96926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 tahlil qaysi omillar muhim ekanini va ularning Y bilan qanday bog‘liqligini o‘rganadi.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MAQSADLAR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2-maqsad: ta’sirni miqdoriy baholash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64008" cy="210312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712" y="1691640"/>
            <a:ext cx="44074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Oddiy fikr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2103120"/>
            <a:ext cx="437083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“Reklama savdoni oshiradi.”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yo‘nalishni bildiradi, lekin miqdorni aytmaydi.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50876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64008" cy="210312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2552" y="1691640"/>
            <a:ext cx="44074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 savol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2552" y="2103120"/>
            <a:ext cx="4370832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“Reklama xarajati 1 mln so‘mga oshsa, savdo o‘rtacha qanchaga o‘zgaradi?”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80160" y="4434840"/>
            <a:ext cx="9601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faqat “bor yoki yo‘q”ni emas, imkon qadar ta’sir miqdorini ham baholashga intiladi.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MAQSADLAR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3-maqsad: iqtisodiy nazariyani tekshirish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141732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83080" y="156362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 ↑   ⇒   Talab ↓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965960" y="203911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Nazariya boshqa sharoitlar o‘zgarmasa, narx oshishi talabni kamaytirishini taxmin qiladi.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ma’lumotlarda ham shu bog‘liqlik kuzatiladimi?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417320" y="5166360"/>
            <a:ext cx="9326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nazariy g‘oyalarni empirik dalil bilan solishtirishga yordam beradi.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MAQSADLAR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4-maqsad: prognoz qilish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64008" cy="1207008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00200"/>
            <a:ext cx="49103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11680"/>
            <a:ext cx="48737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Keyingi oy savdosi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64008" cy="1207008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1112" y="1600200"/>
            <a:ext cx="49103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Inflyatsiya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1112" y="2011680"/>
            <a:ext cx="48737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Kelgusi yil inflyatsiyasi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292608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2926080"/>
            <a:ext cx="64008" cy="1207008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3108960"/>
            <a:ext cx="49103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520440"/>
            <a:ext cx="48737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Kelajakdagi mahsulot talabi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292608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2926080"/>
            <a:ext cx="64008" cy="1207008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1112" y="3108960"/>
            <a:ext cx="49103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Kredit xavfi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1112" y="3520440"/>
            <a:ext cx="48737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Kreditni qaytarmaslik ehtimoli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97280" y="4663440"/>
            <a:ext cx="10012680" cy="749808"/>
          </a:xfrm>
          <a:prstGeom prst="roundRect">
            <a:avLst>
              <a:gd name="adj" fmla="val 7317"/>
            </a:avLst>
          </a:prstGeom>
          <a:solidFill>
            <a:srgbClr val="FFF8E8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4855464"/>
            <a:ext cx="9372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Prognoz (forecast) — kelajakni aniq bilish emas, mavjud ma’lumotlar asosida asosli baho berishdir.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4-MAQSAD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Kafe prognozi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Savol: keyingi oy kafe qancha savdo qilishi mumkin?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861718" cy="713232"/>
          </a:xfrm>
          <a:prstGeom prst="roundRect">
            <a:avLst>
              <a:gd name="adj" fmla="val 10256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816352"/>
            <a:ext cx="171541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Oldingi savdo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21838" y="291693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32150" y="2743200"/>
            <a:ext cx="186171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5302" y="2816352"/>
            <a:ext cx="171541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 va reklama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9589" y="291693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49901" y="2743200"/>
            <a:ext cx="186171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23053" y="2816352"/>
            <a:ext cx="171541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Mijozlar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57339" y="291693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67651" y="2743200"/>
            <a:ext cx="186171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40803" y="2816352"/>
            <a:ext cx="171541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Tahlil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75090" y="291693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85402" y="2743200"/>
            <a:ext cx="186171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58554" y="2816352"/>
            <a:ext cx="171541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Prognoz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343400"/>
            <a:ext cx="9326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Prognozning sifati ma’lumot sifati va tanlangan tahlil usuliga bog‘liq.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MAQSADLAR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5-maqsad: qaror qabul qilish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uchun 5 mln so‘mmi yoki 10 mln so‘mmi ajratish kerak?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011680" y="406908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4069080"/>
            <a:ext cx="64008" cy="11430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21992" y="4251960"/>
            <a:ext cx="7790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Qaror uchun dalil kerak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21992" y="4663440"/>
            <a:ext cx="77541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xarajatining savdoga kutilayotgan ta’sirini bilmasdan, katta byudjet ajratish faqat taxminga tayanadi.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UMUMLASHTIRISH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Ekonometrikaning asosiy vazifalari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Aniqlash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33472" y="2157984"/>
            <a:ext cx="228600" cy="320040"/>
          </a:xfrm>
          <a:prstGeom prst="chevron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3127248"/>
            <a:ext cx="18653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Muammo va omillarni belgilash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2990088" y="18745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81528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O‘lchash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92040" y="2157984"/>
            <a:ext cx="228600" cy="320040"/>
          </a:xfrm>
          <a:prstGeom prst="chevron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71800" y="3127248"/>
            <a:ext cx="18653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Bog‘liqlik miqdorini baholash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248656" y="18745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Tekshirish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50608" y="2157984"/>
            <a:ext cx="228600" cy="320040"/>
          </a:xfrm>
          <a:prstGeom prst="chevron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0368" y="3127248"/>
            <a:ext cx="18653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Nazariy fikrni ma’lumotda sinash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7507224" y="18745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98664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Prognoz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9176" y="2157984"/>
            <a:ext cx="228600" cy="320040"/>
          </a:xfrm>
          <a:prstGeom prst="chevron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88936" y="3127248"/>
            <a:ext cx="18653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Kelajak uchun asosli baho berish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9765792" y="18745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57232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Qaror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47504" y="3127248"/>
            <a:ext cx="18653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Natijaga tayangan holda tanlov qilish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1417320" y="4892040"/>
            <a:ext cx="9326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vazifalar bir-biridan alohida emas: ular bitta tadqiqot jarayonining bosqichlari sifatida ishlaydi.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QO‘LLANILISH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Biznesda ekonometrika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64008" cy="1207008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Biznes savoli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2011680"/>
            <a:ext cx="48280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Narxni oshirish foydalimi?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64008" cy="1207008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160020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Biznes savoli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8280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Reklama savdoni oshiryaptimi?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926080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2926080"/>
            <a:ext cx="64008" cy="1207008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3272" y="310896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Biznes savoli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3520440"/>
            <a:ext cx="48280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Qaysi mahsulotga talab yuqori?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2926080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2926080"/>
            <a:ext cx="64008" cy="1207008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5392" y="3108960"/>
            <a:ext cx="48646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Biznes savoli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3520440"/>
            <a:ext cx="48280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Qaysi omillar foydaga ta’sir qiladi?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800600"/>
            <a:ext cx="9966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Biznesda ekonometrika qarorlarni faqat tajriba yoki sezgiga emas, ma’lumotga tayashga yordam beradi.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QO‘LLANILISH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Bankda ekonometrika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Qaysi mijoz kreditni qaytarmasligi mumkin?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60120" y="402336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4041648"/>
            <a:ext cx="159105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Daromad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402336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36392" y="4041648"/>
            <a:ext cx="159105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 joyi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402336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39512" y="4041648"/>
            <a:ext cx="159105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Mavjud qarz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402336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42632" y="4041648"/>
            <a:ext cx="159105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Kredit tarixi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72600" y="402336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45752" y="4041648"/>
            <a:ext cx="159105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To‘lovlar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4983480"/>
            <a:ext cx="9692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Natija: kredit xavfini baholash va kredit qarorini ma’lumot asosida qo‘llab-quvvatlash.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QO‘LLANILISH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Marketingda ekonometrika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 reklamasiga qo‘shimcha mablag‘ sarflash savdoni oshiradimi?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508760" y="397764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412394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= f(Reklama)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965960" y="459943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Savdo reklama xarajati bilan bog‘liq bo‘lishi mumkin; ekonometrika bu bog‘liqlikni ma’lumotda o‘rganadi.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QO‘LLANILISH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Mehnat bozorida ekonometrika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141732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83080" y="156362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 haqi = f(Ta’lim, Tajriba, Kasb)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965960" y="203911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 haqi ta’lim darajasi, ish tajribasi va kasb kabi omillar bilan bog‘liq bo‘lishi mumkin.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Nima sababdan ayrim xodimlar boshqalarga qaraganda ko‘proq ish haqi oladi?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QO‘LLANILISH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Davlat iqtisodiyotida ekonometrika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874520" cy="347472"/>
          </a:xfrm>
          <a:prstGeom prst="roundRect">
            <a:avLst>
              <a:gd name="adj" fmla="val 39474"/>
            </a:avLst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35608"/>
            <a:ext cx="17282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Inflyatsiya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417320"/>
            <a:ext cx="187452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90672" y="1435608"/>
            <a:ext cx="17282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Foiz stavkasi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0" y="1417320"/>
            <a:ext cx="187452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30952" y="1435608"/>
            <a:ext cx="17282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Ishsizlik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417320"/>
            <a:ext cx="187452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71232" y="1435608"/>
            <a:ext cx="17282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o‘sish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738360" y="1417320"/>
            <a:ext cx="1874520" cy="347472"/>
          </a:xfrm>
          <a:prstGeom prst="roundRect">
            <a:avLst>
              <a:gd name="adj" fmla="val 39474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11512" y="1435608"/>
            <a:ext cx="17282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Valyuta kursi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274320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83080" y="288950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Inflyatsiya = f(Foiz stavkasi, Valyuta kursi, Talab, …)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965960" y="336499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Davlat siyosatida bir natijaga ko‘plab makroiqtisodiy omillar ta’sir qilishi mumkin.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9601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 tahlil siyosat choralari va iqtisodiy ko‘rsatkichlar o‘rtasidagi bog‘liqlikni baholashga xizmat qiladi.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QO‘LLANILISH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Ta’limda ekonometrika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25296" y="1719072"/>
            <a:ext cx="457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A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89611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Talabaning o‘zlashtirishiga nimalar ta’sir qiladi?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508760" y="3886200"/>
            <a:ext cx="9144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4032504"/>
            <a:ext cx="8595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Baho = f(Davomat, O‘qish vaqti, Oldingi bilim)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965960" y="4507992"/>
            <a:ext cx="8229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Talabaning bahosi davomat, o‘qish uchun ajratilgan vaqt va boshlang‘ich bilim bilan bog‘liq bo‘lishi mumkin.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MUHIM OGOHLANTIRISH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Bog‘liqlik har doim sabab emas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64008" cy="228600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712" y="1691640"/>
            <a:ext cx="41330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Yozda kuzatiladi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2103120"/>
            <a:ext cx="409651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Muzqaymoq savdosi ↑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 paytda suvda cho‘kish holatlari ham 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150876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0" y="1508760"/>
            <a:ext cx="64008" cy="22860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76872" y="1691640"/>
            <a:ext cx="41330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Katta savol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76872" y="2103120"/>
            <a:ext cx="409651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Muzqaymoq cho‘kishga sabab bo‘ldimi?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617720"/>
            <a:ext cx="98755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Ikki hodisa birga o‘zgarsa, ular o‘rtasida bog‘liqlik bo‘lishi mumkin. Ammo bu sababiylik degani emas.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BOG‘LIQLIK VA SABABIYLIK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Uchinchi omil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0" y="132588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17720" y="1545336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Havo harorati ↑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51560" y="2880360"/>
            <a:ext cx="4251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2880360"/>
            <a:ext cx="64008" cy="150876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1872" y="3063240"/>
            <a:ext cx="39044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Natija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3474720"/>
            <a:ext cx="386791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Issiq havoda muzqaymoq iste’moli oshadi.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03720" y="2880360"/>
            <a:ext cx="4251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03720" y="2880360"/>
            <a:ext cx="64008" cy="1508760"/>
          </a:xfrm>
          <a:prstGeom prst="rect">
            <a:avLst/>
          </a:prstGeom>
          <a:solidFill>
            <a:srgbClr val="496C8F"/>
          </a:solidFill>
          <a:ln w="12700">
            <a:solidFill>
              <a:srgbClr val="496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14032" y="3063240"/>
            <a:ext cx="39044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Natija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4032" y="3474720"/>
            <a:ext cx="386791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Issiq havoda ko‘proq odam cho‘miladi.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2148840"/>
            <a:ext cx="0" cy="731520"/>
          </a:xfrm>
          <a:prstGeom prst="line">
            <a:avLst/>
          </a:prstGeom>
          <a:noFill/>
          <a:ln w="1905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2331720" cy="731520"/>
          </a:xfrm>
          <a:prstGeom prst="line">
            <a:avLst/>
          </a:prstGeom>
          <a:noFill/>
          <a:ln w="1905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983480"/>
            <a:ext cx="100584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Bog‘liqlik mavjudligi sababiy ta’sir mavjudligini avtomatik ravishda anglatmaydi.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BUTUN DARSNING MANTIQI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Ekonometrik tahlilning umumiy jarayoni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328493" cy="676656"/>
          </a:xfrm>
          <a:prstGeom prst="roundRect">
            <a:avLst>
              <a:gd name="adj" fmla="val 10811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581912"/>
            <a:ext cx="1182189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Muammo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60013" y="168249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70325" y="1508760"/>
            <a:ext cx="1328493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43477" y="1581912"/>
            <a:ext cx="1182189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savol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44537" y="168249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54849" y="1508760"/>
            <a:ext cx="1328493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28001" y="1581912"/>
            <a:ext cx="1182189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va 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29062" y="168249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39374" y="1508760"/>
            <a:ext cx="1328493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12526" y="1581912"/>
            <a:ext cx="1182189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Ma’lumot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13586" y="168249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23898" y="1508760"/>
            <a:ext cx="1328493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97050" y="1581912"/>
            <a:ext cx="1182189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Tahlil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98111" y="168249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08423" y="1508760"/>
            <a:ext cx="1328493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1575" y="1581912"/>
            <a:ext cx="1182189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82635" y="1682496"/>
            <a:ext cx="146304" cy="310896"/>
          </a:xfrm>
          <a:prstGeom prst="chevron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92947" y="1508760"/>
            <a:ext cx="1328493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66099" y="1581912"/>
            <a:ext cx="1182189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Qaror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063240"/>
            <a:ext cx="10332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3063240"/>
            <a:ext cx="64008" cy="1828800"/>
          </a:xfrm>
          <a:prstGeom prst="rect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24712" y="3246120"/>
            <a:ext cx="99852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Kafe misolida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4712" y="3657600"/>
            <a:ext cx="9948672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Muammo — savdo kamaydi.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savol — savdo nima sababdan o‘zgaryapti?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— savdo.  X — narx, reklama, mijozlar, raqobat.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Keyin ma’lumot yig‘iladi, tahlil qilinadi, xulosa va qaror shakllantiriladi.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88720" y="5257800"/>
            <a:ext cx="9784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— bu bitta formula emas, balki savoldan qarorgacha bo‘lgan mantiqiy tadqiqot jarayonidir.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85F"/>
                </a:solidFill>
              </a:rPr>
              <a:t>YAKUN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Bugungi darsdan eslab qolish kerak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10896" cy="310896"/>
          </a:xfrm>
          <a:prstGeom prst="ellipse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62456"/>
            <a:ext cx="310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261872" y="1289304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iqtisodiy savollarga real ma’lumot yordamida javob izlaydi.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892808"/>
            <a:ext cx="310896" cy="310896"/>
          </a:xfrm>
          <a:prstGeom prst="ellipse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29384"/>
            <a:ext cx="310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61872" y="1856232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Fikr va dalil bir xil narsa emas.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459736"/>
            <a:ext cx="310896" cy="310896"/>
          </a:xfrm>
          <a:prstGeom prst="ellipse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496312"/>
            <a:ext cx="310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61872" y="2423160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O‘zgaruvchi — qiymati o‘zgaradigan ko‘rsatkich.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026664"/>
            <a:ext cx="310896" cy="310896"/>
          </a:xfrm>
          <a:prstGeom prst="ellipse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310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61872" y="2990088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— tushuntiriladigan yoki prognoz qilinadigan natija.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593592"/>
            <a:ext cx="310896" cy="310896"/>
          </a:xfrm>
          <a:prstGeom prst="ellipse">
            <a:avLst/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61872" y="3557016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— natijani tushuntirish uchun o‘rganiladigan omil.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160520"/>
            <a:ext cx="310896" cy="310896"/>
          </a:xfrm>
          <a:prstGeom prst="ellipse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197096"/>
            <a:ext cx="310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61872" y="4123944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Ekonometrika aniqlash, o‘lchash, tekshirish, prognoz va qaror uchun ishlatiladi.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4727448"/>
            <a:ext cx="310896" cy="310896"/>
          </a:xfrm>
          <a:prstGeom prst="ellipse">
            <a:avLst/>
          </a:prstGeom>
          <a:solidFill>
            <a:srgbClr val="C9A85F"/>
          </a:solidFill>
          <a:ln w="12700">
            <a:solidFill>
              <a:srgbClr val="C9A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764024"/>
            <a:ext cx="3108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61872" y="4690872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Bog‘liqlik har doim sababiylikni anglatmaydi.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5394960"/>
            <a:ext cx="10652760" cy="786384"/>
          </a:xfrm>
          <a:prstGeom prst="roundRect">
            <a:avLst>
              <a:gd name="adj" fmla="val 6977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5559552"/>
            <a:ext cx="10012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KEYINGI DARS  •  Iqtisodiyotni ekonometrik modellashtirishning zarurligi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143000" y="5989320"/>
            <a:ext cx="9921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C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Bugun iqtisodiy muammoni ekonometrik savolga aylantirishni o‘rgandik. Keyingi darsda bog‘liqliklarni model shaklida ifodalashni o‘rganamiz.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9224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4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2578</Words>
  <Application>Microsoft Office PowerPoint</Application>
  <PresentationFormat>Widescreen</PresentationFormat>
  <Paragraphs>598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Lecture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Ekonometrikaga kirish</dc:title>
  <dc:subject>Ekonometrikaga kirish: fanning maqsadi va vazifalari</dc:subject>
  <dc:creator>OpenAI</dc:creator>
  <cp:lastModifiedBy>Sarvarjon Komilov</cp:lastModifiedBy>
  <cp:revision>2</cp:revision>
  <dcterms:created xsi:type="dcterms:W3CDTF">2026-09-08T04:31:40Z</dcterms:created>
  <dcterms:modified xsi:type="dcterms:W3CDTF">2026-09-12T04:48:42Z</dcterms:modified>
</cp:coreProperties>
</file>