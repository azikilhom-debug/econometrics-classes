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75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14400" y="4983480"/>
            <a:ext cx="1828800" cy="438912"/>
          </a:xfrm>
          <a:prstGeom prst="roundRect">
            <a:avLst/>
          </a:prstGeom>
          <a:solidFill>
            <a:srgbClr val="123052"/>
          </a:solidFill>
          <a:ln w="12700">
            <a:solidFill>
              <a:srgbClr val="12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697480" y="5065776"/>
            <a:ext cx="3474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>
                <a:solidFill>
                  <a:srgbClr val="C2A56B"/>
                </a:solidFill>
                <a:latin typeface="Aptos"/>
              </a:rPr>
              <a:t>→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83280" y="4983480"/>
            <a:ext cx="1828800" cy="438912"/>
          </a:xfrm>
          <a:prstGeom prst="roundRect">
            <a:avLst/>
          </a:prstGeom>
          <a:solidFill>
            <a:srgbClr val="123052"/>
          </a:solidFill>
          <a:ln w="12700">
            <a:solidFill>
              <a:srgbClr val="12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66360" y="5065776"/>
            <a:ext cx="3474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>
                <a:solidFill>
                  <a:srgbClr val="C2A56B"/>
                </a:solidFill>
                <a:latin typeface="Aptos"/>
              </a:rP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60" y="4983480"/>
            <a:ext cx="1828800" cy="438912"/>
          </a:xfrm>
          <a:prstGeom prst="roundRect">
            <a:avLst/>
          </a:prstGeom>
          <a:solidFill>
            <a:srgbClr val="123052"/>
          </a:solidFill>
          <a:ln w="12700">
            <a:solidFill>
              <a:srgbClr val="12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35240" y="5065776"/>
            <a:ext cx="3474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>
                <a:solidFill>
                  <a:srgbClr val="C2A56B"/>
                </a:solidFill>
                <a:latin typeface="Aptos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4983480"/>
            <a:ext cx="1828800" cy="438912"/>
          </a:xfrm>
          <a:prstGeom prst="roundRect">
            <a:avLst/>
          </a:prstGeom>
          <a:solidFill>
            <a:srgbClr val="123052"/>
          </a:solidFill>
          <a:ln w="12700">
            <a:solidFill>
              <a:srgbClr val="12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DECISION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234440"/>
            <a:ext cx="100584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700" b="1">
                <a:solidFill>
                  <a:srgbClr val="FFFFFF"/>
                </a:solidFill>
                <a:latin typeface="Aptos Display"/>
              </a:rPr>
              <a:t>EKONOMETRIK MODEL TUSHUNCHASI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874519"/>
            <a:ext cx="100584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700" b="1">
                <a:solidFill>
                  <a:srgbClr val="FFFFFF"/>
                </a:solidFill>
                <a:latin typeface="Aptos Display"/>
              </a:rPr>
              <a:t>VA MODELLASHTIRISH BOSQICHLARI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788920"/>
            <a:ext cx="7132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0" dirty="0">
                <a:solidFill>
                  <a:srgbClr val="D4E0E8"/>
                </a:solidFill>
                <a:latin typeface="Aptos"/>
              </a:rPr>
              <a:t>2-</a:t>
            </a:r>
            <a:r>
              <a:rPr sz="2300" b="0" dirty="0" err="1">
                <a:solidFill>
                  <a:srgbClr val="D4E0E8"/>
                </a:solidFill>
                <a:latin typeface="Aptos"/>
              </a:rPr>
              <a:t>ma’ruza</a:t>
            </a:r>
            <a:r>
              <a:rPr sz="2300" b="0" dirty="0">
                <a:solidFill>
                  <a:srgbClr val="D4E0E8"/>
                </a:solidFill>
                <a:latin typeface="Aptos"/>
              </a:rPr>
              <a:t> | </a:t>
            </a:r>
            <a:r>
              <a:rPr sz="2300" b="0" dirty="0" err="1">
                <a:solidFill>
                  <a:srgbClr val="D4E0E8"/>
                </a:solidFill>
                <a:latin typeface="Aptos"/>
              </a:rPr>
              <a:t>Ekonometrika</a:t>
            </a:r>
            <a:r>
              <a:rPr sz="2300" b="0" dirty="0">
                <a:solidFill>
                  <a:srgbClr val="D4E0E8"/>
                </a:solidFill>
                <a:latin typeface="Aptos"/>
              </a:rPr>
              <a:t> |  </a:t>
            </a:r>
            <a:r>
              <a:rPr sz="2300" b="0" dirty="0" err="1">
                <a:solidFill>
                  <a:srgbClr val="D4E0E8"/>
                </a:solidFill>
                <a:latin typeface="Aptos"/>
              </a:rPr>
              <a:t>bakalavriat</a:t>
            </a:r>
            <a:endParaRPr sz="2300" b="0" dirty="0">
              <a:solidFill>
                <a:srgbClr val="D4E0E8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22960" y="3566160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C2A56B"/>
                </a:solidFill>
                <a:latin typeface="Aptos"/>
              </a:rPr>
              <a:t>Tashkent International University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931920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D7E1EB"/>
                </a:solidFill>
                <a:latin typeface="Aptos"/>
              </a:rPr>
              <a:t>Lecturer: Sarvar Komilov</a:t>
            </a:r>
          </a:p>
        </p:txBody>
      </p:sp>
      <p:pic>
        <p:nvPicPr>
          <p:cNvPr id="14" name="Picture 13" descr="tiu-whi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594360"/>
            <a:ext cx="1234440" cy="525871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512064" y="6446520"/>
            <a:ext cx="11201400" cy="15240"/>
          </a:xfrm>
          <a:prstGeom prst="rect">
            <a:avLst/>
          </a:prstGeom>
          <a:solidFill>
            <a:srgbClr val="D9D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66928" y="6510528"/>
            <a:ext cx="98755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TASHKENT INTERNATIONAL UNIVERSITY • EKONOMETRIKA • BAKALAVRIAT 3-KURS • by Sarvar Komilov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44784" y="6510528"/>
            <a:ext cx="8229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Aptos"/>
              </a:rPr>
              <a:t>01 / 57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9184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Aptos"/>
              </a:rPr>
              <a:t>DARS MAQSADI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76072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0B1F33"/>
                </a:solidFill>
                <a:latin typeface="Aptos Display"/>
              </a:rPr>
              <a:t>Bugungi darsda nimani o‘rganamiz?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097280" cy="254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tiu-blu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84048"/>
            <a:ext cx="960120" cy="40901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12064" y="6446520"/>
            <a:ext cx="11201400" cy="15240"/>
          </a:xfrm>
          <a:prstGeom prst="rect">
            <a:avLst/>
          </a:prstGeom>
          <a:solidFill>
            <a:srgbClr val="D9D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6510528"/>
            <a:ext cx="98755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TASHKENT INTERNATIONAL UNIVERSITY • EKONOMETRIKA • BAKALAVRIAT 3-KURS • by Sarvar Komilov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44784" y="6510528"/>
            <a:ext cx="8229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Aptos"/>
              </a:rPr>
              <a:t>02 / 57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00200"/>
            <a:ext cx="34290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27000" rtlCol="0" anchor="t"/>
          <a:lstStyle/>
          <a:p>
            <a:pPr algn="ctr"/>
            <a:r>
              <a:rPr sz="1400" b="1">
                <a:solidFill>
                  <a:srgbClr val="0F766E"/>
                </a:solidFill>
                <a:latin typeface="Aptos"/>
              </a:rPr>
              <a:t>01</a:t>
            </a:r>
          </a:p>
          <a:p>
            <a:pPr algn="ctr"/>
            <a:r>
              <a:rPr sz="2000" b="1">
                <a:solidFill>
                  <a:srgbClr val="0B1F33"/>
                </a:solidFill>
                <a:latin typeface="Aptos"/>
              </a:rPr>
              <a:t>Ekonometrik modelning iqtisodiy mohiyatini tushuntirish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600200"/>
            <a:ext cx="73152" cy="150876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526280" y="1600200"/>
            <a:ext cx="34290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27000" rtlCol="0" anchor="t"/>
          <a:lstStyle/>
          <a:p>
            <a:pPr algn="ctr"/>
            <a:r>
              <a:rPr sz="1400" b="1">
                <a:solidFill>
                  <a:srgbClr val="C2A56B"/>
                </a:solidFill>
                <a:latin typeface="Aptos"/>
              </a:rPr>
              <a:t>02</a:t>
            </a:r>
          </a:p>
          <a:p>
            <a:pPr algn="ctr"/>
            <a:r>
              <a:rPr sz="2000" b="1">
                <a:solidFill>
                  <a:srgbClr val="0B1F33"/>
                </a:solidFill>
                <a:latin typeface="Aptos"/>
              </a:rPr>
              <a:t>Modeldagi o‘zgaruvchilar va parametrlarni farqlash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1600200"/>
            <a:ext cx="73152" cy="1508760"/>
          </a:xfrm>
          <a:prstGeom prst="roundRect">
            <a:avLst/>
          </a:prstGeom>
          <a:solidFill>
            <a:srgbClr val="C2A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321040" y="1600200"/>
            <a:ext cx="34290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27000" rtlCol="0" anchor="t"/>
          <a:lstStyle/>
          <a:p>
            <a:pPr algn="ctr"/>
            <a:r>
              <a:rPr sz="1400" b="1">
                <a:solidFill>
                  <a:srgbClr val="123052"/>
                </a:solidFill>
                <a:latin typeface="Aptos"/>
              </a:rPr>
              <a:t>03</a:t>
            </a:r>
          </a:p>
          <a:p>
            <a:pPr algn="ctr"/>
            <a:r>
              <a:rPr sz="2000" b="1">
                <a:solidFill>
                  <a:srgbClr val="0B1F33"/>
                </a:solidFill>
                <a:latin typeface="Aptos"/>
              </a:rPr>
              <a:t>Kesim, vaqt qatori va panel modellarini ajratish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1600200"/>
            <a:ext cx="73152" cy="1508760"/>
          </a:xfrm>
          <a:prstGeom prst="roundRect">
            <a:avLst/>
          </a:prstGeom>
          <a:solidFill>
            <a:srgbClr val="12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31520" y="3611880"/>
            <a:ext cx="34290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27000" rtlCol="0" anchor="t"/>
          <a:lstStyle/>
          <a:p>
            <a:pPr algn="ctr"/>
            <a:r>
              <a:rPr sz="1400" b="1">
                <a:solidFill>
                  <a:srgbClr val="0F766E"/>
                </a:solidFill>
                <a:latin typeface="Aptos"/>
              </a:rPr>
              <a:t>04</a:t>
            </a:r>
          </a:p>
          <a:p>
            <a:pPr algn="ctr"/>
            <a:r>
              <a:rPr sz="2000" b="1">
                <a:solidFill>
                  <a:srgbClr val="0B1F33"/>
                </a:solidFill>
                <a:latin typeface="Aptos"/>
              </a:rPr>
              <a:t>Modellashtirish bosqichlarini izchil tushuntirish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611880"/>
            <a:ext cx="73152" cy="150876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526280" y="3611880"/>
            <a:ext cx="34290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27000" rtlCol="0" anchor="t"/>
          <a:lstStyle/>
          <a:p>
            <a:pPr algn="ctr"/>
            <a:r>
              <a:rPr sz="1400" b="1">
                <a:solidFill>
                  <a:srgbClr val="C2A56B"/>
                </a:solidFill>
                <a:latin typeface="Aptos"/>
              </a:rPr>
              <a:t>05</a:t>
            </a:r>
          </a:p>
          <a:p>
            <a:pPr algn="ctr"/>
            <a:r>
              <a:rPr sz="2000" b="1">
                <a:solidFill>
                  <a:srgbClr val="0B1F33"/>
                </a:solidFill>
                <a:latin typeface="Aptos"/>
              </a:rPr>
              <a:t>Iqtisodiy muammoni model shakliga keltirish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26280" y="3611880"/>
            <a:ext cx="73152" cy="1508760"/>
          </a:xfrm>
          <a:prstGeom prst="roundRect">
            <a:avLst/>
          </a:prstGeom>
          <a:solidFill>
            <a:srgbClr val="C2A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321040" y="3611880"/>
            <a:ext cx="34290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27000" rtlCol="0" anchor="t"/>
          <a:lstStyle/>
          <a:p>
            <a:pPr algn="ctr"/>
            <a:r>
              <a:rPr sz="1400" b="1">
                <a:solidFill>
                  <a:srgbClr val="123052"/>
                </a:solidFill>
                <a:latin typeface="Aptos"/>
              </a:rPr>
              <a:t>06</a:t>
            </a:r>
          </a:p>
          <a:p>
            <a:pPr algn="ctr"/>
            <a:r>
              <a:rPr sz="2000" b="1">
                <a:solidFill>
                  <a:srgbClr val="0B1F33"/>
                </a:solidFill>
                <a:latin typeface="Aptos"/>
              </a:rPr>
              <a:t>Korrelyatsiya va sababiy ta’sir farqini tushunish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21040" y="3611880"/>
            <a:ext cx="73152" cy="1508760"/>
          </a:xfrm>
          <a:prstGeom prst="roundRect">
            <a:avLst/>
          </a:prstGeom>
          <a:solidFill>
            <a:srgbClr val="12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9184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Aptos"/>
              </a:rPr>
              <a:t>REAL IQTISODIY SAVOL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76072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0B1F33"/>
                </a:solidFill>
                <a:latin typeface="Aptos Display"/>
              </a:rPr>
              <a:t>Narxni 10% oshirsak, sotuv hajmi nima bo‘ladi?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097280" cy="254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tiu-blu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84048"/>
            <a:ext cx="960120" cy="40901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12064" y="6446520"/>
            <a:ext cx="11201400" cy="15240"/>
          </a:xfrm>
          <a:prstGeom prst="rect">
            <a:avLst/>
          </a:prstGeom>
          <a:solidFill>
            <a:srgbClr val="D9D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6510528"/>
            <a:ext cx="98755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TASHKENT INTERNATIONAL UNIVERSITY • EKONOMETRIKA • BAKALAVRIAT 3-KURS • by Sarvar Komilov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44784" y="6510528"/>
            <a:ext cx="8229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Aptos"/>
              </a:rPr>
              <a:t>03 / 57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1691640"/>
            <a:ext cx="4114800" cy="2286000"/>
          </a:xfrm>
          <a:prstGeom prst="roundRect">
            <a:avLst/>
          </a:prstGeom>
          <a:solidFill>
            <a:srgbClr val="F8F3E7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600" b="0">
                <a:solidFill>
                  <a:srgbClr val="0B1F33"/>
                </a:solidFill>
                <a:latin typeface="Cambria Math"/>
              </a:rPr>
              <a:t>NARX +10%
↓
SOTUV =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160520"/>
            <a:ext cx="47548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>
                <a:solidFill>
                  <a:srgbClr val="1F2937"/>
                </a:solidFill>
                <a:latin typeface="Aptos"/>
              </a:rPr>
              <a:t>Iqtisodiy nazariya yo‘nalishni ko‘rsatadi. Ekonometrika esa munosabatning miqdorini ma’lumotlar yordamida baholashga harakat qiladi.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554480"/>
            <a:ext cx="438912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27000" rtlCol="0" anchor="t"/>
          <a:lstStyle/>
          <a:p>
            <a:pPr algn="l"/>
            <a:r>
              <a:rPr sz="1800" b="1">
                <a:solidFill>
                  <a:srgbClr val="0B1F33"/>
                </a:solidFill>
                <a:latin typeface="Aptos"/>
              </a:rPr>
              <a:t>Sotuv qancha kamayadi?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554480"/>
            <a:ext cx="73152" cy="54864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400800" y="2331720"/>
            <a:ext cx="438912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27000" rtlCol="0" anchor="t"/>
          <a:lstStyle/>
          <a:p>
            <a:pPr algn="l"/>
            <a:r>
              <a:rPr sz="1800" b="1">
                <a:solidFill>
                  <a:srgbClr val="0B1F33"/>
                </a:solidFill>
                <a:latin typeface="Aptos"/>
              </a:rPr>
              <a:t>Har bir mahsulotda bir xilmi?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331720"/>
            <a:ext cx="73152" cy="548640"/>
          </a:xfrm>
          <a:prstGeom prst="roundRect">
            <a:avLst/>
          </a:prstGeom>
          <a:solidFill>
            <a:srgbClr val="C2A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400800" y="3108960"/>
            <a:ext cx="438912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27000" rtlCol="0" anchor="t"/>
          <a:lstStyle/>
          <a:p>
            <a:pPr algn="l"/>
            <a:r>
              <a:rPr sz="1800" b="1">
                <a:solidFill>
                  <a:srgbClr val="0B1F33"/>
                </a:solidFill>
                <a:latin typeface="Aptos"/>
              </a:rPr>
              <a:t>Daromad o‘zgarsa-chi?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3108960"/>
            <a:ext cx="73152" cy="54864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400800" y="3886200"/>
            <a:ext cx="438912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27000" rtlCol="0" anchor="t"/>
          <a:lstStyle/>
          <a:p>
            <a:pPr algn="l"/>
            <a:r>
              <a:rPr sz="1800" b="1">
                <a:solidFill>
                  <a:srgbClr val="0B1F33"/>
                </a:solidFill>
                <a:latin typeface="Aptos"/>
              </a:rPr>
              <a:t>Raqobatchi narxini tushirsa-chi?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3886200"/>
            <a:ext cx="73152" cy="548640"/>
          </a:xfrm>
          <a:prstGeom prst="roundRect">
            <a:avLst/>
          </a:prstGeom>
          <a:solidFill>
            <a:srgbClr val="C2A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309360" y="4800600"/>
            <a:ext cx="4709160" cy="1143000"/>
          </a:xfrm>
          <a:prstGeom prst="roundRect">
            <a:avLst/>
          </a:prstGeom>
          <a:solidFill>
            <a:srgbClr val="F8E8E8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27000" rtlCol="0" anchor="t"/>
          <a:lstStyle/>
          <a:p>
            <a:pPr algn="ctr"/>
            <a:r>
              <a:rPr sz="2000" b="1" dirty="0">
                <a:solidFill>
                  <a:srgbClr val="0B1F33"/>
                </a:solidFill>
                <a:latin typeface="Aptos"/>
              </a:rPr>
              <a:t>Aniq </a:t>
            </a:r>
            <a:r>
              <a:rPr sz="2000" b="1" dirty="0" err="1">
                <a:solidFill>
                  <a:srgbClr val="0B1F33"/>
                </a:solidFill>
                <a:latin typeface="Aptos"/>
              </a:rPr>
              <a:t>iqtisodiy</a:t>
            </a:r>
            <a:r>
              <a:rPr sz="2000" b="1" dirty="0">
                <a:solidFill>
                  <a:srgbClr val="0B1F33"/>
                </a:solidFill>
                <a:latin typeface="Aptos"/>
              </a:rPr>
              <a:t> </a:t>
            </a:r>
            <a:r>
              <a:rPr sz="2000" b="1" dirty="0" err="1">
                <a:solidFill>
                  <a:srgbClr val="0B1F33"/>
                </a:solidFill>
                <a:latin typeface="Aptos"/>
              </a:rPr>
              <a:t>qaror</a:t>
            </a:r>
            <a:r>
              <a:rPr sz="2000" b="1" dirty="0">
                <a:solidFill>
                  <a:srgbClr val="0B1F33"/>
                </a:solidFill>
                <a:latin typeface="Aptos"/>
              </a:rPr>
              <a:t> </a:t>
            </a:r>
            <a:r>
              <a:rPr sz="2000" b="1" dirty="0" err="1">
                <a:solidFill>
                  <a:srgbClr val="0B1F33"/>
                </a:solidFill>
                <a:latin typeface="Aptos"/>
              </a:rPr>
              <a:t>uchun</a:t>
            </a:r>
            <a:r>
              <a:rPr sz="2000" b="1" dirty="0">
                <a:solidFill>
                  <a:srgbClr val="0B1F33"/>
                </a:solidFill>
                <a:latin typeface="Aptos"/>
              </a:rPr>
              <a:t> </a:t>
            </a:r>
            <a:r>
              <a:rPr sz="2000" b="1" dirty="0" err="1">
                <a:solidFill>
                  <a:srgbClr val="0B1F33"/>
                </a:solidFill>
                <a:latin typeface="Aptos"/>
              </a:rPr>
              <a:t>faqat</a:t>
            </a:r>
            <a:r>
              <a:rPr sz="2000" b="1" dirty="0">
                <a:solidFill>
                  <a:srgbClr val="0B1F33"/>
                </a:solidFill>
                <a:latin typeface="Aptos"/>
              </a:rPr>
              <a:t> </a:t>
            </a:r>
            <a:r>
              <a:rPr sz="2000" b="1" dirty="0" err="1">
                <a:solidFill>
                  <a:srgbClr val="0B1F33"/>
                </a:solidFill>
                <a:latin typeface="Aptos"/>
              </a:rPr>
              <a:t>nazariya</a:t>
            </a:r>
            <a:r>
              <a:rPr sz="2000" b="1" dirty="0">
                <a:solidFill>
                  <a:srgbClr val="0B1F33"/>
                </a:solidFill>
                <a:latin typeface="Aptos"/>
              </a:rPr>
              <a:t> </a:t>
            </a:r>
            <a:r>
              <a:rPr sz="2000" b="1" dirty="0" err="1">
                <a:solidFill>
                  <a:srgbClr val="0B1F33"/>
                </a:solidFill>
                <a:latin typeface="Aptos"/>
              </a:rPr>
              <a:t>emas</a:t>
            </a:r>
            <a:r>
              <a:rPr sz="2000" b="1" dirty="0">
                <a:solidFill>
                  <a:srgbClr val="0B1F33"/>
                </a:solidFill>
                <a:latin typeface="Aptos"/>
              </a:rPr>
              <a:t>, </a:t>
            </a:r>
            <a:r>
              <a:rPr sz="2000" b="1" dirty="0" err="1">
                <a:solidFill>
                  <a:srgbClr val="0B1F33"/>
                </a:solidFill>
                <a:latin typeface="Aptos"/>
              </a:rPr>
              <a:t>miqdoriy</a:t>
            </a:r>
            <a:r>
              <a:rPr sz="2000" b="1" dirty="0">
                <a:solidFill>
                  <a:srgbClr val="0B1F33"/>
                </a:solidFill>
                <a:latin typeface="Aptos"/>
              </a:rPr>
              <a:t> </a:t>
            </a:r>
            <a:r>
              <a:rPr sz="2000" b="1" dirty="0" err="1">
                <a:solidFill>
                  <a:srgbClr val="0B1F33"/>
                </a:solidFill>
                <a:latin typeface="Aptos"/>
              </a:rPr>
              <a:t>dalil</a:t>
            </a:r>
            <a:r>
              <a:rPr sz="2000" b="1" dirty="0">
                <a:solidFill>
                  <a:srgbClr val="0B1F33"/>
                </a:solidFill>
                <a:latin typeface="Aptos"/>
              </a:rPr>
              <a:t> ham </a:t>
            </a:r>
            <a:r>
              <a:rPr sz="2000" b="1" dirty="0" err="1">
                <a:solidFill>
                  <a:srgbClr val="0B1F33"/>
                </a:solidFill>
                <a:latin typeface="Aptos"/>
              </a:rPr>
              <a:t>kerak</a:t>
            </a:r>
            <a:r>
              <a:rPr sz="2000" b="1" dirty="0">
                <a:solidFill>
                  <a:srgbClr val="0B1F33"/>
                </a:solidFill>
                <a:latin typeface="Aptos"/>
              </a:rPr>
              <a:t>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4800600"/>
            <a:ext cx="73152" cy="777240"/>
          </a:xfrm>
          <a:prstGeom prst="roundRect">
            <a:avLst/>
          </a:prstGeom>
          <a:solidFill>
            <a:srgbClr val="A3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9184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Aptos"/>
              </a:rPr>
              <a:t>IQTISODIY QARORLAR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76072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0B1F33"/>
                </a:solidFill>
                <a:latin typeface="Aptos Display"/>
              </a:rPr>
              <a:t>Ekonometrik savollar qayerda paydo bo‘ladi?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097280" cy="254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tiu-blu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84048"/>
            <a:ext cx="960120" cy="40901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12064" y="6446520"/>
            <a:ext cx="11201400" cy="15240"/>
          </a:xfrm>
          <a:prstGeom prst="rect">
            <a:avLst/>
          </a:prstGeom>
          <a:solidFill>
            <a:srgbClr val="D9D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6510528"/>
            <a:ext cx="98755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TASHKENT INTERNATIONAL UNIVERSITY • EKONOMETRIKA • BAKALAVRIAT 3-KURS • by Sarvar Komilov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44784" y="6510528"/>
            <a:ext cx="8229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Aptos"/>
              </a:rPr>
              <a:t>04 / 57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600200"/>
            <a:ext cx="3246120" cy="2514600"/>
          </a:xfrm>
          <a:prstGeom prst="roundRect">
            <a:avLst/>
          </a:prstGeom>
          <a:solidFill>
            <a:srgbClr val="E5F6F4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27000" rtlCol="0" anchor="t"/>
          <a:lstStyle/>
          <a:p>
            <a:pPr algn="ctr"/>
            <a:r>
              <a:rPr sz="2400" b="1">
                <a:solidFill>
                  <a:srgbClr val="0B1F33"/>
                </a:solidFill>
                <a:latin typeface="Aptos"/>
              </a:rPr>
              <a:t>BIZNES</a:t>
            </a:r>
          </a:p>
          <a:p>
            <a:pPr algn="ctr">
              <a:spcBef>
                <a:spcPts val="600"/>
              </a:spcBef>
            </a:pPr>
            <a:r>
              <a:rPr sz="2100">
                <a:solidFill>
                  <a:srgbClr val="1F2937"/>
                </a:solidFill>
                <a:latin typeface="Aptos"/>
              </a:rPr>
              <a:t>Reklama xarajatini oshirsak, sotuv hajmi qanday o‘zgaradi?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600200"/>
            <a:ext cx="73152" cy="251460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617720" y="1600200"/>
            <a:ext cx="3246120" cy="2514600"/>
          </a:xfrm>
          <a:prstGeom prst="roundRect">
            <a:avLst/>
          </a:prstGeom>
          <a:solidFill>
            <a:srgbClr val="F8F3E7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27000" rtlCol="0" anchor="t"/>
          <a:lstStyle/>
          <a:p>
            <a:pPr algn="ctr"/>
            <a:r>
              <a:rPr sz="2400" b="1">
                <a:solidFill>
                  <a:srgbClr val="0B1F33"/>
                </a:solidFill>
                <a:latin typeface="Aptos"/>
              </a:rPr>
              <a:t>BANK</a:t>
            </a:r>
          </a:p>
          <a:p>
            <a:pPr algn="ctr">
              <a:spcBef>
                <a:spcPts val="600"/>
              </a:spcBef>
            </a:pPr>
            <a:r>
              <a:rPr sz="2100">
                <a:solidFill>
                  <a:srgbClr val="1F2937"/>
                </a:solidFill>
                <a:latin typeface="Aptos"/>
              </a:rPr>
              <a:t>Foiz stavkalari oshsa, kredit talabi qanday o‘zgaradi?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17720" y="1600200"/>
            <a:ext cx="73152" cy="2514600"/>
          </a:xfrm>
          <a:prstGeom prst="roundRect">
            <a:avLst/>
          </a:prstGeom>
          <a:solidFill>
            <a:srgbClr val="C2A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366759" y="1600200"/>
            <a:ext cx="3246120" cy="2514600"/>
          </a:xfrm>
          <a:prstGeom prst="roundRect">
            <a:avLst/>
          </a:prstGeom>
          <a:solidFill>
            <a:srgbClr val="E8EFF8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27000" rtlCol="0" anchor="t"/>
          <a:lstStyle/>
          <a:p>
            <a:pPr algn="ctr"/>
            <a:r>
              <a:rPr sz="2400" b="1">
                <a:solidFill>
                  <a:srgbClr val="0B1F33"/>
                </a:solidFill>
                <a:latin typeface="Aptos"/>
              </a:rPr>
              <a:t>DAVLAT</a:t>
            </a:r>
          </a:p>
          <a:p>
            <a:pPr algn="ctr">
              <a:spcBef>
                <a:spcPts val="600"/>
              </a:spcBef>
            </a:pPr>
            <a:r>
              <a:rPr sz="2100">
                <a:solidFill>
                  <a:srgbClr val="1F2937"/>
                </a:solidFill>
                <a:latin typeface="Aptos"/>
              </a:rPr>
              <a:t>Minimal ish haqining oshirilishi bandlik bilan qanday bog‘liq?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66759" y="1600200"/>
            <a:ext cx="73152" cy="2514600"/>
          </a:xfrm>
          <a:prstGeom prst="roundRect">
            <a:avLst/>
          </a:prstGeom>
          <a:solidFill>
            <a:srgbClr val="12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828800" y="4800600"/>
            <a:ext cx="8549640" cy="1004824"/>
          </a:xfrm>
          <a:prstGeom prst="roundRect">
            <a:avLst/>
          </a:prstGeom>
          <a:solidFill>
            <a:srgbClr val="F8E8E8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27000" rtlCol="0" anchor="t"/>
          <a:lstStyle/>
          <a:p>
            <a:pPr algn="ctr"/>
            <a:r>
              <a:rPr sz="2100" b="1" dirty="0" err="1">
                <a:solidFill>
                  <a:srgbClr val="0B1F33"/>
                </a:solidFill>
                <a:latin typeface="Aptos"/>
              </a:rPr>
              <a:t>Uchala</a:t>
            </a:r>
            <a:r>
              <a:rPr sz="2100" b="1" dirty="0">
                <a:solidFill>
                  <a:srgbClr val="0B1F33"/>
                </a:solidFill>
                <a:latin typeface="Aptos"/>
              </a:rPr>
              <a:t> </a:t>
            </a:r>
            <a:r>
              <a:rPr sz="2100" b="1" dirty="0" err="1">
                <a:solidFill>
                  <a:srgbClr val="0B1F33"/>
                </a:solidFill>
                <a:latin typeface="Aptos"/>
              </a:rPr>
              <a:t>savolda</a:t>
            </a:r>
            <a:r>
              <a:rPr sz="2100" b="1" dirty="0">
                <a:solidFill>
                  <a:srgbClr val="0B1F33"/>
                </a:solidFill>
                <a:latin typeface="Aptos"/>
              </a:rPr>
              <a:t> ham </a:t>
            </a:r>
            <a:r>
              <a:rPr sz="2100" b="1" dirty="0" err="1">
                <a:solidFill>
                  <a:srgbClr val="0B1F33"/>
                </a:solidFill>
                <a:latin typeface="Aptos"/>
              </a:rPr>
              <a:t>asosiy</a:t>
            </a:r>
            <a:r>
              <a:rPr sz="2100" b="1" dirty="0">
                <a:solidFill>
                  <a:srgbClr val="0B1F33"/>
                </a:solidFill>
                <a:latin typeface="Aptos"/>
              </a:rPr>
              <a:t> </a:t>
            </a:r>
            <a:r>
              <a:rPr sz="2100" b="1" dirty="0" err="1">
                <a:solidFill>
                  <a:srgbClr val="0B1F33"/>
                </a:solidFill>
                <a:latin typeface="Aptos"/>
              </a:rPr>
              <a:t>vazifa</a:t>
            </a:r>
            <a:r>
              <a:rPr sz="2100" b="1" dirty="0">
                <a:solidFill>
                  <a:srgbClr val="0B1F33"/>
                </a:solidFill>
                <a:latin typeface="Aptos"/>
              </a:rPr>
              <a:t> </a:t>
            </a:r>
            <a:r>
              <a:rPr sz="2100" b="1" dirty="0" err="1">
                <a:solidFill>
                  <a:srgbClr val="0B1F33"/>
                </a:solidFill>
                <a:latin typeface="Aptos"/>
              </a:rPr>
              <a:t>bir</a:t>
            </a:r>
            <a:r>
              <a:rPr sz="2100" b="1" dirty="0">
                <a:solidFill>
                  <a:srgbClr val="0B1F33"/>
                </a:solidFill>
                <a:latin typeface="Aptos"/>
              </a:rPr>
              <a:t> </a:t>
            </a:r>
            <a:r>
              <a:rPr sz="2100" b="1" dirty="0" err="1">
                <a:solidFill>
                  <a:srgbClr val="0B1F33"/>
                </a:solidFill>
                <a:latin typeface="Aptos"/>
              </a:rPr>
              <a:t>xil</a:t>
            </a:r>
            <a:r>
              <a:rPr sz="2100" b="1" dirty="0">
                <a:solidFill>
                  <a:srgbClr val="0B1F33"/>
                </a:solidFill>
                <a:latin typeface="Aptos"/>
              </a:rPr>
              <a:t>: X </a:t>
            </a:r>
            <a:r>
              <a:rPr sz="2100" b="1" dirty="0" err="1">
                <a:solidFill>
                  <a:srgbClr val="0B1F33"/>
                </a:solidFill>
                <a:latin typeface="Aptos"/>
              </a:rPr>
              <a:t>va</a:t>
            </a:r>
            <a:r>
              <a:rPr sz="2100" b="1" dirty="0">
                <a:solidFill>
                  <a:srgbClr val="0B1F33"/>
                </a:solidFill>
                <a:latin typeface="Aptos"/>
              </a:rPr>
              <a:t> Y </a:t>
            </a:r>
            <a:r>
              <a:rPr sz="2100" b="1" dirty="0" err="1">
                <a:solidFill>
                  <a:srgbClr val="0B1F33"/>
                </a:solidFill>
                <a:latin typeface="Aptos"/>
              </a:rPr>
              <a:t>o‘rtasidagi</a:t>
            </a:r>
            <a:r>
              <a:rPr sz="2100" b="1" dirty="0">
                <a:solidFill>
                  <a:srgbClr val="0B1F33"/>
                </a:solidFill>
                <a:latin typeface="Aptos"/>
              </a:rPr>
              <a:t> </a:t>
            </a:r>
            <a:r>
              <a:rPr sz="2100" b="1" dirty="0" err="1">
                <a:solidFill>
                  <a:srgbClr val="0B1F33"/>
                </a:solidFill>
                <a:latin typeface="Aptos"/>
              </a:rPr>
              <a:t>miqdoriy</a:t>
            </a:r>
            <a:r>
              <a:rPr sz="2100" b="1" dirty="0">
                <a:solidFill>
                  <a:srgbClr val="0B1F33"/>
                </a:solidFill>
                <a:latin typeface="Aptos"/>
              </a:rPr>
              <a:t> </a:t>
            </a:r>
            <a:r>
              <a:rPr sz="2100" b="1" dirty="0" err="1">
                <a:solidFill>
                  <a:srgbClr val="0B1F33"/>
                </a:solidFill>
                <a:latin typeface="Aptos"/>
              </a:rPr>
              <a:t>munosabatni</a:t>
            </a:r>
            <a:r>
              <a:rPr sz="2100" b="1" dirty="0">
                <a:solidFill>
                  <a:srgbClr val="0B1F33"/>
                </a:solidFill>
                <a:latin typeface="Aptos"/>
              </a:rPr>
              <a:t> </a:t>
            </a:r>
            <a:r>
              <a:rPr sz="2100" b="1" dirty="0" err="1">
                <a:solidFill>
                  <a:srgbClr val="0B1F33"/>
                </a:solidFill>
                <a:latin typeface="Aptos"/>
              </a:rPr>
              <a:t>aniqlash</a:t>
            </a:r>
            <a:r>
              <a:rPr sz="2100" b="1" dirty="0">
                <a:solidFill>
                  <a:srgbClr val="0B1F33"/>
                </a:solidFill>
                <a:latin typeface="Aptos"/>
              </a:rPr>
              <a:t>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28800" y="4800600"/>
            <a:ext cx="73152" cy="731520"/>
          </a:xfrm>
          <a:prstGeom prst="roundRect">
            <a:avLst/>
          </a:prstGeom>
          <a:solidFill>
            <a:srgbClr val="A3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9184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Aptos"/>
              </a:rPr>
              <a:t>REAL IQTISODIYOT MURAKKAB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76072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0B1F33"/>
                </a:solidFill>
                <a:latin typeface="Aptos Display"/>
              </a:rPr>
              <a:t>Bitta natijaga ko‘plab omillar ta’sir qiladi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097280" cy="254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tiu-blu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84048"/>
            <a:ext cx="960120" cy="40901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12064" y="6446520"/>
            <a:ext cx="11201400" cy="15240"/>
          </a:xfrm>
          <a:prstGeom prst="rect">
            <a:avLst/>
          </a:prstGeom>
          <a:solidFill>
            <a:srgbClr val="D9D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6510528"/>
            <a:ext cx="98755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TASHKENT INTERNATIONAL UNIVERSITY • EKONOMETRIKA • BAKALAVRIAT 3-KURS • by Sarvar Komilov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44784" y="6510528"/>
            <a:ext cx="8229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Aptos"/>
              </a:rPr>
              <a:t>05 / 57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00600" y="2606040"/>
            <a:ext cx="2560320" cy="685800"/>
          </a:xfrm>
          <a:prstGeom prst="roundRect">
            <a:avLst/>
          </a:prstGeom>
          <a:solidFill>
            <a:srgbClr val="E5F6F4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0B1F33"/>
                </a:solidFill>
                <a:latin typeface="Aptos"/>
              </a:rPr>
              <a:t>UY NARXI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1645920"/>
            <a:ext cx="192024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0B1F33"/>
                </a:solidFill>
                <a:latin typeface="Aptos"/>
              </a:rPr>
              <a:t>Maydon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49039" y="1508760"/>
            <a:ext cx="192024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A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0B1F33"/>
                </a:solidFill>
                <a:latin typeface="Aptos"/>
              </a:rPr>
              <a:t>Joylashuv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23760" y="1508760"/>
            <a:ext cx="192024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0B1F33"/>
                </a:solidFill>
                <a:latin typeface="Aptos"/>
              </a:rPr>
              <a:t>Xonalar soni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18320" y="2011680"/>
            <a:ext cx="192024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0B1F33"/>
                </a:solidFill>
                <a:latin typeface="Aptos"/>
              </a:rPr>
              <a:t>Bino yoshi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51560" y="3200400"/>
            <a:ext cx="192024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A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0B1F33"/>
                </a:solidFill>
                <a:latin typeface="Aptos"/>
              </a:rPr>
              <a:t>Ta’mir holati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60" y="3429000"/>
            <a:ext cx="192024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0B1F33"/>
                </a:solidFill>
                <a:latin typeface="Aptos"/>
              </a:rPr>
              <a:t>Transport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86000" y="4343400"/>
            <a:ext cx="192024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0B1F33"/>
                </a:solidFill>
                <a:latin typeface="Aptos"/>
              </a:rPr>
              <a:t>Infratuzilma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46320" y="4572000"/>
            <a:ext cx="192024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A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0B1F33"/>
                </a:solidFill>
                <a:latin typeface="Aptos"/>
              </a:rPr>
              <a:t>Ipoteka shartlari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06640" y="4343400"/>
            <a:ext cx="192024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0B1F33"/>
                </a:solidFill>
                <a:latin typeface="Aptos"/>
              </a:rPr>
              <a:t>Bozor talabi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17320" y="5577840"/>
            <a:ext cx="9372600" cy="594360"/>
          </a:xfrm>
          <a:prstGeom prst="roundRect">
            <a:avLst/>
          </a:prstGeom>
          <a:solidFill>
            <a:srgbClr val="F8E8E8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27000" rtlCol="0" anchor="t"/>
          <a:lstStyle/>
          <a:p>
            <a:pPr algn="ctr"/>
            <a:r>
              <a:rPr sz="2000" b="1">
                <a:solidFill>
                  <a:srgbClr val="0B1F33"/>
                </a:solidFill>
                <a:latin typeface="Aptos"/>
              </a:rPr>
              <a:t>Model kerakli munosabatlarni ajratib o‘rganishga yordam beradi.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417320" y="5577840"/>
            <a:ext cx="73152" cy="594360"/>
          </a:xfrm>
          <a:prstGeom prst="roundRect">
            <a:avLst/>
          </a:prstGeom>
          <a:solidFill>
            <a:srgbClr val="A3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9184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Aptos"/>
              </a:rPr>
              <a:t>MODEL TUSHUNCHASI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76072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0B1F33"/>
                </a:solidFill>
                <a:latin typeface="Aptos Display"/>
              </a:rPr>
              <a:t>Model — voqelikning aynan nusxasi emas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097280" cy="254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tiu-blu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84048"/>
            <a:ext cx="960120" cy="40901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12064" y="6446520"/>
            <a:ext cx="11201400" cy="15240"/>
          </a:xfrm>
          <a:prstGeom prst="rect">
            <a:avLst/>
          </a:prstGeom>
          <a:solidFill>
            <a:srgbClr val="D9D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6510528"/>
            <a:ext cx="98755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TASHKENT INTERNATIONAL UNIVERSITY • EKONOMETRIKA • BAKALAVRIAT 3-KURS • by Sarvar Komilov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44784" y="6510528"/>
            <a:ext cx="8229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Aptos"/>
              </a:rPr>
              <a:t>06 / 57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554480"/>
            <a:ext cx="3383280" cy="2194560"/>
          </a:xfrm>
          <a:prstGeom prst="roundRect">
            <a:avLst/>
          </a:prstGeom>
          <a:solidFill>
            <a:srgbClr val="E8EFF8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27000" rtlCol="0" anchor="t"/>
          <a:lstStyle/>
          <a:p>
            <a:pPr algn="ctr"/>
            <a:r>
              <a:rPr sz="2300" b="1">
                <a:solidFill>
                  <a:srgbClr val="0B1F33"/>
                </a:solidFill>
                <a:latin typeface="Aptos"/>
              </a:rPr>
              <a:t>REAL IQTISODIYOT</a:t>
            </a:r>
          </a:p>
          <a:p>
            <a:pPr algn="ctr">
              <a:spcBef>
                <a:spcPts val="600"/>
              </a:spcBef>
            </a:pPr>
            <a:r>
              <a:rPr sz="2100">
                <a:solidFill>
                  <a:srgbClr val="1F2937"/>
                </a:solidFill>
                <a:latin typeface="Aptos"/>
              </a:rPr>
              <a:t>Ko‘plab omillar
Murakkab munosabatlar
Tasodifiy hodisalar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554480"/>
            <a:ext cx="73152" cy="2194560"/>
          </a:xfrm>
          <a:prstGeom prst="roundRect">
            <a:avLst/>
          </a:prstGeom>
          <a:solidFill>
            <a:srgbClr val="12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2267712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>
                <a:solidFill>
                  <a:srgbClr val="C2A56B"/>
                </a:solidFill>
                <a:latin typeface="Aptos"/>
              </a:rPr>
              <a:t>SODDALASHTIRISH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606040"/>
            <a:ext cx="1005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1">
                <a:solidFill>
                  <a:srgbClr val="C2A56B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1554480"/>
            <a:ext cx="3383280" cy="2194560"/>
          </a:xfrm>
          <a:prstGeom prst="roundRect">
            <a:avLst/>
          </a:prstGeom>
          <a:solidFill>
            <a:srgbClr val="E5F6F4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27000" rtlCol="0" anchor="t"/>
          <a:lstStyle/>
          <a:p>
            <a:pPr algn="ctr"/>
            <a:r>
              <a:rPr sz="2300" b="1">
                <a:solidFill>
                  <a:srgbClr val="0B1F33"/>
                </a:solidFill>
                <a:latin typeface="Aptos"/>
              </a:rPr>
              <a:t>MODEL</a:t>
            </a:r>
          </a:p>
          <a:p>
            <a:pPr algn="ctr">
              <a:spcBef>
                <a:spcPts val="600"/>
              </a:spcBef>
            </a:pPr>
            <a:r>
              <a:rPr sz="2100">
                <a:solidFill>
                  <a:srgbClr val="1F2937"/>
                </a:solidFill>
                <a:latin typeface="Aptos"/>
              </a:rPr>
              <a:t>Asosiy o‘zgaruvchilar
Aniq munosabatlar
Tekshiriladigan gipotezalar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1554480"/>
            <a:ext cx="73152" cy="219456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05840" y="4343400"/>
            <a:ext cx="100584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27000" rtlCol="0" anchor="t"/>
          <a:lstStyle/>
          <a:p>
            <a:pPr algn="l"/>
            <a:r>
              <a:rPr sz="1800" b="1">
                <a:solidFill>
                  <a:srgbClr val="0B1F33"/>
                </a:solidFill>
                <a:latin typeface="Aptos"/>
              </a:rPr>
              <a:t>Ta’rif</a:t>
            </a:r>
          </a:p>
          <a:p>
            <a:pPr algn="l">
              <a:spcBef>
                <a:spcPts val="600"/>
              </a:spcBef>
            </a:pPr>
            <a:r>
              <a:rPr sz="2000">
                <a:solidFill>
                  <a:srgbClr val="1F2937"/>
                </a:solidFill>
                <a:latin typeface="Aptos"/>
              </a:rPr>
              <a:t>Model — real hodisa yoki jarayonning maqsadga muvofiq soddalashtirilgan tasviridir.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" y="4343400"/>
            <a:ext cx="73152" cy="868680"/>
          </a:xfrm>
          <a:prstGeom prst="roundRect">
            <a:avLst/>
          </a:prstGeom>
          <a:solidFill>
            <a:srgbClr val="C2A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43000" y="5440680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>
                <a:solidFill>
                  <a:srgbClr val="0B1F33"/>
                </a:solidFill>
                <a:latin typeface="Aptos"/>
              </a:rPr>
              <a:t>Yaxshi model hamma narsani emas, berilgan savol uchun zarur munosabatlarni aks ettiradi.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9184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Aptos"/>
              </a:rPr>
              <a:t>MODELGA O‘TISH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76072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0B1F33"/>
                </a:solidFill>
                <a:latin typeface="Aptos Display"/>
              </a:rPr>
              <a:t>Nazariya → matematika → ekonometrika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097280" cy="254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tiu-blu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84048"/>
            <a:ext cx="960120" cy="40901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12064" y="6446520"/>
            <a:ext cx="11201400" cy="15240"/>
          </a:xfrm>
          <a:prstGeom prst="rect">
            <a:avLst/>
          </a:prstGeom>
          <a:solidFill>
            <a:srgbClr val="D9D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6510528"/>
            <a:ext cx="98755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TASHKENT INTERNATIONAL UNIVERSITY • EKONOMETRIKA • BAKALAVRIAT 3-KURS • by Sarvar Komilov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44784" y="6510528"/>
            <a:ext cx="8229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Aptos"/>
              </a:rPr>
              <a:t>07 / 57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3291840" cy="2286000"/>
          </a:xfrm>
          <a:prstGeom prst="roundRect">
            <a:avLst/>
          </a:prstGeom>
          <a:solidFill>
            <a:srgbClr val="E5F6F4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27000" rtlCol="0" anchor="t"/>
          <a:lstStyle/>
          <a:p>
            <a:pPr algn="l"/>
            <a:r>
              <a:rPr sz="2000" b="1">
                <a:solidFill>
                  <a:srgbClr val="0B1F33"/>
                </a:solidFill>
                <a:latin typeface="Aptos"/>
              </a:rPr>
              <a:t>1. IQTISODIY NAZARIYA</a:t>
            </a:r>
          </a:p>
          <a:p>
            <a:pPr algn="l">
              <a:spcBef>
                <a:spcPts val="600"/>
              </a:spcBef>
            </a:pPr>
            <a:r>
              <a:rPr sz="2000">
                <a:solidFill>
                  <a:srgbClr val="1F2937"/>
                </a:solidFill>
                <a:latin typeface="Aptos"/>
              </a:rPr>
              <a:t>Boshqa shartlar o‘zgarmasa, narx oshishi talabning pasayishi bilan bog‘liq.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554480"/>
            <a:ext cx="73152" cy="228600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480560" y="1874519"/>
            <a:ext cx="32004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800" b="0">
                <a:solidFill>
                  <a:srgbClr val="0B1F33"/>
                </a:solidFill>
                <a:latin typeface="Cambria Math"/>
              </a:rPr>
              <a:t>Qᵈ = f(P, Y, Pₛ, P꜀, …)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554480"/>
            <a:ext cx="3291840" cy="2286000"/>
          </a:xfrm>
          <a:prstGeom prst="roundRect">
            <a:avLst/>
          </a:prstGeom>
          <a:solidFill>
            <a:srgbClr val="F8F3E7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27000" rtlCol="0" anchor="t"/>
          <a:lstStyle/>
          <a:p>
            <a:pPr algn="l"/>
            <a:r>
              <a:rPr sz="2000" b="1">
                <a:solidFill>
                  <a:srgbClr val="0B1F33"/>
                </a:solidFill>
                <a:latin typeface="Aptos"/>
              </a:rPr>
              <a:t>3. EKONOMETRIK MODEL</a:t>
            </a:r>
          </a:p>
          <a:p>
            <a:pPr algn="l">
              <a:spcBef>
                <a:spcPts val="600"/>
              </a:spcBef>
            </a:pPr>
            <a:r>
              <a:rPr sz="2200">
                <a:solidFill>
                  <a:srgbClr val="1F2937"/>
                </a:solidFill>
                <a:latin typeface="Aptos"/>
              </a:rPr>
              <a:t>Qᵈᵢ = β₀ + β₁Pᵢ + β₂Yᵢ + uᵢ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554480"/>
            <a:ext cx="73152" cy="2286000"/>
          </a:xfrm>
          <a:prstGeom prst="roundRect">
            <a:avLst/>
          </a:prstGeom>
          <a:solidFill>
            <a:srgbClr val="C2A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463040" y="4709160"/>
            <a:ext cx="92354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>
                <a:solidFill>
                  <a:srgbClr val="0B1F33"/>
                </a:solidFill>
                <a:latin typeface="Aptos"/>
              </a:rPr>
              <a:t>Ekonometrika nazariy munosabatni kuzatilgan ma’lumotlar yordamida miqdoriy baholash imkonini beradi.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9184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Aptos"/>
              </a:rPr>
              <a:t>ASOSIY TA’RIF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76072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0B1F33"/>
                </a:solidFill>
                <a:latin typeface="Aptos Display"/>
              </a:rPr>
              <a:t>Ekonometrik model nima?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097280" cy="254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tiu-blu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84048"/>
            <a:ext cx="960120" cy="40901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12064" y="6446520"/>
            <a:ext cx="11201400" cy="15240"/>
          </a:xfrm>
          <a:prstGeom prst="rect">
            <a:avLst/>
          </a:prstGeom>
          <a:solidFill>
            <a:srgbClr val="D9D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6510528"/>
            <a:ext cx="98755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TASHKENT INTERNATIONAL UNIVERSITY • EKONOMETRIKA • BAKALAVRIAT 3-KURS • by Sarvar Komilov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44784" y="6510528"/>
            <a:ext cx="8229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Aptos"/>
              </a:rPr>
              <a:t>08 / 57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316736"/>
            <a:ext cx="11411712" cy="140570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27000" rtlCol="0" anchor="t"/>
          <a:lstStyle/>
          <a:p>
            <a:pPr algn="l"/>
            <a:r>
              <a:rPr sz="2200" b="1" dirty="0" err="1">
                <a:solidFill>
                  <a:srgbClr val="0B1F33"/>
                </a:solidFill>
                <a:latin typeface="Aptos"/>
              </a:rPr>
              <a:t>Ekonometrik</a:t>
            </a:r>
            <a:r>
              <a:rPr sz="2200" b="1" dirty="0">
                <a:solidFill>
                  <a:srgbClr val="0B1F33"/>
                </a:solidFill>
                <a:latin typeface="Aptos"/>
              </a:rPr>
              <a:t> model</a:t>
            </a:r>
          </a:p>
          <a:p>
            <a:pPr algn="l">
              <a:spcBef>
                <a:spcPts val="600"/>
              </a:spcBef>
            </a:pPr>
            <a:r>
              <a:rPr sz="2100" dirty="0" err="1">
                <a:solidFill>
                  <a:srgbClr val="1F2937"/>
                </a:solidFill>
                <a:latin typeface="Aptos"/>
              </a:rPr>
              <a:t>Iqtisodiy</a:t>
            </a:r>
            <a:r>
              <a:rPr sz="2100" dirty="0">
                <a:solidFill>
                  <a:srgbClr val="1F2937"/>
                </a:solidFill>
                <a:latin typeface="Aptos"/>
              </a:rPr>
              <a:t> </a:t>
            </a:r>
            <a:r>
              <a:rPr sz="2100" dirty="0" err="1">
                <a:solidFill>
                  <a:srgbClr val="1F2937"/>
                </a:solidFill>
                <a:latin typeface="Aptos"/>
              </a:rPr>
              <a:t>hodisalar</a:t>
            </a:r>
            <a:r>
              <a:rPr sz="2100" dirty="0">
                <a:solidFill>
                  <a:srgbClr val="1F2937"/>
                </a:solidFill>
                <a:latin typeface="Aptos"/>
              </a:rPr>
              <a:t> </a:t>
            </a:r>
            <a:r>
              <a:rPr sz="2100" dirty="0" err="1">
                <a:solidFill>
                  <a:srgbClr val="1F2937"/>
                </a:solidFill>
                <a:latin typeface="Aptos"/>
              </a:rPr>
              <a:t>o‘rtasidagi</a:t>
            </a:r>
            <a:r>
              <a:rPr sz="2100" dirty="0">
                <a:solidFill>
                  <a:srgbClr val="1F2937"/>
                </a:solidFill>
                <a:latin typeface="Aptos"/>
              </a:rPr>
              <a:t> </a:t>
            </a:r>
            <a:r>
              <a:rPr sz="2100" dirty="0" err="1">
                <a:solidFill>
                  <a:srgbClr val="1F2937"/>
                </a:solidFill>
                <a:latin typeface="Aptos"/>
              </a:rPr>
              <a:t>nazariy</a:t>
            </a:r>
            <a:r>
              <a:rPr sz="2100" dirty="0">
                <a:solidFill>
                  <a:srgbClr val="1F2937"/>
                </a:solidFill>
                <a:latin typeface="Aptos"/>
              </a:rPr>
              <a:t> </a:t>
            </a:r>
            <a:r>
              <a:rPr sz="2100" dirty="0" err="1">
                <a:solidFill>
                  <a:srgbClr val="1F2937"/>
                </a:solidFill>
                <a:latin typeface="Aptos"/>
              </a:rPr>
              <a:t>munosabatlarni</a:t>
            </a:r>
            <a:r>
              <a:rPr sz="2100" dirty="0">
                <a:solidFill>
                  <a:srgbClr val="1F2937"/>
                </a:solidFill>
                <a:latin typeface="Aptos"/>
              </a:rPr>
              <a:t> </a:t>
            </a:r>
            <a:r>
              <a:rPr sz="2100" dirty="0" err="1">
                <a:solidFill>
                  <a:srgbClr val="1F2937"/>
                </a:solidFill>
                <a:latin typeface="Aptos"/>
              </a:rPr>
              <a:t>statistik</a:t>
            </a:r>
            <a:r>
              <a:rPr sz="2100" dirty="0">
                <a:solidFill>
                  <a:srgbClr val="1F2937"/>
                </a:solidFill>
                <a:latin typeface="Aptos"/>
              </a:rPr>
              <a:t> </a:t>
            </a:r>
            <a:r>
              <a:rPr sz="2100" dirty="0" err="1">
                <a:solidFill>
                  <a:srgbClr val="1F2937"/>
                </a:solidFill>
                <a:latin typeface="Aptos"/>
              </a:rPr>
              <a:t>ma’lumotlar</a:t>
            </a:r>
            <a:r>
              <a:rPr sz="2100" dirty="0">
                <a:solidFill>
                  <a:srgbClr val="1F2937"/>
                </a:solidFill>
                <a:latin typeface="Aptos"/>
              </a:rPr>
              <a:t> </a:t>
            </a:r>
            <a:r>
              <a:rPr sz="2100" dirty="0" err="1">
                <a:solidFill>
                  <a:srgbClr val="1F2937"/>
                </a:solidFill>
                <a:latin typeface="Aptos"/>
              </a:rPr>
              <a:t>asosida</a:t>
            </a:r>
            <a:r>
              <a:rPr sz="2100" dirty="0">
                <a:solidFill>
                  <a:srgbClr val="1F2937"/>
                </a:solidFill>
                <a:latin typeface="Aptos"/>
              </a:rPr>
              <a:t> </a:t>
            </a:r>
            <a:r>
              <a:rPr sz="2100" dirty="0" err="1">
                <a:solidFill>
                  <a:srgbClr val="1F2937"/>
                </a:solidFill>
                <a:latin typeface="Aptos"/>
              </a:rPr>
              <a:t>matematik</a:t>
            </a:r>
            <a:r>
              <a:rPr sz="2100" dirty="0">
                <a:solidFill>
                  <a:srgbClr val="1F2937"/>
                </a:solidFill>
                <a:latin typeface="Aptos"/>
              </a:rPr>
              <a:t> </a:t>
            </a:r>
            <a:r>
              <a:rPr sz="2100" dirty="0" err="1">
                <a:solidFill>
                  <a:srgbClr val="1F2937"/>
                </a:solidFill>
                <a:latin typeface="Aptos"/>
              </a:rPr>
              <a:t>shaklda</a:t>
            </a:r>
            <a:r>
              <a:rPr sz="2100" dirty="0">
                <a:solidFill>
                  <a:srgbClr val="1F2937"/>
                </a:solidFill>
                <a:latin typeface="Aptos"/>
              </a:rPr>
              <a:t> </a:t>
            </a:r>
            <a:r>
              <a:rPr sz="2100" dirty="0" err="1">
                <a:solidFill>
                  <a:srgbClr val="1F2937"/>
                </a:solidFill>
                <a:latin typeface="Aptos"/>
              </a:rPr>
              <a:t>ifodalash</a:t>
            </a:r>
            <a:r>
              <a:rPr sz="2100" dirty="0">
                <a:solidFill>
                  <a:srgbClr val="1F2937"/>
                </a:solidFill>
                <a:latin typeface="Aptos"/>
              </a:rPr>
              <a:t> </a:t>
            </a:r>
            <a:r>
              <a:rPr sz="2100" dirty="0" err="1">
                <a:solidFill>
                  <a:srgbClr val="1F2937"/>
                </a:solidFill>
                <a:latin typeface="Aptos"/>
              </a:rPr>
              <a:t>va</a:t>
            </a:r>
            <a:r>
              <a:rPr sz="2100" dirty="0">
                <a:solidFill>
                  <a:srgbClr val="1F2937"/>
                </a:solidFill>
                <a:latin typeface="Aptos"/>
              </a:rPr>
              <a:t> </a:t>
            </a:r>
            <a:r>
              <a:rPr sz="2100" dirty="0" err="1">
                <a:solidFill>
                  <a:srgbClr val="1F2937"/>
                </a:solidFill>
                <a:latin typeface="Aptos"/>
              </a:rPr>
              <a:t>ularning</a:t>
            </a:r>
            <a:r>
              <a:rPr sz="2100" dirty="0">
                <a:solidFill>
                  <a:srgbClr val="1F2937"/>
                </a:solidFill>
                <a:latin typeface="Aptos"/>
              </a:rPr>
              <a:t> </a:t>
            </a:r>
            <a:r>
              <a:rPr sz="2100" dirty="0" err="1">
                <a:solidFill>
                  <a:srgbClr val="1F2937"/>
                </a:solidFill>
                <a:latin typeface="Aptos"/>
              </a:rPr>
              <a:t>miqdoriy</a:t>
            </a:r>
            <a:r>
              <a:rPr sz="2100" dirty="0">
                <a:solidFill>
                  <a:srgbClr val="1F2937"/>
                </a:solidFill>
                <a:latin typeface="Aptos"/>
              </a:rPr>
              <a:t> </a:t>
            </a:r>
            <a:r>
              <a:rPr sz="2100" dirty="0" err="1">
                <a:solidFill>
                  <a:srgbClr val="1F2937"/>
                </a:solidFill>
                <a:latin typeface="Aptos"/>
              </a:rPr>
              <a:t>bog‘liqligini</a:t>
            </a:r>
            <a:r>
              <a:rPr sz="2100" dirty="0">
                <a:solidFill>
                  <a:srgbClr val="1F2937"/>
                </a:solidFill>
                <a:latin typeface="Aptos"/>
              </a:rPr>
              <a:t> </a:t>
            </a:r>
            <a:r>
              <a:rPr sz="2100" dirty="0" err="1">
                <a:solidFill>
                  <a:srgbClr val="1F2937"/>
                </a:solidFill>
                <a:latin typeface="Aptos"/>
              </a:rPr>
              <a:t>baholash</a:t>
            </a:r>
            <a:r>
              <a:rPr sz="2100" dirty="0">
                <a:solidFill>
                  <a:srgbClr val="1F2937"/>
                </a:solidFill>
                <a:latin typeface="Aptos"/>
              </a:rPr>
              <a:t> </a:t>
            </a:r>
            <a:r>
              <a:rPr sz="2100" dirty="0" err="1">
                <a:solidFill>
                  <a:srgbClr val="1F2937"/>
                </a:solidFill>
                <a:latin typeface="Aptos"/>
              </a:rPr>
              <a:t>imkonini</a:t>
            </a:r>
            <a:r>
              <a:rPr sz="2100" dirty="0">
                <a:solidFill>
                  <a:srgbClr val="1F2937"/>
                </a:solidFill>
                <a:latin typeface="Aptos"/>
              </a:rPr>
              <a:t> </a:t>
            </a:r>
            <a:r>
              <a:rPr sz="2100" dirty="0" err="1">
                <a:solidFill>
                  <a:srgbClr val="1F2937"/>
                </a:solidFill>
                <a:latin typeface="Aptos"/>
              </a:rPr>
              <a:t>beruvchi</a:t>
            </a:r>
            <a:r>
              <a:rPr sz="2100" dirty="0">
                <a:solidFill>
                  <a:srgbClr val="1F2937"/>
                </a:solidFill>
                <a:latin typeface="Aptos"/>
              </a:rPr>
              <a:t> </a:t>
            </a:r>
            <a:r>
              <a:rPr sz="2100" dirty="0" err="1">
                <a:solidFill>
                  <a:srgbClr val="1F2937"/>
                </a:solidFill>
                <a:latin typeface="Aptos"/>
              </a:rPr>
              <a:t>modeldir</a:t>
            </a:r>
            <a:r>
              <a:rPr sz="2100" dirty="0">
                <a:solidFill>
                  <a:srgbClr val="1F2937"/>
                </a:solidFill>
                <a:latin typeface="Aptos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7603" y="1417320"/>
            <a:ext cx="73152" cy="114300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68680" y="3154680"/>
            <a:ext cx="1965960" cy="777240"/>
          </a:xfrm>
          <a:prstGeom prst="roundRect">
            <a:avLst/>
          </a:prstGeom>
          <a:solidFill>
            <a:srgbClr val="E5F6F4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B1F33"/>
                </a:solidFill>
                <a:latin typeface="Aptos"/>
              </a:rPr>
              <a:t>IQTISODIY
NAZARIYA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3310128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>
                <a:solidFill>
                  <a:srgbClr val="C2A56B"/>
                </a:solidFill>
                <a:latin typeface="Aptos"/>
              </a:rPr>
              <a:t>+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39" y="3154680"/>
            <a:ext cx="1965960" cy="777240"/>
          </a:xfrm>
          <a:prstGeom prst="roundRect">
            <a:avLst/>
          </a:prstGeom>
          <a:solidFill>
            <a:srgbClr val="F8F3E7"/>
          </a:solidFill>
          <a:ln w="12700">
            <a:solidFill>
              <a:srgbClr val="C2A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B1F33"/>
                </a:solidFill>
                <a:latin typeface="Aptos"/>
              </a:rPr>
              <a:t>MATEMATIK
IFODA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57800" y="3310128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>
                <a:solidFill>
                  <a:srgbClr val="C2A56B"/>
                </a:solidFill>
                <a:latin typeface="Aptos"/>
              </a:rPr>
              <a:t>+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15000" y="3154680"/>
            <a:ext cx="1965960" cy="777240"/>
          </a:xfrm>
          <a:prstGeom prst="roundRect">
            <a:avLst/>
          </a:prstGeom>
          <a:solidFill>
            <a:srgbClr val="E8EFF8"/>
          </a:solidFill>
          <a:ln w="12700">
            <a:solidFill>
              <a:srgbClr val="12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B1F33"/>
                </a:solidFill>
                <a:latin typeface="Aptos"/>
              </a:rPr>
              <a:t>MA’LUMOT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3310128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>
                <a:solidFill>
                  <a:srgbClr val="C2A56B"/>
                </a:solidFill>
                <a:latin typeface="Aptos"/>
              </a:rPr>
              <a:t>+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59" y="3154680"/>
            <a:ext cx="1965960" cy="777240"/>
          </a:xfrm>
          <a:prstGeom prst="roundRect">
            <a:avLst/>
          </a:prstGeom>
          <a:solidFill>
            <a:srgbClr val="F8E8E8"/>
          </a:solidFill>
          <a:ln w="12700">
            <a:solidFill>
              <a:srgbClr val="A3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B1F33"/>
                </a:solidFill>
                <a:latin typeface="Aptos"/>
              </a:rPr>
              <a:t>STATISTIK
USUL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67528" y="4274820"/>
            <a:ext cx="2743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dirty="0">
                <a:solidFill>
                  <a:srgbClr val="C2A56B"/>
                </a:solidFill>
                <a:latin typeface="Aptos"/>
              </a:rPr>
              <a:t>=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33088" y="4860238"/>
            <a:ext cx="2743200" cy="777240"/>
          </a:xfrm>
          <a:prstGeom prst="roundRect">
            <a:avLst/>
          </a:prstGeom>
          <a:solidFill>
            <a:srgbClr val="0B1F33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dirty="0" err="1">
                <a:solidFill>
                  <a:srgbClr val="FFFFFF"/>
                </a:solidFill>
                <a:latin typeface="Aptos"/>
              </a:rPr>
              <a:t>EKONOMETRIK</a:t>
            </a:r>
            <a:r>
              <a:rPr sz="1800" b="1" dirty="0">
                <a:solidFill>
                  <a:srgbClr val="FFFFFF"/>
                </a:solidFill>
                <a:latin typeface="Aptos"/>
              </a:rPr>
              <a:t>
MODEL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9184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Aptos"/>
              </a:rPr>
              <a:t>ASOSIY FORMULA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76072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0B1F33"/>
                </a:solidFill>
                <a:latin typeface="Aptos Display"/>
              </a:rPr>
              <a:t>Modelning asosiy anatomiyasi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097280" cy="254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tiu-blu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84048"/>
            <a:ext cx="960120" cy="40901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12064" y="6446520"/>
            <a:ext cx="11201400" cy="15240"/>
          </a:xfrm>
          <a:prstGeom prst="rect">
            <a:avLst/>
          </a:prstGeom>
          <a:solidFill>
            <a:srgbClr val="D9D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6510528"/>
            <a:ext cx="98755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TASHKENT INTERNATIONAL UNIVERSITY • EKONOMETRIKA • BAKALAVRIAT 3-KURS • by Sarvar Komilov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44784" y="6510528"/>
            <a:ext cx="8229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Aptos"/>
              </a:rPr>
              <a:t>09 / 57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48840" y="1417320"/>
            <a:ext cx="786384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600" b="0">
                <a:solidFill>
                  <a:srgbClr val="0B1F33"/>
                </a:solidFill>
                <a:latin typeface="Cambria Math"/>
              </a:rPr>
              <a:t>Yᵢ = β₀ + β₁Xᵢ + uᵢ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743200"/>
            <a:ext cx="201168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27000" rtlCol="0" anchor="t"/>
          <a:lstStyle/>
          <a:p>
            <a:pPr algn="ctr"/>
            <a:r>
              <a:rPr sz="2600" b="1">
                <a:solidFill>
                  <a:srgbClr val="0B1F33"/>
                </a:solidFill>
                <a:latin typeface="Aptos"/>
              </a:rPr>
              <a:t>Yᵢ</a:t>
            </a:r>
          </a:p>
          <a:p>
            <a:pPr algn="ctr">
              <a:spcBef>
                <a:spcPts val="600"/>
              </a:spcBef>
            </a:pPr>
            <a:r>
              <a:rPr sz="1600">
                <a:solidFill>
                  <a:srgbClr val="1F2937"/>
                </a:solidFill>
                <a:latin typeface="Aptos"/>
              </a:rPr>
              <a:t>Bog‘liq o‘zgaruvchi
Biz tushuntirmoqchi bo‘lgan natija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743200"/>
            <a:ext cx="73152" cy="205740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971800" y="2743200"/>
            <a:ext cx="201168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27000" rtlCol="0" anchor="t"/>
          <a:lstStyle/>
          <a:p>
            <a:pPr algn="ctr"/>
            <a:r>
              <a:rPr sz="2600" b="1">
                <a:solidFill>
                  <a:srgbClr val="0B1F33"/>
                </a:solidFill>
                <a:latin typeface="Aptos"/>
              </a:rPr>
              <a:t>Xᵢ</a:t>
            </a:r>
          </a:p>
          <a:p>
            <a:pPr algn="ctr">
              <a:spcBef>
                <a:spcPts val="600"/>
              </a:spcBef>
            </a:pPr>
            <a:r>
              <a:rPr sz="1600">
                <a:solidFill>
                  <a:srgbClr val="1F2937"/>
                </a:solidFill>
                <a:latin typeface="Aptos"/>
              </a:rPr>
              <a:t>Tushuntiruvchi o‘zgaruvchi
Natija bilan bog‘liq omil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71800" y="2743200"/>
            <a:ext cx="73152" cy="2057400"/>
          </a:xfrm>
          <a:prstGeom prst="roundRect">
            <a:avLst/>
          </a:prstGeom>
          <a:solidFill>
            <a:srgbClr val="C2A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257800" y="2743200"/>
            <a:ext cx="201168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27000" rtlCol="0" anchor="t"/>
          <a:lstStyle/>
          <a:p>
            <a:pPr algn="ctr"/>
            <a:r>
              <a:rPr sz="2600" b="1">
                <a:solidFill>
                  <a:srgbClr val="0B1F33"/>
                </a:solidFill>
                <a:latin typeface="Aptos"/>
              </a:rPr>
              <a:t>β₀</a:t>
            </a:r>
          </a:p>
          <a:p>
            <a:pPr algn="ctr">
              <a:spcBef>
                <a:spcPts val="600"/>
              </a:spcBef>
            </a:pPr>
            <a:r>
              <a:rPr sz="1600">
                <a:solidFill>
                  <a:srgbClr val="1F2937"/>
                </a:solidFill>
                <a:latin typeface="Aptos"/>
              </a:rPr>
              <a:t>Ozod had
Modelning boshlang‘ich darajasi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57800" y="2743200"/>
            <a:ext cx="73152" cy="2057400"/>
          </a:xfrm>
          <a:prstGeom prst="roundRect">
            <a:avLst/>
          </a:prstGeom>
          <a:solidFill>
            <a:srgbClr val="12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543800" y="2743200"/>
            <a:ext cx="201168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27000" rtlCol="0" anchor="t"/>
          <a:lstStyle/>
          <a:p>
            <a:pPr algn="ctr"/>
            <a:r>
              <a:rPr sz="2600" b="1">
                <a:solidFill>
                  <a:srgbClr val="0B1F33"/>
                </a:solidFill>
                <a:latin typeface="Aptos"/>
              </a:rPr>
              <a:t>β₁</a:t>
            </a:r>
          </a:p>
          <a:p>
            <a:pPr algn="ctr">
              <a:spcBef>
                <a:spcPts val="600"/>
              </a:spcBef>
            </a:pPr>
            <a:r>
              <a:rPr sz="1600">
                <a:solidFill>
                  <a:srgbClr val="1F2937"/>
                </a:solidFill>
                <a:latin typeface="Aptos"/>
              </a:rPr>
              <a:t>Parametr
X va Y o‘rtasidagi miqdoriy munosabat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43800" y="2743200"/>
            <a:ext cx="73152" cy="205740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829800" y="2743200"/>
            <a:ext cx="201168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27000" rtlCol="0" anchor="t"/>
          <a:lstStyle/>
          <a:p>
            <a:pPr algn="ctr"/>
            <a:r>
              <a:rPr sz="2600" b="1">
                <a:solidFill>
                  <a:srgbClr val="0B1F33"/>
                </a:solidFill>
                <a:latin typeface="Aptos"/>
              </a:rPr>
              <a:t>uᵢ</a:t>
            </a:r>
          </a:p>
          <a:p>
            <a:pPr algn="ctr">
              <a:spcBef>
                <a:spcPts val="600"/>
              </a:spcBef>
            </a:pPr>
            <a:r>
              <a:rPr sz="1600">
                <a:solidFill>
                  <a:srgbClr val="1F2937"/>
                </a:solidFill>
                <a:latin typeface="Aptos"/>
              </a:rPr>
              <a:t>Tasodifiy xatolik hadi
Modelga kiritilmagan omillar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829800" y="2743200"/>
            <a:ext cx="73152" cy="2057400"/>
          </a:xfrm>
          <a:prstGeom prst="roundRect">
            <a:avLst/>
          </a:prstGeom>
          <a:solidFill>
            <a:srgbClr val="A3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9184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Aptos"/>
              </a:rPr>
              <a:t>IQTISODIY TALQIN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76072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0B1F33"/>
                </a:solidFill>
                <a:latin typeface="Aptos Display"/>
              </a:rPr>
              <a:t>Formula — faqat belgilar to‘plami emas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097280" cy="254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tiu-blu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84048"/>
            <a:ext cx="960120" cy="40901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12064" y="6446520"/>
            <a:ext cx="11201400" cy="15240"/>
          </a:xfrm>
          <a:prstGeom prst="rect">
            <a:avLst/>
          </a:prstGeom>
          <a:solidFill>
            <a:srgbClr val="D9D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6510528"/>
            <a:ext cx="98755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TASHKENT INTERNATIONAL UNIVERSITY • EKONOMETRIKA • BAKALAVRIAT 3-KURS • by Sarvar Komilov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44784" y="6510528"/>
            <a:ext cx="8229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Aptos"/>
              </a:rPr>
              <a:t>10 / 57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1417320"/>
            <a:ext cx="987552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000" b="0">
                <a:solidFill>
                  <a:srgbClr val="0B1F33"/>
                </a:solidFill>
                <a:latin typeface="Cambria Math"/>
              </a:rPr>
              <a:t>Sotuvᵢ = β₀ + β₁Reklamaᵢ + uᵢ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70432" y="2308860"/>
            <a:ext cx="3754653" cy="1293876"/>
          </a:xfrm>
          <a:prstGeom prst="roundRect">
            <a:avLst/>
          </a:prstGeom>
          <a:solidFill>
            <a:srgbClr val="E5F6F4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27000" rtlCol="0" anchor="t"/>
          <a:lstStyle/>
          <a:p>
            <a:pPr algn="l"/>
            <a:r>
              <a:rPr sz="2200" b="1" dirty="0" err="1">
                <a:solidFill>
                  <a:srgbClr val="0B1F33"/>
                </a:solidFill>
                <a:latin typeface="Aptos"/>
              </a:rPr>
              <a:t>Sotuv</a:t>
            </a:r>
            <a:endParaRPr sz="2200" b="1" dirty="0">
              <a:solidFill>
                <a:srgbClr val="0B1F33"/>
              </a:solidFill>
              <a:latin typeface="Aptos"/>
            </a:endParaRPr>
          </a:p>
          <a:p>
            <a:pPr algn="l">
              <a:spcBef>
                <a:spcPts val="600"/>
              </a:spcBef>
            </a:pPr>
            <a:r>
              <a:rPr sz="1800" dirty="0" err="1">
                <a:solidFill>
                  <a:srgbClr val="1F2937"/>
                </a:solidFill>
                <a:latin typeface="Aptos"/>
              </a:rPr>
              <a:t>bog‘liq</a:t>
            </a:r>
            <a:r>
              <a:rPr sz="1800" dirty="0">
                <a:solidFill>
                  <a:srgbClr val="1F2937"/>
                </a:solidFill>
                <a:latin typeface="Aptos"/>
              </a:rPr>
              <a:t> </a:t>
            </a:r>
            <a:r>
              <a:rPr sz="1800" dirty="0" err="1">
                <a:solidFill>
                  <a:srgbClr val="1F2937"/>
                </a:solidFill>
                <a:latin typeface="Aptos"/>
              </a:rPr>
              <a:t>o‘zgaruvchi</a:t>
            </a:r>
            <a:r>
              <a:rPr sz="1800" dirty="0">
                <a:solidFill>
                  <a:srgbClr val="1F2937"/>
                </a:solidFill>
                <a:latin typeface="Aptos"/>
              </a:rPr>
              <a:t> — </a:t>
            </a:r>
            <a:r>
              <a:rPr sz="1800" dirty="0" err="1">
                <a:solidFill>
                  <a:srgbClr val="1F2937"/>
                </a:solidFill>
                <a:latin typeface="Aptos"/>
              </a:rPr>
              <a:t>natijaviy</a:t>
            </a:r>
            <a:r>
              <a:rPr sz="1800" dirty="0">
                <a:solidFill>
                  <a:srgbClr val="1F2937"/>
                </a:solidFill>
                <a:latin typeface="Aptos"/>
              </a:rPr>
              <a:t> </a:t>
            </a:r>
            <a:r>
              <a:rPr sz="1800" dirty="0" err="1">
                <a:solidFill>
                  <a:srgbClr val="1F2937"/>
                </a:solidFill>
                <a:latin typeface="Aptos"/>
              </a:rPr>
              <a:t>ko‘rsatkich</a:t>
            </a:r>
            <a:endParaRPr sz="1800" dirty="0">
              <a:solidFill>
                <a:srgbClr val="1F2937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1097280" y="2377440"/>
            <a:ext cx="73152" cy="105156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291813" y="2308860"/>
            <a:ext cx="3950208" cy="1212938"/>
          </a:xfrm>
          <a:prstGeom prst="roundRect">
            <a:avLst/>
          </a:prstGeom>
          <a:solidFill>
            <a:srgbClr val="F8F3E7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27000" rtlCol="0" anchor="t"/>
          <a:lstStyle/>
          <a:p>
            <a:pPr algn="l"/>
            <a:r>
              <a:rPr sz="2200" b="1" dirty="0" err="1">
                <a:solidFill>
                  <a:srgbClr val="0B1F33"/>
                </a:solidFill>
                <a:latin typeface="Aptos"/>
              </a:rPr>
              <a:t>Reklama</a:t>
            </a:r>
            <a:endParaRPr sz="2200" b="1" dirty="0">
              <a:solidFill>
                <a:srgbClr val="0B1F33"/>
              </a:solidFill>
              <a:latin typeface="Aptos"/>
            </a:endParaRPr>
          </a:p>
          <a:p>
            <a:pPr algn="l">
              <a:spcBef>
                <a:spcPts val="600"/>
              </a:spcBef>
            </a:pPr>
            <a:r>
              <a:rPr sz="1800" dirty="0" err="1">
                <a:solidFill>
                  <a:srgbClr val="1F2937"/>
                </a:solidFill>
                <a:latin typeface="Aptos"/>
              </a:rPr>
              <a:t>tushuntiruvchi</a:t>
            </a:r>
            <a:r>
              <a:rPr sz="1800" dirty="0">
                <a:solidFill>
                  <a:srgbClr val="1F2937"/>
                </a:solidFill>
                <a:latin typeface="Aptos"/>
              </a:rPr>
              <a:t> </a:t>
            </a:r>
            <a:r>
              <a:rPr sz="1800" dirty="0" err="1">
                <a:solidFill>
                  <a:srgbClr val="1F2937"/>
                </a:solidFill>
                <a:latin typeface="Aptos"/>
              </a:rPr>
              <a:t>o‘zgaruvchi</a:t>
            </a:r>
            <a:r>
              <a:rPr sz="1800" dirty="0">
                <a:solidFill>
                  <a:srgbClr val="1F2937"/>
                </a:solidFill>
                <a:latin typeface="Aptos"/>
              </a:rPr>
              <a:t> — </a:t>
            </a:r>
            <a:r>
              <a:rPr sz="1800" dirty="0" err="1">
                <a:solidFill>
                  <a:srgbClr val="1F2937"/>
                </a:solidFill>
                <a:latin typeface="Aptos"/>
              </a:rPr>
              <a:t>o‘rganilayotgan</a:t>
            </a:r>
            <a:r>
              <a:rPr sz="1800" dirty="0">
                <a:solidFill>
                  <a:srgbClr val="1F2937"/>
                </a:solidFill>
                <a:latin typeface="Aptos"/>
              </a:rPr>
              <a:t> </a:t>
            </a:r>
            <a:r>
              <a:rPr sz="1800" dirty="0" err="1">
                <a:solidFill>
                  <a:srgbClr val="1F2937"/>
                </a:solidFill>
                <a:latin typeface="Aptos"/>
              </a:rPr>
              <a:t>omil</a:t>
            </a:r>
            <a:endParaRPr sz="1800" dirty="0">
              <a:solidFill>
                <a:srgbClr val="1F2937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074920" y="2377440"/>
            <a:ext cx="73152" cy="1051560"/>
          </a:xfrm>
          <a:prstGeom prst="roundRect">
            <a:avLst/>
          </a:prstGeom>
          <a:solidFill>
            <a:srgbClr val="C2A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97280" y="3886200"/>
            <a:ext cx="36576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000" b="0">
                <a:solidFill>
                  <a:srgbClr val="0B1F33"/>
                </a:solidFill>
                <a:latin typeface="Cambria Math"/>
              </a:rPr>
              <a:t>Ŷ = 50 + 3X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42560" y="3666880"/>
            <a:ext cx="5852160" cy="12937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27000" rtlCol="0" anchor="t"/>
          <a:lstStyle/>
          <a:p>
            <a:pPr algn="l"/>
            <a:r>
              <a:rPr sz="2000" b="1" dirty="0" err="1">
                <a:solidFill>
                  <a:srgbClr val="0B1F33"/>
                </a:solidFill>
                <a:latin typeface="Aptos"/>
              </a:rPr>
              <a:t>Talqin</a:t>
            </a:r>
            <a:endParaRPr sz="2000" b="1" dirty="0">
              <a:solidFill>
                <a:srgbClr val="0B1F33"/>
              </a:solidFill>
              <a:latin typeface="Aptos"/>
            </a:endParaRPr>
          </a:p>
          <a:p>
            <a:pPr algn="l">
              <a:spcBef>
                <a:spcPts val="600"/>
              </a:spcBef>
            </a:pPr>
            <a:r>
              <a:rPr sz="1800" dirty="0">
                <a:solidFill>
                  <a:srgbClr val="1F2937"/>
                </a:solidFill>
                <a:latin typeface="Aptos"/>
              </a:rPr>
              <a:t>X </a:t>
            </a:r>
            <a:r>
              <a:rPr sz="1800" dirty="0" err="1">
                <a:solidFill>
                  <a:srgbClr val="1F2937"/>
                </a:solidFill>
                <a:latin typeface="Aptos"/>
              </a:rPr>
              <a:t>bir</a:t>
            </a:r>
            <a:r>
              <a:rPr sz="1800" dirty="0">
                <a:solidFill>
                  <a:srgbClr val="1F2937"/>
                </a:solidFill>
                <a:latin typeface="Aptos"/>
              </a:rPr>
              <a:t> </a:t>
            </a:r>
            <a:r>
              <a:rPr sz="1800" dirty="0" err="1">
                <a:solidFill>
                  <a:srgbClr val="1F2937"/>
                </a:solidFill>
                <a:latin typeface="Aptos"/>
              </a:rPr>
              <a:t>birlik</a:t>
            </a:r>
            <a:r>
              <a:rPr sz="1800" dirty="0">
                <a:solidFill>
                  <a:srgbClr val="1F2937"/>
                </a:solidFill>
                <a:latin typeface="Aptos"/>
              </a:rPr>
              <a:t> </a:t>
            </a:r>
            <a:r>
              <a:rPr sz="1800" dirty="0" err="1">
                <a:solidFill>
                  <a:srgbClr val="1F2937"/>
                </a:solidFill>
                <a:latin typeface="Aptos"/>
              </a:rPr>
              <a:t>yuqori</a:t>
            </a:r>
            <a:r>
              <a:rPr sz="1800" dirty="0">
                <a:solidFill>
                  <a:srgbClr val="1F2937"/>
                </a:solidFill>
                <a:latin typeface="Aptos"/>
              </a:rPr>
              <a:t> </a:t>
            </a:r>
            <a:r>
              <a:rPr sz="1800" dirty="0" err="1">
                <a:solidFill>
                  <a:srgbClr val="1F2937"/>
                </a:solidFill>
                <a:latin typeface="Aptos"/>
              </a:rPr>
              <a:t>bo‘lganda</a:t>
            </a:r>
            <a:r>
              <a:rPr sz="1800" dirty="0">
                <a:solidFill>
                  <a:srgbClr val="1F2937"/>
                </a:solidFill>
                <a:latin typeface="Aptos"/>
              </a:rPr>
              <a:t>, model </a:t>
            </a:r>
            <a:r>
              <a:rPr sz="1800" dirty="0" err="1">
                <a:solidFill>
                  <a:srgbClr val="1F2937"/>
                </a:solidFill>
                <a:latin typeface="Aptos"/>
              </a:rPr>
              <a:t>bo‘yicha</a:t>
            </a:r>
            <a:r>
              <a:rPr sz="1800" dirty="0">
                <a:solidFill>
                  <a:srgbClr val="1F2937"/>
                </a:solidFill>
                <a:latin typeface="Aptos"/>
              </a:rPr>
              <a:t> Y </a:t>
            </a:r>
            <a:r>
              <a:rPr sz="1800" dirty="0" err="1">
                <a:solidFill>
                  <a:srgbClr val="1F2937"/>
                </a:solidFill>
                <a:latin typeface="Aptos"/>
              </a:rPr>
              <a:t>o‘rtacha</a:t>
            </a:r>
            <a:r>
              <a:rPr sz="1800" dirty="0">
                <a:solidFill>
                  <a:srgbClr val="1F2937"/>
                </a:solidFill>
                <a:latin typeface="Aptos"/>
              </a:rPr>
              <a:t> 3 </a:t>
            </a:r>
            <a:r>
              <a:rPr sz="1800" dirty="0" err="1">
                <a:solidFill>
                  <a:srgbClr val="1F2937"/>
                </a:solidFill>
                <a:latin typeface="Aptos"/>
              </a:rPr>
              <a:t>birlik</a:t>
            </a:r>
            <a:r>
              <a:rPr sz="1800" dirty="0">
                <a:solidFill>
                  <a:srgbClr val="1F2937"/>
                </a:solidFill>
                <a:latin typeface="Aptos"/>
              </a:rPr>
              <a:t> </a:t>
            </a:r>
            <a:r>
              <a:rPr sz="1800" dirty="0" err="1">
                <a:solidFill>
                  <a:srgbClr val="1F2937"/>
                </a:solidFill>
                <a:latin typeface="Aptos"/>
              </a:rPr>
              <a:t>yuqori</a:t>
            </a:r>
            <a:r>
              <a:rPr sz="1800" dirty="0">
                <a:solidFill>
                  <a:srgbClr val="1F2937"/>
                </a:solidFill>
                <a:latin typeface="Aptos"/>
              </a:rPr>
              <a:t> </a:t>
            </a:r>
            <a:r>
              <a:rPr sz="1800" dirty="0" err="1">
                <a:solidFill>
                  <a:srgbClr val="1F2937"/>
                </a:solidFill>
                <a:latin typeface="Aptos"/>
              </a:rPr>
              <a:t>bo‘lishi</a:t>
            </a:r>
            <a:r>
              <a:rPr sz="1800" dirty="0">
                <a:solidFill>
                  <a:srgbClr val="1F2937"/>
                </a:solidFill>
                <a:latin typeface="Aptos"/>
              </a:rPr>
              <a:t> </a:t>
            </a:r>
            <a:r>
              <a:rPr sz="1800" dirty="0" err="1">
                <a:solidFill>
                  <a:srgbClr val="1F2937"/>
                </a:solidFill>
                <a:latin typeface="Aptos"/>
              </a:rPr>
              <a:t>kutiladi</a:t>
            </a:r>
            <a:r>
              <a:rPr sz="1800" dirty="0">
                <a:solidFill>
                  <a:srgbClr val="1F2937"/>
                </a:solidFill>
                <a:latin typeface="Aptos"/>
              </a:rPr>
              <a:t>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74920" y="3794760"/>
            <a:ext cx="73152" cy="96012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828800" y="5349240"/>
            <a:ext cx="8503920" cy="502920"/>
          </a:xfrm>
          <a:prstGeom prst="roundRect">
            <a:avLst/>
          </a:prstGeom>
          <a:solidFill>
            <a:srgbClr val="F8E8E8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27000" rtlCol="0" anchor="t"/>
          <a:lstStyle/>
          <a:p>
            <a:pPr algn="ctr"/>
            <a:r>
              <a:rPr sz="1800" b="1">
                <a:solidFill>
                  <a:srgbClr val="0B1F33"/>
                </a:solidFill>
                <a:latin typeface="Aptos"/>
              </a:rPr>
              <a:t>Ogohlantirish: bu natija o‘z-o‘zidan “X Y ga sabab bo‘ldi” degani emas.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828800" y="5349240"/>
            <a:ext cx="73152" cy="502920"/>
          </a:xfrm>
          <a:prstGeom prst="roundRect">
            <a:avLst/>
          </a:prstGeom>
          <a:solidFill>
            <a:srgbClr val="A3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9184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Aptos"/>
              </a:rPr>
              <a:t>U HADI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76072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0B1F33"/>
                </a:solidFill>
                <a:latin typeface="Aptos Display"/>
              </a:rPr>
              <a:t>Nega ekonometrik modelda tasodifiy xatolik hadi mavjud?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097280" cy="254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tiu-blu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84048"/>
            <a:ext cx="960120" cy="40901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12064" y="6446520"/>
            <a:ext cx="11201400" cy="15240"/>
          </a:xfrm>
          <a:prstGeom prst="rect">
            <a:avLst/>
          </a:prstGeom>
          <a:solidFill>
            <a:srgbClr val="D9D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6510528"/>
            <a:ext cx="98755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TASHKENT INTERNATIONAL UNIVERSITY • EKONOMETRIKA • BAKALAVRIAT 3-KURS • by Sarvar Komilov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44784" y="6510528"/>
            <a:ext cx="8229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Aptos"/>
              </a:rPr>
              <a:t>11 / 57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20240" y="1371600"/>
            <a:ext cx="832104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000" b="0">
                <a:solidFill>
                  <a:srgbClr val="0B1F33"/>
                </a:solidFill>
                <a:latin typeface="Cambria Math"/>
              </a:rPr>
              <a:t>Sotuvᵢ = β₀ + β₁Reklamaᵢ + uᵢ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514600"/>
            <a:ext cx="233172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1F33"/>
                </a:solidFill>
                <a:latin typeface="Aptos"/>
              </a:rPr>
              <a:t>mahsulot sifati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03320" y="2514600"/>
            <a:ext cx="233172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A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1F33"/>
                </a:solidFill>
                <a:latin typeface="Aptos"/>
              </a:rPr>
              <a:t>mavsum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2514600"/>
            <a:ext cx="233172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3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1F33"/>
                </a:solidFill>
                <a:latin typeface="Aptos"/>
              </a:rPr>
              <a:t>raqobatchilar faoliyati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81159" y="2514600"/>
            <a:ext cx="233172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1F33"/>
                </a:solidFill>
                <a:latin typeface="Aptos"/>
              </a:rPr>
              <a:t>iste’molchi didi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429000"/>
            <a:ext cx="233172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1F33"/>
                </a:solidFill>
                <a:latin typeface="Aptos"/>
              </a:rPr>
              <a:t>iqtisodiy sharoit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03320" y="3429000"/>
            <a:ext cx="233172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A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1F33"/>
                </a:solidFill>
                <a:latin typeface="Aptos"/>
              </a:rPr>
              <a:t>ob-havo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3429000"/>
            <a:ext cx="233172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3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1F33"/>
                </a:solidFill>
                <a:latin typeface="Aptos"/>
              </a:rPr>
              <a:t>o‘lchash xatolari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81159" y="3429000"/>
            <a:ext cx="233172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1F33"/>
                </a:solidFill>
                <a:latin typeface="Aptos"/>
              </a:rPr>
              <a:t>boshqa omillar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577340" y="4694428"/>
            <a:ext cx="9464040" cy="1035304"/>
          </a:xfrm>
          <a:prstGeom prst="roundRect">
            <a:avLst/>
          </a:prstGeom>
          <a:solidFill>
            <a:srgbClr val="F8E8E8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27000" rtlCol="0" anchor="t"/>
          <a:lstStyle/>
          <a:p>
            <a:pPr algn="l"/>
            <a:r>
              <a:rPr lang="en-US" sz="2000" b="1" dirty="0">
                <a:solidFill>
                  <a:srgbClr val="0B1F33"/>
                </a:solidFill>
                <a:latin typeface="Aptos"/>
              </a:rPr>
              <a:t>U (e)</a:t>
            </a:r>
            <a:r>
              <a:rPr sz="2000" b="1" dirty="0">
                <a:solidFill>
                  <a:srgbClr val="0B1F33"/>
                </a:solidFill>
                <a:latin typeface="Aptos"/>
              </a:rPr>
              <a:t> — </a:t>
            </a:r>
            <a:r>
              <a:rPr sz="2000" b="1" dirty="0" err="1">
                <a:solidFill>
                  <a:srgbClr val="0B1F33"/>
                </a:solidFill>
                <a:latin typeface="Aptos"/>
              </a:rPr>
              <a:t>tasodifiy</a:t>
            </a:r>
            <a:r>
              <a:rPr sz="2000" b="1" dirty="0">
                <a:solidFill>
                  <a:srgbClr val="0B1F33"/>
                </a:solidFill>
                <a:latin typeface="Aptos"/>
              </a:rPr>
              <a:t> </a:t>
            </a:r>
            <a:r>
              <a:rPr sz="2000" b="1" dirty="0" err="1">
                <a:solidFill>
                  <a:srgbClr val="0B1F33"/>
                </a:solidFill>
                <a:latin typeface="Aptos"/>
              </a:rPr>
              <a:t>xatolik</a:t>
            </a:r>
            <a:r>
              <a:rPr sz="2000" b="1" dirty="0">
                <a:solidFill>
                  <a:srgbClr val="0B1F33"/>
                </a:solidFill>
                <a:latin typeface="Aptos"/>
              </a:rPr>
              <a:t> </a:t>
            </a:r>
            <a:r>
              <a:rPr sz="2000" b="1" dirty="0" err="1">
                <a:solidFill>
                  <a:srgbClr val="0B1F33"/>
                </a:solidFill>
                <a:latin typeface="Aptos"/>
              </a:rPr>
              <a:t>hadi</a:t>
            </a:r>
            <a:endParaRPr sz="2000" b="1" dirty="0">
              <a:solidFill>
                <a:srgbClr val="0B1F33"/>
              </a:solidFill>
              <a:latin typeface="Aptos"/>
            </a:endParaRPr>
          </a:p>
          <a:p>
            <a:pPr algn="l">
              <a:spcBef>
                <a:spcPts val="600"/>
              </a:spcBef>
            </a:pPr>
            <a:r>
              <a:rPr sz="1900" dirty="0">
                <a:solidFill>
                  <a:srgbClr val="1F2937"/>
                </a:solidFill>
                <a:latin typeface="Aptos"/>
              </a:rPr>
              <a:t>Real </a:t>
            </a:r>
            <a:r>
              <a:rPr sz="1900" dirty="0" err="1">
                <a:solidFill>
                  <a:srgbClr val="1F2937"/>
                </a:solidFill>
                <a:latin typeface="Aptos"/>
              </a:rPr>
              <a:t>iqtisodiyotda</a:t>
            </a:r>
            <a:r>
              <a:rPr sz="1900" dirty="0">
                <a:solidFill>
                  <a:srgbClr val="1F2937"/>
                </a:solidFill>
                <a:latin typeface="Aptos"/>
              </a:rPr>
              <a:t> Y </a:t>
            </a:r>
            <a:r>
              <a:rPr sz="1900" dirty="0" err="1">
                <a:solidFill>
                  <a:srgbClr val="1F2937"/>
                </a:solidFill>
                <a:latin typeface="Aptos"/>
              </a:rPr>
              <a:t>odatda</a:t>
            </a:r>
            <a:r>
              <a:rPr sz="1900" dirty="0">
                <a:solidFill>
                  <a:srgbClr val="1F2937"/>
                </a:solidFill>
                <a:latin typeface="Aptos"/>
              </a:rPr>
              <a:t> </a:t>
            </a:r>
            <a:r>
              <a:rPr sz="1900" dirty="0" err="1">
                <a:solidFill>
                  <a:srgbClr val="1F2937"/>
                </a:solidFill>
                <a:latin typeface="Aptos"/>
              </a:rPr>
              <a:t>faqat</a:t>
            </a:r>
            <a:r>
              <a:rPr sz="1900" dirty="0">
                <a:solidFill>
                  <a:srgbClr val="1F2937"/>
                </a:solidFill>
                <a:latin typeface="Aptos"/>
              </a:rPr>
              <a:t> </a:t>
            </a:r>
            <a:r>
              <a:rPr sz="1900" dirty="0" err="1">
                <a:solidFill>
                  <a:srgbClr val="1F2937"/>
                </a:solidFill>
                <a:latin typeface="Aptos"/>
              </a:rPr>
              <a:t>bitta</a:t>
            </a:r>
            <a:r>
              <a:rPr sz="1900" dirty="0">
                <a:solidFill>
                  <a:srgbClr val="1F2937"/>
                </a:solidFill>
                <a:latin typeface="Aptos"/>
              </a:rPr>
              <a:t> X </a:t>
            </a:r>
            <a:r>
              <a:rPr sz="1900" dirty="0" err="1">
                <a:solidFill>
                  <a:srgbClr val="1F2937"/>
                </a:solidFill>
                <a:latin typeface="Aptos"/>
              </a:rPr>
              <a:t>orqali</a:t>
            </a:r>
            <a:r>
              <a:rPr sz="1900" dirty="0">
                <a:solidFill>
                  <a:srgbClr val="1F2937"/>
                </a:solidFill>
                <a:latin typeface="Aptos"/>
              </a:rPr>
              <a:t> </a:t>
            </a:r>
            <a:r>
              <a:rPr sz="1900" dirty="0" err="1">
                <a:solidFill>
                  <a:srgbClr val="1F2937"/>
                </a:solidFill>
                <a:latin typeface="Aptos"/>
              </a:rPr>
              <a:t>to‘liq</a:t>
            </a:r>
            <a:r>
              <a:rPr sz="1900" dirty="0">
                <a:solidFill>
                  <a:srgbClr val="1F2937"/>
                </a:solidFill>
                <a:latin typeface="Aptos"/>
              </a:rPr>
              <a:t> </a:t>
            </a:r>
            <a:r>
              <a:rPr sz="1900" dirty="0" err="1">
                <a:solidFill>
                  <a:srgbClr val="1F2937"/>
                </a:solidFill>
                <a:latin typeface="Aptos"/>
              </a:rPr>
              <a:t>tushuntirilmaydi</a:t>
            </a:r>
            <a:r>
              <a:rPr sz="1900" dirty="0">
                <a:solidFill>
                  <a:srgbClr val="1F2937"/>
                </a:solidFill>
                <a:latin typeface="Aptos"/>
              </a:rPr>
              <a:t>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71600" y="4800600"/>
            <a:ext cx="73152" cy="822960"/>
          </a:xfrm>
          <a:prstGeom prst="roundRect">
            <a:avLst/>
          </a:prstGeom>
          <a:solidFill>
            <a:srgbClr val="A3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9184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Aptos"/>
              </a:rPr>
              <a:t>NOANIQLIK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76072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0B1F33"/>
                </a:solidFill>
                <a:latin typeface="Aptos Display"/>
              </a:rPr>
              <a:t>Iqtisodiy munosabatlar odatda aniq mexanik tenglama emas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097280" cy="254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tiu-blu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84048"/>
            <a:ext cx="960120" cy="40901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12064" y="6446520"/>
            <a:ext cx="11201400" cy="15240"/>
          </a:xfrm>
          <a:prstGeom prst="rect">
            <a:avLst/>
          </a:prstGeom>
          <a:solidFill>
            <a:srgbClr val="D9D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6510528"/>
            <a:ext cx="98755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TASHKENT INTERNATIONAL UNIVERSITY • EKONOMETRIKA • BAKALAVRIAT 3-KURS • by Sarvar Komilov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44784" y="6510528"/>
            <a:ext cx="8229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Aptos"/>
              </a:rPr>
              <a:t>12 / 57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600200"/>
            <a:ext cx="4892040" cy="2788920"/>
          </a:xfrm>
          <a:prstGeom prst="roundRect">
            <a:avLst/>
          </a:prstGeom>
          <a:solidFill>
            <a:srgbClr val="E8EFF8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27000" rtlCol="0" anchor="t"/>
          <a:lstStyle/>
          <a:p>
            <a:pPr algn="ctr"/>
            <a:r>
              <a:rPr sz="2600" b="1">
                <a:solidFill>
                  <a:srgbClr val="0B1F33"/>
                </a:solidFill>
                <a:latin typeface="Aptos"/>
              </a:rPr>
              <a:t>DETERMINISTIK</a:t>
            </a:r>
          </a:p>
          <a:p>
            <a:pPr algn="ctr">
              <a:spcBef>
                <a:spcPts val="600"/>
              </a:spcBef>
            </a:pPr>
            <a:r>
              <a:rPr sz="2300">
                <a:solidFill>
                  <a:srgbClr val="1F2937"/>
                </a:solidFill>
                <a:latin typeface="Aptos"/>
              </a:rPr>
              <a:t>Y = 2X
X ma’lum bo‘lsa, Y to‘liq aniqlanadi.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600200"/>
            <a:ext cx="73152" cy="2788920"/>
          </a:xfrm>
          <a:prstGeom prst="roundRect">
            <a:avLst/>
          </a:prstGeom>
          <a:solidFill>
            <a:srgbClr val="12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400800" y="1600200"/>
            <a:ext cx="4892040" cy="2788920"/>
          </a:xfrm>
          <a:prstGeom prst="roundRect">
            <a:avLst/>
          </a:prstGeom>
          <a:solidFill>
            <a:srgbClr val="E5F6F4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27000" rtlCol="0" anchor="t"/>
          <a:lstStyle/>
          <a:p>
            <a:pPr algn="ctr"/>
            <a:r>
              <a:rPr sz="2600" b="1">
                <a:solidFill>
                  <a:srgbClr val="0B1F33"/>
                </a:solidFill>
                <a:latin typeface="Aptos"/>
              </a:rPr>
              <a:t>STOXASTIK</a:t>
            </a:r>
          </a:p>
          <a:p>
            <a:pPr algn="ctr">
              <a:spcBef>
                <a:spcPts val="600"/>
              </a:spcBef>
            </a:pPr>
            <a:r>
              <a:rPr sz="2300">
                <a:solidFill>
                  <a:srgbClr val="1F2937"/>
                </a:solidFill>
                <a:latin typeface="Aptos"/>
              </a:rPr>
              <a:t>Y = β₀ + β₁X + u
X ma’lum bo‘lsa ham, Y boshqa omillar sababli farqlanishi mumkin.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600200"/>
            <a:ext cx="73152" cy="278892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531620" y="4826508"/>
            <a:ext cx="9509760" cy="908304"/>
          </a:xfrm>
          <a:prstGeom prst="roundRect">
            <a:avLst/>
          </a:prstGeom>
          <a:solidFill>
            <a:srgbClr val="F8F3E7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27000" rtlCol="0" anchor="t"/>
          <a:lstStyle/>
          <a:p>
            <a:pPr algn="ctr"/>
            <a:r>
              <a:rPr sz="1900" b="1" dirty="0" err="1">
                <a:solidFill>
                  <a:srgbClr val="0B1F33"/>
                </a:solidFill>
                <a:latin typeface="Aptos"/>
              </a:rPr>
              <a:t>Ekonometrik</a:t>
            </a:r>
            <a:r>
              <a:rPr sz="1900" b="1" dirty="0">
                <a:solidFill>
                  <a:srgbClr val="0B1F33"/>
                </a:solidFill>
                <a:latin typeface="Aptos"/>
              </a:rPr>
              <a:t> </a:t>
            </a:r>
            <a:r>
              <a:rPr sz="1900" b="1" dirty="0" err="1">
                <a:solidFill>
                  <a:srgbClr val="0B1F33"/>
                </a:solidFill>
                <a:latin typeface="Aptos"/>
              </a:rPr>
              <a:t>modellar</a:t>
            </a:r>
            <a:r>
              <a:rPr sz="1900" b="1" dirty="0">
                <a:solidFill>
                  <a:srgbClr val="0B1F33"/>
                </a:solidFill>
                <a:latin typeface="Aptos"/>
              </a:rPr>
              <a:t> </a:t>
            </a:r>
            <a:r>
              <a:rPr sz="1900" b="1" dirty="0" err="1">
                <a:solidFill>
                  <a:srgbClr val="0B1F33"/>
                </a:solidFill>
                <a:latin typeface="Aptos"/>
              </a:rPr>
              <a:t>iqtisodiy</a:t>
            </a:r>
            <a:r>
              <a:rPr sz="1900" b="1" dirty="0">
                <a:solidFill>
                  <a:srgbClr val="0B1F33"/>
                </a:solidFill>
                <a:latin typeface="Aptos"/>
              </a:rPr>
              <a:t> </a:t>
            </a:r>
            <a:r>
              <a:rPr sz="1900" b="1" dirty="0" err="1">
                <a:solidFill>
                  <a:srgbClr val="0B1F33"/>
                </a:solidFill>
                <a:latin typeface="Aptos"/>
              </a:rPr>
              <a:t>hayotdagi</a:t>
            </a:r>
            <a:r>
              <a:rPr sz="1900" b="1" dirty="0">
                <a:solidFill>
                  <a:srgbClr val="0B1F33"/>
                </a:solidFill>
                <a:latin typeface="Aptos"/>
              </a:rPr>
              <a:t> </a:t>
            </a:r>
            <a:r>
              <a:rPr sz="1900" b="1" dirty="0" err="1">
                <a:solidFill>
                  <a:srgbClr val="0B1F33"/>
                </a:solidFill>
                <a:latin typeface="Aptos"/>
              </a:rPr>
              <a:t>noaniqlikni</a:t>
            </a:r>
            <a:r>
              <a:rPr sz="1900" b="1" dirty="0">
                <a:solidFill>
                  <a:srgbClr val="0B1F33"/>
                </a:solidFill>
                <a:latin typeface="Aptos"/>
              </a:rPr>
              <a:t> </a:t>
            </a:r>
            <a:r>
              <a:rPr sz="1900" b="1" dirty="0" err="1">
                <a:solidFill>
                  <a:srgbClr val="0B1F33"/>
                </a:solidFill>
                <a:latin typeface="Aptos"/>
              </a:rPr>
              <a:t>tasodifiy</a:t>
            </a:r>
            <a:r>
              <a:rPr sz="1900" b="1" dirty="0">
                <a:solidFill>
                  <a:srgbClr val="0B1F33"/>
                </a:solidFill>
                <a:latin typeface="Aptos"/>
              </a:rPr>
              <a:t> </a:t>
            </a:r>
            <a:r>
              <a:rPr sz="1900" b="1" dirty="0" err="1">
                <a:solidFill>
                  <a:srgbClr val="0B1F33"/>
                </a:solidFill>
                <a:latin typeface="Aptos"/>
              </a:rPr>
              <a:t>komponent</a:t>
            </a:r>
            <a:r>
              <a:rPr sz="1900" b="1" dirty="0">
                <a:solidFill>
                  <a:srgbClr val="0B1F33"/>
                </a:solidFill>
                <a:latin typeface="Aptos"/>
              </a:rPr>
              <a:t> </a:t>
            </a:r>
            <a:r>
              <a:rPr sz="1900" b="1" dirty="0" err="1">
                <a:solidFill>
                  <a:srgbClr val="0B1F33"/>
                </a:solidFill>
                <a:latin typeface="Aptos"/>
              </a:rPr>
              <a:t>orqali</a:t>
            </a:r>
            <a:r>
              <a:rPr sz="1900" b="1" dirty="0">
                <a:solidFill>
                  <a:srgbClr val="0B1F33"/>
                </a:solidFill>
                <a:latin typeface="Aptos"/>
              </a:rPr>
              <a:t> </a:t>
            </a:r>
            <a:r>
              <a:rPr sz="1900" b="1" dirty="0" err="1">
                <a:solidFill>
                  <a:srgbClr val="0B1F33"/>
                </a:solidFill>
                <a:latin typeface="Aptos"/>
              </a:rPr>
              <a:t>hisobga</a:t>
            </a:r>
            <a:r>
              <a:rPr sz="1900" b="1" dirty="0">
                <a:solidFill>
                  <a:srgbClr val="0B1F33"/>
                </a:solidFill>
                <a:latin typeface="Aptos"/>
              </a:rPr>
              <a:t> </a:t>
            </a:r>
            <a:r>
              <a:rPr sz="1900" b="1" dirty="0" err="1">
                <a:solidFill>
                  <a:srgbClr val="0B1F33"/>
                </a:solidFill>
                <a:latin typeface="Aptos"/>
              </a:rPr>
              <a:t>oladi</a:t>
            </a:r>
            <a:r>
              <a:rPr sz="1900" b="1" dirty="0">
                <a:solidFill>
                  <a:srgbClr val="0B1F33"/>
                </a:solidFill>
                <a:latin typeface="Aptos"/>
              </a:rPr>
              <a:t>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25880" y="4983480"/>
            <a:ext cx="73152" cy="594360"/>
          </a:xfrm>
          <a:prstGeom prst="roundRect">
            <a:avLst/>
          </a:prstGeom>
          <a:solidFill>
            <a:srgbClr val="C2A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9184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Aptos"/>
              </a:rPr>
              <a:t>TAQQOSLASH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76072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0B1F33"/>
                </a:solidFill>
                <a:latin typeface="Aptos Display"/>
              </a:rPr>
              <a:t>Matematik va ekonometrik model o‘rtasidagi farq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097280" cy="254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tiu-blu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84048"/>
            <a:ext cx="960120" cy="40901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12064" y="6446520"/>
            <a:ext cx="11201400" cy="15240"/>
          </a:xfrm>
          <a:prstGeom prst="rect">
            <a:avLst/>
          </a:prstGeom>
          <a:solidFill>
            <a:srgbClr val="D9D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6510528"/>
            <a:ext cx="98755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TASHKENT INTERNATIONAL UNIVERSITY • EKONOMETRIKA • BAKALAVRIAT 3-KURS • by Sarvar Komilov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44784" y="6510528"/>
            <a:ext cx="8229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Aptos"/>
              </a:rPr>
              <a:t>13 / 57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554480"/>
            <a:ext cx="5120640" cy="3429000"/>
          </a:xfrm>
          <a:prstGeom prst="roundRect">
            <a:avLst/>
          </a:prstGeom>
          <a:solidFill>
            <a:srgbClr val="E8EFF8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27000" rtlCol="0" anchor="t"/>
          <a:lstStyle/>
          <a:p>
            <a:pPr algn="l"/>
            <a:r>
              <a:rPr sz="2400" b="1">
                <a:solidFill>
                  <a:srgbClr val="0B1F33"/>
                </a:solidFill>
                <a:latin typeface="Aptos"/>
              </a:rPr>
              <a:t>MATEMATIK MODEL</a:t>
            </a:r>
          </a:p>
          <a:p>
            <a:pPr algn="l">
              <a:spcBef>
                <a:spcPts val="600"/>
              </a:spcBef>
            </a:pPr>
            <a:r>
              <a:rPr sz="2100">
                <a:solidFill>
                  <a:srgbClr val="1F2937"/>
                </a:solidFill>
                <a:latin typeface="Aptos"/>
              </a:rPr>
              <a:t>C = a + bY
• nazariy munosabat;
• parametrlar nazariy belgilar;
• tasodifiy komponent bo‘lishi shart emas.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554480"/>
            <a:ext cx="73152" cy="3429000"/>
          </a:xfrm>
          <a:prstGeom prst="roundRect">
            <a:avLst/>
          </a:prstGeom>
          <a:solidFill>
            <a:srgbClr val="12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217920" y="1554480"/>
            <a:ext cx="5120640" cy="3429000"/>
          </a:xfrm>
          <a:prstGeom prst="roundRect">
            <a:avLst/>
          </a:prstGeom>
          <a:solidFill>
            <a:srgbClr val="E5F6F4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27000" rtlCol="0" anchor="t"/>
          <a:lstStyle/>
          <a:p>
            <a:pPr algn="l"/>
            <a:r>
              <a:rPr sz="2400" b="1">
                <a:solidFill>
                  <a:srgbClr val="0B1F33"/>
                </a:solidFill>
                <a:latin typeface="Aptos"/>
              </a:rPr>
              <a:t>EKONOMETRIK MODEL</a:t>
            </a:r>
          </a:p>
          <a:p>
            <a:pPr algn="l">
              <a:spcBef>
                <a:spcPts val="600"/>
              </a:spcBef>
            </a:pPr>
            <a:r>
              <a:rPr sz="2100">
                <a:solidFill>
                  <a:srgbClr val="1F2937"/>
                </a:solidFill>
                <a:latin typeface="Aptos"/>
              </a:rPr>
              <a:t>Cᵢ = β₀ + β₁Yᵢ + uᵢ
• statistik ma’lumot bilan ishlaydi;
• parametrlar baholanadi;
• tasodifiy komponent mavjud;
• gipotezalar empirik tekshiriladi.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554480"/>
            <a:ext cx="73152" cy="342900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463040" y="5532120"/>
            <a:ext cx="9235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300" b="1">
                <a:solidFill>
                  <a:srgbClr val="0B1F33"/>
                </a:solidFill>
                <a:latin typeface="Aptos"/>
              </a:rPr>
              <a:t>Ekonometrik model — nazariyani ma’lumot bilan bog‘laydi.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9184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Aptos"/>
              </a:rPr>
              <a:t>MAQSADLAR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76072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0B1F33"/>
                </a:solidFill>
                <a:latin typeface="Aptos Display"/>
              </a:rPr>
              <a:t>Ekonometrik modelning uchta asosiy vazifasi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097280" cy="254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tiu-blu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84048"/>
            <a:ext cx="960120" cy="40901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12064" y="6446520"/>
            <a:ext cx="11201400" cy="15240"/>
          </a:xfrm>
          <a:prstGeom prst="rect">
            <a:avLst/>
          </a:prstGeom>
          <a:solidFill>
            <a:srgbClr val="D9D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6510528"/>
            <a:ext cx="98755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TASHKENT INTERNATIONAL UNIVERSITY • EKONOMETRIKA • BAKALAVRIAT 3-KURS • by Sarvar Komilov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44784" y="6510528"/>
            <a:ext cx="8229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Aptos"/>
              </a:rPr>
              <a:t>14 / 57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1600200"/>
            <a:ext cx="3246120" cy="2926080"/>
          </a:xfrm>
          <a:prstGeom prst="roundRect">
            <a:avLst/>
          </a:prstGeom>
          <a:solidFill>
            <a:srgbClr val="E5F6F4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27000" rtlCol="0" anchor="t"/>
          <a:lstStyle/>
          <a:p>
            <a:pPr algn="ctr"/>
            <a:r>
              <a:rPr sz="1400" b="1">
                <a:solidFill>
                  <a:srgbClr val="0F766E"/>
                </a:solidFill>
                <a:latin typeface="Aptos"/>
              </a:rPr>
              <a:t>01</a:t>
            </a:r>
          </a:p>
          <a:p>
            <a:pPr algn="ctr"/>
            <a:r>
              <a:rPr sz="2200" b="1">
                <a:solidFill>
                  <a:srgbClr val="0B1F33"/>
                </a:solidFill>
                <a:latin typeface="Aptos"/>
              </a:rPr>
              <a:t>TUSHUNTIRISH</a:t>
            </a:r>
          </a:p>
          <a:p>
            <a:pPr algn="ctr">
              <a:spcBef>
                <a:spcPts val="600"/>
              </a:spcBef>
            </a:pPr>
            <a:r>
              <a:rPr sz="2000">
                <a:solidFill>
                  <a:srgbClr val="1F2937"/>
                </a:solidFill>
                <a:latin typeface="Aptos"/>
              </a:rPr>
              <a:t>Nega ayrim uylar boshqalaridan qimmatroq?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1600200"/>
            <a:ext cx="73152" cy="292608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663440" y="1600200"/>
            <a:ext cx="3246120" cy="2926080"/>
          </a:xfrm>
          <a:prstGeom prst="roundRect">
            <a:avLst/>
          </a:prstGeom>
          <a:solidFill>
            <a:srgbClr val="F8F3E7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27000" rtlCol="0" anchor="t"/>
          <a:lstStyle/>
          <a:p>
            <a:pPr algn="ctr"/>
            <a:r>
              <a:rPr sz="1400" b="1">
                <a:solidFill>
                  <a:srgbClr val="C2A56B"/>
                </a:solidFill>
                <a:latin typeface="Aptos"/>
              </a:rPr>
              <a:t>02</a:t>
            </a:r>
          </a:p>
          <a:p>
            <a:pPr algn="ctr"/>
            <a:r>
              <a:rPr sz="2200" b="1">
                <a:solidFill>
                  <a:srgbClr val="0B1F33"/>
                </a:solidFill>
                <a:latin typeface="Aptos"/>
              </a:rPr>
              <a:t>PROGNOZLASH</a:t>
            </a:r>
          </a:p>
          <a:p>
            <a:pPr algn="ctr">
              <a:spcBef>
                <a:spcPts val="600"/>
              </a:spcBef>
            </a:pPr>
            <a:r>
              <a:rPr sz="2000">
                <a:solidFill>
                  <a:srgbClr val="1F2937"/>
                </a:solidFill>
                <a:latin typeface="Aptos"/>
              </a:rPr>
              <a:t>Kelasi chorakda sotuv qancha bo‘lishi mumkin?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1600200"/>
            <a:ext cx="73152" cy="2926080"/>
          </a:xfrm>
          <a:prstGeom prst="roundRect">
            <a:avLst/>
          </a:prstGeom>
          <a:solidFill>
            <a:srgbClr val="C2A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412480" y="1600200"/>
            <a:ext cx="3246120" cy="2926080"/>
          </a:xfrm>
          <a:prstGeom prst="roundRect">
            <a:avLst/>
          </a:prstGeom>
          <a:solidFill>
            <a:srgbClr val="E8EFF8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27000" rtlCol="0" anchor="t"/>
          <a:lstStyle/>
          <a:p>
            <a:pPr algn="ctr"/>
            <a:r>
              <a:rPr sz="1400" b="1">
                <a:solidFill>
                  <a:srgbClr val="123052"/>
                </a:solidFill>
                <a:latin typeface="Aptos"/>
              </a:rPr>
              <a:t>03</a:t>
            </a:r>
          </a:p>
          <a:p>
            <a:pPr algn="ctr"/>
            <a:r>
              <a:rPr sz="2200" b="1">
                <a:solidFill>
                  <a:srgbClr val="0B1F33"/>
                </a:solidFill>
                <a:latin typeface="Aptos"/>
              </a:rPr>
              <a:t>QAROR VA SIYOSAT TAHLILI</a:t>
            </a:r>
          </a:p>
          <a:p>
            <a:pPr algn="ctr">
              <a:spcBef>
                <a:spcPts val="600"/>
              </a:spcBef>
            </a:pPr>
            <a:r>
              <a:rPr sz="2000">
                <a:solidFill>
                  <a:srgbClr val="1F2937"/>
                </a:solidFill>
                <a:latin typeface="Aptos"/>
              </a:rPr>
              <a:t>Foiz stavkasi o‘zgartirilsa, iqtisodiy ko‘rsatkichlar qanday javob berishi mumkin?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0" y="1600200"/>
            <a:ext cx="73152" cy="2926080"/>
          </a:xfrm>
          <a:prstGeom prst="roundRect">
            <a:avLst/>
          </a:prstGeom>
          <a:solidFill>
            <a:srgbClr val="12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463040" y="5120640"/>
            <a:ext cx="9235440" cy="548640"/>
          </a:xfrm>
          <a:prstGeom prst="roundRect">
            <a:avLst/>
          </a:prstGeom>
          <a:solidFill>
            <a:srgbClr val="F8E8E8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27000" rtlCol="0" anchor="t"/>
          <a:lstStyle/>
          <a:p>
            <a:pPr algn="ctr"/>
            <a:r>
              <a:rPr sz="1900" b="1">
                <a:solidFill>
                  <a:srgbClr val="0B1F33"/>
                </a:solidFill>
                <a:latin typeface="Aptos"/>
              </a:rPr>
              <a:t>Bitta model uchala maqsad uchun ham bir xil darajada mos bo‘lavermaydi.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63040" y="5120640"/>
            <a:ext cx="73152" cy="548640"/>
          </a:xfrm>
          <a:prstGeom prst="roundRect">
            <a:avLst/>
          </a:prstGeom>
          <a:solidFill>
            <a:srgbClr val="A3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9184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Aptos"/>
              </a:rPr>
              <a:t>PROGNOZ VA TUSHUNTIRISH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76072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0B1F33"/>
                </a:solidFill>
                <a:latin typeface="Aptos Display"/>
              </a:rPr>
              <a:t>Prediction va explanation: bir xil vazifami?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097280" cy="254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tiu-blu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84048"/>
            <a:ext cx="960120" cy="40901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12064" y="6446520"/>
            <a:ext cx="11201400" cy="15240"/>
          </a:xfrm>
          <a:prstGeom prst="rect">
            <a:avLst/>
          </a:prstGeom>
          <a:solidFill>
            <a:srgbClr val="D9D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6510528"/>
            <a:ext cx="98755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TASHKENT INTERNATIONAL UNIVERSITY • EKONOMETRIKA • BAKALAVRIAT 3-KURS • by Sarvar Komilov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44784" y="6510528"/>
            <a:ext cx="8229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Aptos"/>
              </a:rPr>
              <a:t>15 / 57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600200"/>
            <a:ext cx="5120640" cy="3246120"/>
          </a:xfrm>
          <a:prstGeom prst="roundRect">
            <a:avLst/>
          </a:prstGeom>
          <a:solidFill>
            <a:srgbClr val="F8F3E7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27000" rtlCol="0" anchor="t"/>
          <a:lstStyle/>
          <a:p>
            <a:pPr algn="l"/>
            <a:r>
              <a:rPr sz="2500" b="1">
                <a:solidFill>
                  <a:srgbClr val="0B1F33"/>
                </a:solidFill>
                <a:latin typeface="Aptos"/>
              </a:rPr>
              <a:t>PROGNOZ</a:t>
            </a:r>
          </a:p>
          <a:p>
            <a:pPr algn="l">
              <a:spcBef>
                <a:spcPts val="600"/>
              </a:spcBef>
            </a:pPr>
            <a:r>
              <a:rPr sz="2200">
                <a:solidFill>
                  <a:srgbClr val="1F2937"/>
                </a:solidFill>
                <a:latin typeface="Aptos"/>
              </a:rPr>
              <a:t>“Qaysi mijoz obunani bekor qilishi mumkin?”
Maqsad: eng aniq bashorat.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600200"/>
            <a:ext cx="73152" cy="3246120"/>
          </a:xfrm>
          <a:prstGeom prst="roundRect">
            <a:avLst/>
          </a:prstGeom>
          <a:solidFill>
            <a:srgbClr val="C2A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217920" y="1600200"/>
            <a:ext cx="5120640" cy="3246120"/>
          </a:xfrm>
          <a:prstGeom prst="roundRect">
            <a:avLst/>
          </a:prstGeom>
          <a:solidFill>
            <a:srgbClr val="E5F6F4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27000" rtlCol="0" anchor="t"/>
          <a:lstStyle/>
          <a:p>
            <a:pPr algn="l"/>
            <a:r>
              <a:rPr sz="2500" b="1">
                <a:solidFill>
                  <a:srgbClr val="0B1F33"/>
                </a:solidFill>
                <a:latin typeface="Aptos"/>
              </a:rPr>
              <a:t>IQTISODIY TUSHUNTIRISH</a:t>
            </a:r>
          </a:p>
          <a:p>
            <a:pPr algn="l">
              <a:spcBef>
                <a:spcPts val="600"/>
              </a:spcBef>
            </a:pPr>
            <a:r>
              <a:rPr sz="2200">
                <a:solidFill>
                  <a:srgbClr val="1F2937"/>
                </a:solidFill>
                <a:latin typeface="Aptos"/>
              </a:rPr>
              <a:t>“Qaysi omillar obunani bekor qilish ehtimoli bilan bog‘liq?”
Maqsad: munosabatning iqtisodiy mohiyatini tushunish.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00200"/>
            <a:ext cx="73152" cy="324612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20" y="5349240"/>
            <a:ext cx="9784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300" b="1">
                <a:solidFill>
                  <a:srgbClr val="0B1F33"/>
                </a:solidFill>
                <a:latin typeface="Aptos"/>
              </a:rPr>
              <a:t>Yuqori prognoz aniqligi har doim kuchli iqtisodiy izoh degani emas.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9184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Aptos"/>
              </a:rPr>
              <a:t>METODOLOGIK OGOHLANTIRISH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76072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0B1F33"/>
                </a:solidFill>
                <a:latin typeface="Aptos Display"/>
              </a:rPr>
              <a:t>Birga o‘zgarish — sababiy ta’sir degani emas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097280" cy="254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tiu-blu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84048"/>
            <a:ext cx="960120" cy="40901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12064" y="6446520"/>
            <a:ext cx="11201400" cy="15240"/>
          </a:xfrm>
          <a:prstGeom prst="rect">
            <a:avLst/>
          </a:prstGeom>
          <a:solidFill>
            <a:srgbClr val="D9D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6510528"/>
            <a:ext cx="98755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TASHKENT INTERNATIONAL UNIVERSITY • EKONOMETRIKA • BAKALAVRIAT 3-KURS • by Sarvar Komilov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44784" y="6510528"/>
            <a:ext cx="8229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Aptos"/>
              </a:rPr>
              <a:t>16 / 57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83480" y="1417320"/>
            <a:ext cx="2286000" cy="640080"/>
          </a:xfrm>
          <a:prstGeom prst="roundRect">
            <a:avLst/>
          </a:prstGeom>
          <a:solidFill>
            <a:srgbClr val="F8F3E7"/>
          </a:solidFill>
          <a:ln w="12700">
            <a:solidFill>
              <a:srgbClr val="C2A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0B1F33"/>
                </a:solidFill>
                <a:latin typeface="Aptos"/>
              </a:rPr>
              <a:t>HARORAT 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210312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600" b="1">
                <a:solidFill>
                  <a:srgbClr val="C2A56B"/>
                </a:solidFill>
                <a:latin typeface="Aptos"/>
              </a:rPr>
              <a:t>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210312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600" b="1">
                <a:solidFill>
                  <a:srgbClr val="C2A56B"/>
                </a:solidFill>
                <a:latin typeface="Aptos"/>
              </a:rPr>
              <a:t>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20240" y="2788920"/>
            <a:ext cx="3383280" cy="868680"/>
          </a:xfrm>
          <a:prstGeom prst="roundRect">
            <a:avLst/>
          </a:prstGeom>
          <a:solidFill>
            <a:srgbClr val="E5F6F4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0B1F33"/>
                </a:solidFill>
                <a:latin typeface="Aptos"/>
              </a:rPr>
              <a:t>MUZQAYMOQ
SAVDOSI 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03720" y="2788920"/>
            <a:ext cx="3383280" cy="868680"/>
          </a:xfrm>
          <a:prstGeom prst="roundRect">
            <a:avLst/>
          </a:prstGeom>
          <a:solidFill>
            <a:srgbClr val="F8E8E8"/>
          </a:solidFill>
          <a:ln w="12700">
            <a:solidFill>
              <a:srgbClr val="A3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0B1F33"/>
                </a:solidFill>
                <a:latin typeface="Aptos"/>
              </a:rPr>
              <a:t>SUVDA CHO‘KISH
HOLATLARI 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251960"/>
            <a:ext cx="92354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200" b="1">
                <a:solidFill>
                  <a:srgbClr val="A33A3A"/>
                </a:solidFill>
                <a:latin typeface="Aptos Display"/>
              </a:rPr>
              <a:t>KORRELYATSIYA ≠ SABABIY TA’SIR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89304" y="4788550"/>
            <a:ext cx="9966960" cy="125519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27000" rtlCol="0" anchor="t"/>
          <a:lstStyle/>
          <a:p>
            <a:pPr algn="l"/>
            <a:r>
              <a:rPr sz="1900" b="1" dirty="0" err="1">
                <a:solidFill>
                  <a:srgbClr val="0B1F33"/>
                </a:solidFill>
                <a:latin typeface="Aptos"/>
              </a:rPr>
              <a:t>Uchinchi</a:t>
            </a:r>
            <a:r>
              <a:rPr sz="1900" b="1" dirty="0">
                <a:solidFill>
                  <a:srgbClr val="0B1F33"/>
                </a:solidFill>
                <a:latin typeface="Aptos"/>
              </a:rPr>
              <a:t> </a:t>
            </a:r>
            <a:r>
              <a:rPr sz="1900" b="1" dirty="0" err="1">
                <a:solidFill>
                  <a:srgbClr val="0B1F33"/>
                </a:solidFill>
                <a:latin typeface="Aptos"/>
              </a:rPr>
              <a:t>omilni</a:t>
            </a:r>
            <a:r>
              <a:rPr sz="1900" b="1" dirty="0">
                <a:solidFill>
                  <a:srgbClr val="0B1F33"/>
                </a:solidFill>
                <a:latin typeface="Aptos"/>
              </a:rPr>
              <a:t> </a:t>
            </a:r>
            <a:r>
              <a:rPr sz="1900" b="1" dirty="0" err="1">
                <a:solidFill>
                  <a:srgbClr val="0B1F33"/>
                </a:solidFill>
                <a:latin typeface="Aptos"/>
              </a:rPr>
              <a:t>hisobga</a:t>
            </a:r>
            <a:r>
              <a:rPr sz="1900" b="1" dirty="0">
                <a:solidFill>
                  <a:srgbClr val="0B1F33"/>
                </a:solidFill>
                <a:latin typeface="Aptos"/>
              </a:rPr>
              <a:t> </a:t>
            </a:r>
            <a:r>
              <a:rPr sz="1900" b="1" dirty="0" err="1">
                <a:solidFill>
                  <a:srgbClr val="0B1F33"/>
                </a:solidFill>
                <a:latin typeface="Aptos"/>
              </a:rPr>
              <a:t>olmaslik</a:t>
            </a:r>
            <a:r>
              <a:rPr sz="1900" b="1" dirty="0">
                <a:solidFill>
                  <a:srgbClr val="0B1F33"/>
                </a:solidFill>
                <a:latin typeface="Aptos"/>
              </a:rPr>
              <a:t> </a:t>
            </a:r>
            <a:r>
              <a:rPr sz="1900" b="1" dirty="0" err="1">
                <a:solidFill>
                  <a:srgbClr val="0B1F33"/>
                </a:solidFill>
                <a:latin typeface="Aptos"/>
              </a:rPr>
              <a:t>noto‘g‘ri</a:t>
            </a:r>
            <a:r>
              <a:rPr sz="1900" b="1" dirty="0">
                <a:solidFill>
                  <a:srgbClr val="0B1F33"/>
                </a:solidFill>
                <a:latin typeface="Aptos"/>
              </a:rPr>
              <a:t> </a:t>
            </a:r>
            <a:r>
              <a:rPr sz="1900" b="1" dirty="0" err="1">
                <a:solidFill>
                  <a:srgbClr val="0B1F33"/>
                </a:solidFill>
                <a:latin typeface="Aptos"/>
              </a:rPr>
              <a:t>xulosaga</a:t>
            </a:r>
            <a:r>
              <a:rPr sz="1900" b="1" dirty="0">
                <a:solidFill>
                  <a:srgbClr val="0B1F33"/>
                </a:solidFill>
                <a:latin typeface="Aptos"/>
              </a:rPr>
              <a:t> </a:t>
            </a:r>
            <a:r>
              <a:rPr sz="1900" b="1" dirty="0" err="1">
                <a:solidFill>
                  <a:srgbClr val="0B1F33"/>
                </a:solidFill>
                <a:latin typeface="Aptos"/>
              </a:rPr>
              <a:t>olib</a:t>
            </a:r>
            <a:r>
              <a:rPr sz="1900" b="1" dirty="0">
                <a:solidFill>
                  <a:srgbClr val="0B1F33"/>
                </a:solidFill>
                <a:latin typeface="Aptos"/>
              </a:rPr>
              <a:t> </a:t>
            </a:r>
            <a:r>
              <a:rPr sz="1900" b="1" dirty="0" err="1">
                <a:solidFill>
                  <a:srgbClr val="0B1F33"/>
                </a:solidFill>
                <a:latin typeface="Aptos"/>
              </a:rPr>
              <a:t>kelishi</a:t>
            </a:r>
            <a:r>
              <a:rPr sz="1900" b="1" dirty="0">
                <a:solidFill>
                  <a:srgbClr val="0B1F33"/>
                </a:solidFill>
                <a:latin typeface="Aptos"/>
              </a:rPr>
              <a:t> </a:t>
            </a:r>
            <a:r>
              <a:rPr sz="1900" b="1" dirty="0" err="1">
                <a:solidFill>
                  <a:srgbClr val="0B1F33"/>
                </a:solidFill>
                <a:latin typeface="Aptos"/>
              </a:rPr>
              <a:t>mumkin</a:t>
            </a:r>
            <a:r>
              <a:rPr sz="1900" b="1" dirty="0">
                <a:solidFill>
                  <a:srgbClr val="0B1F33"/>
                </a:solidFill>
                <a:latin typeface="Aptos"/>
              </a:rPr>
              <a:t>.</a:t>
            </a:r>
          </a:p>
          <a:p>
            <a:pPr algn="l">
              <a:spcBef>
                <a:spcPts val="600"/>
              </a:spcBef>
            </a:pPr>
            <a:r>
              <a:rPr sz="1800" dirty="0" err="1">
                <a:solidFill>
                  <a:srgbClr val="1F2937"/>
                </a:solidFill>
                <a:latin typeface="Aptos"/>
              </a:rPr>
              <a:t>Muzqaymoq</a:t>
            </a:r>
            <a:r>
              <a:rPr sz="1800" dirty="0">
                <a:solidFill>
                  <a:srgbClr val="1F2937"/>
                </a:solidFill>
                <a:latin typeface="Aptos"/>
              </a:rPr>
              <a:t> </a:t>
            </a:r>
            <a:r>
              <a:rPr sz="1800" dirty="0" err="1">
                <a:solidFill>
                  <a:srgbClr val="1F2937"/>
                </a:solidFill>
                <a:latin typeface="Aptos"/>
              </a:rPr>
              <a:t>savdosi</a:t>
            </a:r>
            <a:r>
              <a:rPr sz="1800" dirty="0">
                <a:solidFill>
                  <a:srgbClr val="1F2937"/>
                </a:solidFill>
                <a:latin typeface="Aptos"/>
              </a:rPr>
              <a:t> </a:t>
            </a:r>
            <a:r>
              <a:rPr sz="1800" dirty="0" err="1">
                <a:solidFill>
                  <a:srgbClr val="1F2937"/>
                </a:solidFill>
                <a:latin typeface="Aptos"/>
              </a:rPr>
              <a:t>va</a:t>
            </a:r>
            <a:r>
              <a:rPr sz="1800" dirty="0">
                <a:solidFill>
                  <a:srgbClr val="1F2937"/>
                </a:solidFill>
                <a:latin typeface="Aptos"/>
              </a:rPr>
              <a:t> </a:t>
            </a:r>
            <a:r>
              <a:rPr sz="1800" dirty="0" err="1">
                <a:solidFill>
                  <a:srgbClr val="1F2937"/>
                </a:solidFill>
                <a:latin typeface="Aptos"/>
              </a:rPr>
              <a:t>cho‘kish</a:t>
            </a:r>
            <a:r>
              <a:rPr sz="1800" dirty="0">
                <a:solidFill>
                  <a:srgbClr val="1F2937"/>
                </a:solidFill>
                <a:latin typeface="Aptos"/>
              </a:rPr>
              <a:t> </a:t>
            </a:r>
            <a:r>
              <a:rPr sz="1800" dirty="0" err="1">
                <a:solidFill>
                  <a:srgbClr val="1F2937"/>
                </a:solidFill>
                <a:latin typeface="Aptos"/>
              </a:rPr>
              <a:t>holatlari</a:t>
            </a:r>
            <a:r>
              <a:rPr sz="1800" dirty="0">
                <a:solidFill>
                  <a:srgbClr val="1F2937"/>
                </a:solidFill>
                <a:latin typeface="Aptos"/>
              </a:rPr>
              <a:t> </a:t>
            </a:r>
            <a:r>
              <a:rPr sz="1800" dirty="0" err="1">
                <a:solidFill>
                  <a:srgbClr val="1F2937"/>
                </a:solidFill>
                <a:latin typeface="Aptos"/>
              </a:rPr>
              <a:t>birga</a:t>
            </a:r>
            <a:r>
              <a:rPr sz="1800" dirty="0">
                <a:solidFill>
                  <a:srgbClr val="1F2937"/>
                </a:solidFill>
                <a:latin typeface="Aptos"/>
              </a:rPr>
              <a:t> </a:t>
            </a:r>
            <a:r>
              <a:rPr sz="1800" dirty="0" err="1">
                <a:solidFill>
                  <a:srgbClr val="1F2937"/>
                </a:solidFill>
                <a:latin typeface="Aptos"/>
              </a:rPr>
              <a:t>ko‘payishi</a:t>
            </a:r>
            <a:r>
              <a:rPr sz="1800" dirty="0">
                <a:solidFill>
                  <a:srgbClr val="1F2937"/>
                </a:solidFill>
                <a:latin typeface="Aptos"/>
              </a:rPr>
              <a:t> </a:t>
            </a:r>
            <a:r>
              <a:rPr sz="1800" dirty="0" err="1">
                <a:solidFill>
                  <a:srgbClr val="1F2937"/>
                </a:solidFill>
                <a:latin typeface="Aptos"/>
              </a:rPr>
              <a:t>mumkin</a:t>
            </a:r>
            <a:r>
              <a:rPr sz="1800" dirty="0">
                <a:solidFill>
                  <a:srgbClr val="1F2937"/>
                </a:solidFill>
                <a:latin typeface="Aptos"/>
              </a:rPr>
              <a:t>, </a:t>
            </a:r>
            <a:r>
              <a:rPr sz="1800" dirty="0" err="1">
                <a:solidFill>
                  <a:srgbClr val="1F2937"/>
                </a:solidFill>
                <a:latin typeface="Aptos"/>
              </a:rPr>
              <a:t>chunki</a:t>
            </a:r>
            <a:r>
              <a:rPr sz="1800" dirty="0">
                <a:solidFill>
                  <a:srgbClr val="1F2937"/>
                </a:solidFill>
                <a:latin typeface="Aptos"/>
              </a:rPr>
              <a:t> </a:t>
            </a:r>
            <a:r>
              <a:rPr sz="1800" dirty="0" err="1">
                <a:solidFill>
                  <a:srgbClr val="1F2937"/>
                </a:solidFill>
                <a:latin typeface="Aptos"/>
              </a:rPr>
              <a:t>ikkalasiga</a:t>
            </a:r>
            <a:r>
              <a:rPr sz="1800" dirty="0">
                <a:solidFill>
                  <a:srgbClr val="1F2937"/>
                </a:solidFill>
                <a:latin typeface="Aptos"/>
              </a:rPr>
              <a:t> ham </a:t>
            </a:r>
            <a:r>
              <a:rPr sz="1800" dirty="0" err="1">
                <a:solidFill>
                  <a:srgbClr val="1F2937"/>
                </a:solidFill>
                <a:latin typeface="Aptos"/>
              </a:rPr>
              <a:t>yuqori</a:t>
            </a:r>
            <a:r>
              <a:rPr sz="1800" dirty="0">
                <a:solidFill>
                  <a:srgbClr val="1F2937"/>
                </a:solidFill>
                <a:latin typeface="Aptos"/>
              </a:rPr>
              <a:t> </a:t>
            </a:r>
            <a:r>
              <a:rPr sz="1800" dirty="0" err="1">
                <a:solidFill>
                  <a:srgbClr val="1F2937"/>
                </a:solidFill>
                <a:latin typeface="Aptos"/>
              </a:rPr>
              <a:t>harorat</a:t>
            </a:r>
            <a:r>
              <a:rPr sz="1800" dirty="0">
                <a:solidFill>
                  <a:srgbClr val="1F2937"/>
                </a:solidFill>
                <a:latin typeface="Aptos"/>
              </a:rPr>
              <a:t> </a:t>
            </a:r>
            <a:r>
              <a:rPr sz="1800" dirty="0" err="1">
                <a:solidFill>
                  <a:srgbClr val="1F2937"/>
                </a:solidFill>
                <a:latin typeface="Aptos"/>
              </a:rPr>
              <a:t>ta’sir</a:t>
            </a:r>
            <a:r>
              <a:rPr sz="1800" dirty="0">
                <a:solidFill>
                  <a:srgbClr val="1F2937"/>
                </a:solidFill>
                <a:latin typeface="Aptos"/>
              </a:rPr>
              <a:t> </a:t>
            </a:r>
            <a:r>
              <a:rPr sz="1800" dirty="0" err="1">
                <a:solidFill>
                  <a:srgbClr val="1F2937"/>
                </a:solidFill>
                <a:latin typeface="Aptos"/>
              </a:rPr>
              <a:t>qiladi</a:t>
            </a:r>
            <a:r>
              <a:rPr sz="1800" dirty="0">
                <a:solidFill>
                  <a:srgbClr val="1F2937"/>
                </a:solidFill>
                <a:latin typeface="Aptos"/>
              </a:rPr>
              <a:t>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4983480"/>
            <a:ext cx="73152" cy="777240"/>
          </a:xfrm>
          <a:prstGeom prst="roundRect">
            <a:avLst/>
          </a:prstGeom>
          <a:solidFill>
            <a:srgbClr val="A3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9184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Aptos"/>
              </a:rPr>
              <a:t>YASHIRIN MUAMMO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76072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0B1F33"/>
                </a:solidFill>
                <a:latin typeface="Aptos Display"/>
              </a:rPr>
              <a:t>“Reklama ko‘p bo‘lsa, sotuv yuqori” — yetarli dalilmi?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097280" cy="254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tiu-blu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84048"/>
            <a:ext cx="960120" cy="40901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12064" y="6446520"/>
            <a:ext cx="11201400" cy="15240"/>
          </a:xfrm>
          <a:prstGeom prst="rect">
            <a:avLst/>
          </a:prstGeom>
          <a:solidFill>
            <a:srgbClr val="D9D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6510528"/>
            <a:ext cx="98755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TASHKENT INTERNATIONAL UNIVERSITY • EKONOMETRIKA • BAKALAVRIAT 3-KURS • by Sarvar Komilov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44784" y="6510528"/>
            <a:ext cx="8229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Aptos"/>
              </a:rPr>
              <a:t>17 / 57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1417320"/>
            <a:ext cx="4754880" cy="640080"/>
          </a:xfrm>
          <a:prstGeom prst="roundRect">
            <a:avLst/>
          </a:prstGeom>
          <a:solidFill>
            <a:srgbClr val="E5F6F4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000" b="0">
                <a:solidFill>
                  <a:srgbClr val="0B1F33"/>
                </a:solidFill>
                <a:latin typeface="Cambria Math"/>
              </a:rPr>
              <a:t>Reklama ↑  va  Sotuv 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3952" y="128403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1" dirty="0">
                <a:solidFill>
                  <a:srgbClr val="0B1F33"/>
                </a:solidFill>
                <a:latin typeface="Aptos"/>
              </a:rPr>
              <a:t>Lekin </a:t>
            </a:r>
            <a:r>
              <a:rPr sz="2300" b="1" dirty="0" err="1">
                <a:solidFill>
                  <a:srgbClr val="0B1F33"/>
                </a:solidFill>
                <a:latin typeface="Aptos"/>
              </a:rPr>
              <a:t>kompaniya</a:t>
            </a:r>
            <a:r>
              <a:rPr sz="2300" b="1" dirty="0">
                <a:solidFill>
                  <a:srgbClr val="0B1F33"/>
                </a:solidFill>
                <a:latin typeface="Aptos"/>
              </a:rPr>
              <a:t> </a:t>
            </a:r>
            <a:r>
              <a:rPr sz="2300" b="1" dirty="0" err="1">
                <a:solidFill>
                  <a:srgbClr val="0B1F33"/>
                </a:solidFill>
                <a:latin typeface="Aptos"/>
              </a:rPr>
              <a:t>reklama</a:t>
            </a:r>
            <a:r>
              <a:rPr sz="2300" b="1" dirty="0">
                <a:solidFill>
                  <a:srgbClr val="0B1F33"/>
                </a:solidFill>
                <a:latin typeface="Aptos"/>
              </a:rPr>
              <a:t> </a:t>
            </a:r>
            <a:r>
              <a:rPr sz="2300" b="1" dirty="0" err="1">
                <a:solidFill>
                  <a:srgbClr val="0B1F33"/>
                </a:solidFill>
                <a:latin typeface="Aptos"/>
              </a:rPr>
              <a:t>xarajatini</a:t>
            </a:r>
            <a:r>
              <a:rPr sz="2300" b="1" dirty="0">
                <a:solidFill>
                  <a:srgbClr val="0B1F33"/>
                </a:solidFill>
                <a:latin typeface="Aptos"/>
              </a:rPr>
              <a:t> </a:t>
            </a:r>
            <a:r>
              <a:rPr sz="2300" b="1" dirty="0" err="1">
                <a:solidFill>
                  <a:srgbClr val="0B1F33"/>
                </a:solidFill>
                <a:latin typeface="Aptos"/>
              </a:rPr>
              <a:t>qachon</a:t>
            </a:r>
            <a:r>
              <a:rPr sz="2300" b="1" dirty="0">
                <a:solidFill>
                  <a:srgbClr val="0B1F33"/>
                </a:solidFill>
                <a:latin typeface="Aptos"/>
              </a:rPr>
              <a:t> </a:t>
            </a:r>
            <a:r>
              <a:rPr sz="2300" b="1" dirty="0" err="1">
                <a:solidFill>
                  <a:srgbClr val="0B1F33"/>
                </a:solidFill>
                <a:latin typeface="Aptos"/>
              </a:rPr>
              <a:t>oshiradi</a:t>
            </a:r>
            <a:r>
              <a:rPr sz="2300" b="1" dirty="0">
                <a:solidFill>
                  <a:srgbClr val="0B1F33"/>
                </a:solidFill>
                <a:latin typeface="Aptos"/>
              </a:rPr>
              <a:t>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148840"/>
            <a:ext cx="429768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27000" rtlCol="0" anchor="t"/>
          <a:lstStyle/>
          <a:p>
            <a:pPr algn="l"/>
            <a:r>
              <a:rPr sz="1700" b="1">
                <a:solidFill>
                  <a:srgbClr val="0B1F33"/>
                </a:solidFill>
                <a:latin typeface="Aptos"/>
              </a:rPr>
              <a:t>bayram oldidan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148840"/>
            <a:ext cx="73152" cy="475488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400800" y="2807208"/>
            <a:ext cx="429768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27000" rtlCol="0" anchor="t"/>
          <a:lstStyle/>
          <a:p>
            <a:pPr algn="l"/>
            <a:r>
              <a:rPr sz="1700" b="1">
                <a:solidFill>
                  <a:srgbClr val="0B1F33"/>
                </a:solidFill>
                <a:latin typeface="Aptos"/>
              </a:rPr>
              <a:t>talab yuqori bo‘lishi kutilganda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807208"/>
            <a:ext cx="73152" cy="475488"/>
          </a:xfrm>
          <a:prstGeom prst="roundRect">
            <a:avLst/>
          </a:prstGeom>
          <a:solidFill>
            <a:srgbClr val="C2A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400800" y="3465576"/>
            <a:ext cx="429768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27000" rtlCol="0" anchor="t"/>
          <a:lstStyle/>
          <a:p>
            <a:pPr algn="l"/>
            <a:r>
              <a:rPr sz="1700" b="1">
                <a:solidFill>
                  <a:srgbClr val="0B1F33"/>
                </a:solidFill>
                <a:latin typeface="Aptos"/>
              </a:rPr>
              <a:t>yangi mahsulot chiqarilganda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3465576"/>
            <a:ext cx="73152" cy="475488"/>
          </a:xfrm>
          <a:prstGeom prst="roundRect">
            <a:avLst/>
          </a:prstGeom>
          <a:solidFill>
            <a:srgbClr val="12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400800" y="4123944"/>
            <a:ext cx="429768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27000" rtlCol="0" anchor="t"/>
          <a:lstStyle/>
          <a:p>
            <a:pPr algn="l"/>
            <a:r>
              <a:rPr sz="1700" b="1">
                <a:solidFill>
                  <a:srgbClr val="0B1F33"/>
                </a:solidFill>
                <a:latin typeface="Aptos"/>
              </a:rPr>
              <a:t>katta aksiyalar vaqtida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4123944"/>
            <a:ext cx="73152" cy="475488"/>
          </a:xfrm>
          <a:prstGeom prst="roundRect">
            <a:avLst/>
          </a:prstGeom>
          <a:solidFill>
            <a:srgbClr val="A3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106424" y="4914900"/>
            <a:ext cx="10149840" cy="868680"/>
          </a:xfrm>
          <a:prstGeom prst="roundRect">
            <a:avLst/>
          </a:prstGeom>
          <a:solidFill>
            <a:srgbClr val="F8E8E8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27000" rtlCol="0" anchor="t"/>
          <a:lstStyle/>
          <a:p>
            <a:pPr algn="ctr"/>
            <a:r>
              <a:rPr sz="2200" b="1">
                <a:solidFill>
                  <a:srgbClr val="0B1F33"/>
                </a:solidFill>
                <a:latin typeface="Aptos"/>
              </a:rPr>
              <a:t>Oddiy korrelyatsiya reklamaning sof sababiy ta’sirini avtomatik ko‘rsatmaydi.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5736" y="4914900"/>
            <a:ext cx="73152" cy="868680"/>
          </a:xfrm>
          <a:prstGeom prst="roundRect">
            <a:avLst/>
          </a:prstGeom>
          <a:solidFill>
            <a:srgbClr val="A3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9184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Aptos"/>
              </a:rPr>
              <a:t>MODEL ELEMENTLARI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76072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0B1F33"/>
                </a:solidFill>
                <a:latin typeface="Aptos Display"/>
              </a:rPr>
              <a:t>Bog‘liq o‘zgaruvchi: nimani tushuntirmoqchimiz?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097280" cy="254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tiu-blu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84048"/>
            <a:ext cx="960120" cy="40901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12064" y="6446520"/>
            <a:ext cx="11201400" cy="15240"/>
          </a:xfrm>
          <a:prstGeom prst="rect">
            <a:avLst/>
          </a:prstGeom>
          <a:solidFill>
            <a:srgbClr val="D9D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6510528"/>
            <a:ext cx="98755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TASHKENT INTERNATIONAL UNIVERSITY • EKONOMETRIKA • BAKALAVRIAT 3-KURS • by Sarvar Komilov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44784" y="6510528"/>
            <a:ext cx="8229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Aptos"/>
              </a:rPr>
              <a:t>18 / 57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1341699"/>
            <a:ext cx="10570464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27000" rtlCol="0" anchor="t"/>
          <a:lstStyle/>
          <a:p>
            <a:pPr algn="l"/>
            <a:r>
              <a:rPr sz="2200" b="1" dirty="0" err="1">
                <a:solidFill>
                  <a:srgbClr val="0B1F33"/>
                </a:solidFill>
                <a:latin typeface="Aptos"/>
              </a:rPr>
              <a:t>Ta’rif</a:t>
            </a:r>
            <a:endParaRPr sz="2200" b="1" dirty="0">
              <a:solidFill>
                <a:srgbClr val="0B1F33"/>
              </a:solidFill>
              <a:latin typeface="Aptos"/>
            </a:endParaRPr>
          </a:p>
          <a:p>
            <a:pPr algn="l">
              <a:spcBef>
                <a:spcPts val="600"/>
              </a:spcBef>
            </a:pPr>
            <a:r>
              <a:rPr sz="2100" dirty="0" err="1">
                <a:solidFill>
                  <a:srgbClr val="1F2937"/>
                </a:solidFill>
                <a:latin typeface="Aptos"/>
              </a:rPr>
              <a:t>Bog‘liq</a:t>
            </a:r>
            <a:r>
              <a:rPr sz="2100" dirty="0">
                <a:solidFill>
                  <a:srgbClr val="1F2937"/>
                </a:solidFill>
                <a:latin typeface="Aptos"/>
              </a:rPr>
              <a:t> </a:t>
            </a:r>
            <a:r>
              <a:rPr sz="2100" dirty="0" err="1">
                <a:solidFill>
                  <a:srgbClr val="1F2937"/>
                </a:solidFill>
                <a:latin typeface="Aptos"/>
              </a:rPr>
              <a:t>o‘zgaruvchi</a:t>
            </a:r>
            <a:r>
              <a:rPr sz="2100" dirty="0">
                <a:solidFill>
                  <a:srgbClr val="1F2937"/>
                </a:solidFill>
                <a:latin typeface="Aptos"/>
              </a:rPr>
              <a:t> (dependent variable) — model </a:t>
            </a:r>
            <a:r>
              <a:rPr sz="2100" dirty="0" err="1">
                <a:solidFill>
                  <a:srgbClr val="1F2937"/>
                </a:solidFill>
                <a:latin typeface="Aptos"/>
              </a:rPr>
              <a:t>orqali</a:t>
            </a:r>
            <a:r>
              <a:rPr sz="2100" dirty="0">
                <a:solidFill>
                  <a:srgbClr val="1F2937"/>
                </a:solidFill>
                <a:latin typeface="Aptos"/>
              </a:rPr>
              <a:t> </a:t>
            </a:r>
            <a:r>
              <a:rPr sz="2100" dirty="0" err="1">
                <a:solidFill>
                  <a:srgbClr val="1F2937"/>
                </a:solidFill>
                <a:latin typeface="Aptos"/>
              </a:rPr>
              <a:t>tushuntirilayotgan</a:t>
            </a:r>
            <a:r>
              <a:rPr sz="2100" dirty="0">
                <a:solidFill>
                  <a:srgbClr val="1F2937"/>
                </a:solidFill>
                <a:latin typeface="Aptos"/>
              </a:rPr>
              <a:t> </a:t>
            </a:r>
            <a:r>
              <a:rPr sz="2100" dirty="0" err="1">
                <a:solidFill>
                  <a:srgbClr val="1F2937"/>
                </a:solidFill>
                <a:latin typeface="Aptos"/>
              </a:rPr>
              <a:t>yoki</a:t>
            </a:r>
            <a:r>
              <a:rPr sz="2100" dirty="0">
                <a:solidFill>
                  <a:srgbClr val="1F2937"/>
                </a:solidFill>
                <a:latin typeface="Aptos"/>
              </a:rPr>
              <a:t> </a:t>
            </a:r>
            <a:r>
              <a:rPr sz="2100" dirty="0" err="1">
                <a:solidFill>
                  <a:srgbClr val="1F2937"/>
                </a:solidFill>
                <a:latin typeface="Aptos"/>
              </a:rPr>
              <a:t>prognoz</a:t>
            </a:r>
            <a:r>
              <a:rPr sz="2100" dirty="0">
                <a:solidFill>
                  <a:srgbClr val="1F2937"/>
                </a:solidFill>
                <a:latin typeface="Aptos"/>
              </a:rPr>
              <a:t> </a:t>
            </a:r>
            <a:r>
              <a:rPr sz="2100" dirty="0" err="1">
                <a:solidFill>
                  <a:srgbClr val="1F2937"/>
                </a:solidFill>
                <a:latin typeface="Aptos"/>
              </a:rPr>
              <a:t>qilinayotgan</a:t>
            </a:r>
            <a:r>
              <a:rPr sz="2100" dirty="0">
                <a:solidFill>
                  <a:srgbClr val="1F2937"/>
                </a:solidFill>
                <a:latin typeface="Aptos"/>
              </a:rPr>
              <a:t> </a:t>
            </a:r>
            <a:r>
              <a:rPr sz="2100" dirty="0" err="1">
                <a:solidFill>
                  <a:srgbClr val="1F2937"/>
                </a:solidFill>
                <a:latin typeface="Aptos"/>
              </a:rPr>
              <a:t>natijaviy</a:t>
            </a:r>
            <a:r>
              <a:rPr sz="2100" dirty="0">
                <a:solidFill>
                  <a:srgbClr val="1F2937"/>
                </a:solidFill>
                <a:latin typeface="Aptos"/>
              </a:rPr>
              <a:t> </a:t>
            </a:r>
            <a:r>
              <a:rPr sz="2100" dirty="0" err="1">
                <a:solidFill>
                  <a:srgbClr val="1F2937"/>
                </a:solidFill>
                <a:latin typeface="Aptos"/>
              </a:rPr>
              <a:t>ko‘rsatkich</a:t>
            </a:r>
            <a:r>
              <a:rPr sz="2100" dirty="0">
                <a:solidFill>
                  <a:srgbClr val="1F2937"/>
                </a:solidFill>
                <a:latin typeface="Aptos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7824" y="1508760"/>
            <a:ext cx="73152" cy="105156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14400" y="3063240"/>
            <a:ext cx="1874519" cy="530352"/>
          </a:xfrm>
          <a:prstGeom prst="roundRect">
            <a:avLst/>
          </a:prstGeom>
          <a:solidFill>
            <a:srgbClr val="E5F6F4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0B1F33"/>
                </a:solidFill>
                <a:latin typeface="Aptos"/>
              </a:rPr>
              <a:t>Y = ish haqi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54680" y="3063240"/>
            <a:ext cx="1874519" cy="530352"/>
          </a:xfrm>
          <a:prstGeom prst="roundRect">
            <a:avLst/>
          </a:prstGeom>
          <a:solidFill>
            <a:srgbClr val="F8F3E7"/>
          </a:solidFill>
          <a:ln w="12700">
            <a:solidFill>
              <a:srgbClr val="C2A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0B1F33"/>
                </a:solidFill>
                <a:latin typeface="Aptos"/>
              </a:rPr>
              <a:t>Y = uy narxi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94960" y="3063240"/>
            <a:ext cx="1874519" cy="530352"/>
          </a:xfrm>
          <a:prstGeom prst="roundRect">
            <a:avLst/>
          </a:prstGeom>
          <a:solidFill>
            <a:srgbClr val="E8EFF8"/>
          </a:solidFill>
          <a:ln w="12700">
            <a:solidFill>
              <a:srgbClr val="12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0B1F33"/>
                </a:solidFill>
                <a:latin typeface="Aptos"/>
              </a:rPr>
              <a:t>Y = inflyatsiya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3063240"/>
            <a:ext cx="1874519" cy="530352"/>
          </a:xfrm>
          <a:prstGeom prst="roundRect">
            <a:avLst/>
          </a:prstGeom>
          <a:solidFill>
            <a:srgbClr val="E5F6F4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0B1F33"/>
                </a:solidFill>
                <a:latin typeface="Aptos"/>
              </a:rPr>
              <a:t>Y = sotuv hajmi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75520" y="3063240"/>
            <a:ext cx="1874519" cy="530352"/>
          </a:xfrm>
          <a:prstGeom prst="roundRect">
            <a:avLst/>
          </a:prstGeom>
          <a:solidFill>
            <a:srgbClr val="F8F3E7"/>
          </a:solidFill>
          <a:ln w="12700">
            <a:solidFill>
              <a:srgbClr val="C2A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0B1F33"/>
                </a:solidFill>
                <a:latin typeface="Aptos"/>
              </a:rPr>
              <a:t>Y = bandlik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938528" y="4598995"/>
            <a:ext cx="8503920" cy="921075"/>
          </a:xfrm>
          <a:prstGeom prst="roundRect">
            <a:avLst/>
          </a:prstGeom>
          <a:solidFill>
            <a:srgbClr val="F8F3E7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27000" rtlCol="0" anchor="t"/>
          <a:lstStyle/>
          <a:p>
            <a:pPr algn="ctr"/>
            <a:r>
              <a:rPr sz="2200" b="1" dirty="0" err="1">
                <a:solidFill>
                  <a:srgbClr val="0B1F33"/>
                </a:solidFill>
                <a:latin typeface="Aptos"/>
              </a:rPr>
              <a:t>Tadqiqot</a:t>
            </a:r>
            <a:r>
              <a:rPr sz="2200" b="1" dirty="0">
                <a:solidFill>
                  <a:srgbClr val="0B1F33"/>
                </a:solidFill>
                <a:latin typeface="Aptos"/>
              </a:rPr>
              <a:t> </a:t>
            </a:r>
            <a:r>
              <a:rPr sz="2200" b="1" dirty="0" err="1">
                <a:solidFill>
                  <a:srgbClr val="0B1F33"/>
                </a:solidFill>
                <a:latin typeface="Aptos"/>
              </a:rPr>
              <a:t>savolingizdagi</a:t>
            </a:r>
            <a:r>
              <a:rPr sz="2200" b="1" dirty="0">
                <a:solidFill>
                  <a:srgbClr val="0B1F33"/>
                </a:solidFill>
                <a:latin typeface="Aptos"/>
              </a:rPr>
              <a:t> </a:t>
            </a:r>
            <a:r>
              <a:rPr sz="2200" b="1" dirty="0" err="1">
                <a:solidFill>
                  <a:srgbClr val="0B1F33"/>
                </a:solidFill>
                <a:latin typeface="Aptos"/>
              </a:rPr>
              <a:t>asosiy</a:t>
            </a:r>
            <a:r>
              <a:rPr sz="2200" b="1" dirty="0">
                <a:solidFill>
                  <a:srgbClr val="0B1F33"/>
                </a:solidFill>
                <a:latin typeface="Aptos"/>
              </a:rPr>
              <a:t> “</a:t>
            </a:r>
            <a:r>
              <a:rPr sz="2200" b="1" dirty="0" err="1">
                <a:solidFill>
                  <a:srgbClr val="0B1F33"/>
                </a:solidFill>
                <a:latin typeface="Aptos"/>
              </a:rPr>
              <a:t>natija</a:t>
            </a:r>
            <a:r>
              <a:rPr sz="2200" b="1" dirty="0">
                <a:solidFill>
                  <a:srgbClr val="0B1F33"/>
                </a:solidFill>
                <a:latin typeface="Aptos"/>
              </a:rPr>
              <a:t>” </a:t>
            </a:r>
            <a:r>
              <a:rPr sz="2200" b="1" dirty="0" err="1">
                <a:solidFill>
                  <a:srgbClr val="0B1F33"/>
                </a:solidFill>
                <a:latin typeface="Aptos"/>
              </a:rPr>
              <a:t>nima</a:t>
            </a:r>
            <a:r>
              <a:rPr sz="2200" b="1" dirty="0">
                <a:solidFill>
                  <a:srgbClr val="0B1F33"/>
                </a:solidFill>
                <a:latin typeface="Aptos"/>
              </a:rPr>
              <a:t>? </a:t>
            </a:r>
            <a:r>
              <a:rPr sz="2200" b="1" dirty="0" err="1">
                <a:solidFill>
                  <a:srgbClr val="0B1F33"/>
                </a:solidFill>
                <a:latin typeface="Aptos"/>
              </a:rPr>
              <a:t>Odatda</a:t>
            </a:r>
            <a:r>
              <a:rPr sz="2200" b="1" dirty="0">
                <a:solidFill>
                  <a:srgbClr val="0B1F33"/>
                </a:solidFill>
                <a:latin typeface="Aptos"/>
              </a:rPr>
              <a:t> </a:t>
            </a:r>
            <a:r>
              <a:rPr sz="2200" b="1" dirty="0" err="1">
                <a:solidFill>
                  <a:srgbClr val="0B1F33"/>
                </a:solidFill>
                <a:latin typeface="Aptos"/>
              </a:rPr>
              <a:t>shu</a:t>
            </a:r>
            <a:r>
              <a:rPr sz="2200" b="1" dirty="0">
                <a:solidFill>
                  <a:srgbClr val="0B1F33"/>
                </a:solidFill>
                <a:latin typeface="Aptos"/>
              </a:rPr>
              <a:t> </a:t>
            </a:r>
            <a:r>
              <a:rPr sz="2200" b="1" dirty="0" err="1">
                <a:solidFill>
                  <a:srgbClr val="0B1F33"/>
                </a:solidFill>
                <a:latin typeface="Aptos"/>
              </a:rPr>
              <a:t>ko‘rsatkich</a:t>
            </a:r>
            <a:r>
              <a:rPr sz="2200" b="1" dirty="0">
                <a:solidFill>
                  <a:srgbClr val="0B1F33"/>
                </a:solidFill>
                <a:latin typeface="Aptos"/>
              </a:rPr>
              <a:t> Y </a:t>
            </a:r>
            <a:r>
              <a:rPr sz="2200" b="1" dirty="0" err="1">
                <a:solidFill>
                  <a:srgbClr val="0B1F33"/>
                </a:solidFill>
                <a:latin typeface="Aptos"/>
              </a:rPr>
              <a:t>bo‘ladi</a:t>
            </a:r>
            <a:r>
              <a:rPr sz="2200" b="1" dirty="0">
                <a:solidFill>
                  <a:srgbClr val="0B1F33"/>
                </a:solidFill>
                <a:latin typeface="Aptos"/>
              </a:rPr>
              <a:t>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28800" y="4663440"/>
            <a:ext cx="73152" cy="777240"/>
          </a:xfrm>
          <a:prstGeom prst="roundRect">
            <a:avLst/>
          </a:prstGeom>
          <a:solidFill>
            <a:srgbClr val="C2A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9184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Aptos"/>
              </a:rPr>
              <a:t>MODEL ELEMENTLARI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76072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0B1F33"/>
                </a:solidFill>
                <a:latin typeface="Aptos Display"/>
              </a:rPr>
              <a:t>Tushuntiruvchi o‘zgaruvchi: Y nimaga bog‘liq?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097280" cy="254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tiu-blu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84048"/>
            <a:ext cx="960120" cy="40901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12064" y="6446520"/>
            <a:ext cx="11201400" cy="15240"/>
          </a:xfrm>
          <a:prstGeom prst="rect">
            <a:avLst/>
          </a:prstGeom>
          <a:solidFill>
            <a:srgbClr val="D9D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6510528"/>
            <a:ext cx="98755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TASHKENT INTERNATIONAL UNIVERSITY • EKONOMETRIKA • BAKALAVRIAT 3-KURS • by Sarvar Komilov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44784" y="6510528"/>
            <a:ext cx="8229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Aptos"/>
              </a:rPr>
              <a:t>19 / 57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417320"/>
            <a:ext cx="105156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800" b="0">
                <a:solidFill>
                  <a:srgbClr val="0B1F33"/>
                </a:solidFill>
                <a:latin typeface="Cambria Math"/>
              </a:rPr>
              <a:t>IshHaqiᵢ = β₀ + β₁Ta’limᵢ + β₂Tajribaᵢ + uᵢ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88720" y="2743200"/>
            <a:ext cx="2971800" cy="1417320"/>
          </a:xfrm>
          <a:prstGeom prst="roundRect">
            <a:avLst/>
          </a:prstGeom>
          <a:solidFill>
            <a:srgbClr val="E5F6F4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27000" rtlCol="0" anchor="t"/>
          <a:lstStyle/>
          <a:p>
            <a:pPr algn="ctr"/>
            <a:r>
              <a:rPr sz="2400" b="1">
                <a:solidFill>
                  <a:srgbClr val="0B1F33"/>
                </a:solidFill>
                <a:latin typeface="Aptos"/>
              </a:rPr>
              <a:t>IshHaqi</a:t>
            </a:r>
          </a:p>
          <a:p>
            <a:pPr algn="ctr">
              <a:spcBef>
                <a:spcPts val="600"/>
              </a:spcBef>
            </a:pPr>
            <a:r>
              <a:rPr sz="1900">
                <a:solidFill>
                  <a:srgbClr val="1F2937"/>
                </a:solidFill>
                <a:latin typeface="Aptos"/>
              </a:rPr>
              <a:t>bog‘liq o‘zgaruvchi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88720" y="2743200"/>
            <a:ext cx="73152" cy="141732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617720" y="2743200"/>
            <a:ext cx="2971800" cy="1417320"/>
          </a:xfrm>
          <a:prstGeom prst="roundRect">
            <a:avLst/>
          </a:prstGeom>
          <a:solidFill>
            <a:srgbClr val="F8F3E7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27000" rtlCol="0" anchor="t"/>
          <a:lstStyle/>
          <a:p>
            <a:pPr algn="ctr"/>
            <a:r>
              <a:rPr sz="2400" b="1">
                <a:solidFill>
                  <a:srgbClr val="0B1F33"/>
                </a:solidFill>
                <a:latin typeface="Aptos"/>
              </a:rPr>
              <a:t>Ta’lim</a:t>
            </a:r>
          </a:p>
          <a:p>
            <a:pPr algn="ctr">
              <a:spcBef>
                <a:spcPts val="600"/>
              </a:spcBef>
            </a:pPr>
            <a:r>
              <a:rPr sz="1900">
                <a:solidFill>
                  <a:srgbClr val="1F2937"/>
                </a:solidFill>
                <a:latin typeface="Aptos"/>
              </a:rPr>
              <a:t>tushuntiruvchi o‘zgaruvchi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17720" y="2743200"/>
            <a:ext cx="73152" cy="1417320"/>
          </a:xfrm>
          <a:prstGeom prst="roundRect">
            <a:avLst/>
          </a:prstGeom>
          <a:solidFill>
            <a:srgbClr val="C2A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046720" y="2743200"/>
            <a:ext cx="2971800" cy="1417320"/>
          </a:xfrm>
          <a:prstGeom prst="roundRect">
            <a:avLst/>
          </a:prstGeom>
          <a:solidFill>
            <a:srgbClr val="E8EFF8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27000" rtlCol="0" anchor="t"/>
          <a:lstStyle/>
          <a:p>
            <a:pPr algn="ctr"/>
            <a:r>
              <a:rPr sz="2400" b="1">
                <a:solidFill>
                  <a:srgbClr val="0B1F33"/>
                </a:solidFill>
                <a:latin typeface="Aptos"/>
              </a:rPr>
              <a:t>Tajriba</a:t>
            </a:r>
          </a:p>
          <a:p>
            <a:pPr algn="ctr">
              <a:spcBef>
                <a:spcPts val="600"/>
              </a:spcBef>
            </a:pPr>
            <a:r>
              <a:rPr sz="1900">
                <a:solidFill>
                  <a:srgbClr val="1F2937"/>
                </a:solidFill>
                <a:latin typeface="Aptos"/>
              </a:rPr>
              <a:t>tushuntiruvchi o‘zgaruvchi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743200"/>
            <a:ext cx="73152" cy="1417320"/>
          </a:xfrm>
          <a:prstGeom prst="roundRect">
            <a:avLst/>
          </a:prstGeom>
          <a:solidFill>
            <a:srgbClr val="12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88720" y="5074920"/>
            <a:ext cx="9784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300" b="1">
                <a:solidFill>
                  <a:srgbClr val="0B1F33"/>
                </a:solidFill>
                <a:latin typeface="Aptos"/>
              </a:rPr>
              <a:t>Tushuntiruvchi o‘zgaruvchilar Y dagi farqlarni iqtisodiy jihatdan izohlashga yordam beradi.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9184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Aptos"/>
              </a:rPr>
              <a:t>MODEL ELEMENTLARI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76072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0B1F33"/>
                </a:solidFill>
                <a:latin typeface="Aptos Display"/>
              </a:rPr>
              <a:t>Nega modelga nazorat o‘zgaruvchilari kiritiladi?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097280" cy="254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tiu-blu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84048"/>
            <a:ext cx="960120" cy="40901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12064" y="6446520"/>
            <a:ext cx="11201400" cy="15240"/>
          </a:xfrm>
          <a:prstGeom prst="rect">
            <a:avLst/>
          </a:prstGeom>
          <a:solidFill>
            <a:srgbClr val="D9D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6510528"/>
            <a:ext cx="98755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TASHKENT INTERNATIONAL UNIVERSITY • EKONOMETRIKA • BAKALAVRIAT 3-KURS • by Sarvar Komilov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44784" y="6510528"/>
            <a:ext cx="8229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Aptos"/>
              </a:rPr>
              <a:t>20 / 57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325880"/>
            <a:ext cx="10332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0B1F33"/>
                </a:solidFill>
                <a:latin typeface="Aptos"/>
              </a:rPr>
              <a:t>Tadqiqot savoli: Ta’lim va ish haqi o‘rtasidagi munosabat qanday?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965960"/>
            <a:ext cx="5166360" cy="731520"/>
          </a:xfrm>
          <a:prstGeom prst="roundRect">
            <a:avLst/>
          </a:prstGeom>
          <a:solidFill>
            <a:srgbClr val="F8E8E8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500" b="0">
                <a:solidFill>
                  <a:srgbClr val="A33A3A"/>
                </a:solidFill>
                <a:latin typeface="Cambria Math"/>
              </a:rPr>
              <a:t>IshHaqiᵢ = β₀ + β₁Ta’limᵢ + uᵢ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965960"/>
            <a:ext cx="5166360" cy="731520"/>
          </a:xfrm>
          <a:prstGeom prst="roundRect">
            <a:avLst/>
          </a:prstGeom>
          <a:solidFill>
            <a:srgbClr val="E5F6F4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300" b="0">
                <a:solidFill>
                  <a:srgbClr val="0F766E"/>
                </a:solidFill>
                <a:latin typeface="Cambria Math"/>
              </a:rPr>
              <a:t>IshHaqiᵢ = β₀ + β₁Ta’limᵢ + β₂Tajribaᵢ + uᵢ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1560" y="3106420"/>
            <a:ext cx="10469880" cy="12872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27000" rtlCol="0" anchor="t"/>
          <a:lstStyle/>
          <a:p>
            <a:pPr algn="l"/>
            <a:r>
              <a:rPr sz="2000" b="1" dirty="0" err="1">
                <a:solidFill>
                  <a:srgbClr val="0B1F33"/>
                </a:solidFill>
                <a:latin typeface="Aptos"/>
              </a:rPr>
              <a:t>Ta’rif</a:t>
            </a:r>
            <a:endParaRPr sz="2000" b="1" dirty="0">
              <a:solidFill>
                <a:srgbClr val="0B1F33"/>
              </a:solidFill>
              <a:latin typeface="Aptos"/>
            </a:endParaRPr>
          </a:p>
          <a:p>
            <a:pPr algn="l">
              <a:spcBef>
                <a:spcPts val="600"/>
              </a:spcBef>
            </a:pPr>
            <a:r>
              <a:rPr sz="2000" dirty="0" err="1">
                <a:solidFill>
                  <a:srgbClr val="1F2937"/>
                </a:solidFill>
                <a:latin typeface="Aptos"/>
              </a:rPr>
              <a:t>Nazorat</a:t>
            </a:r>
            <a:r>
              <a:rPr sz="2000" dirty="0">
                <a:solidFill>
                  <a:srgbClr val="1F2937"/>
                </a:solidFill>
                <a:latin typeface="Aptos"/>
              </a:rPr>
              <a:t> </a:t>
            </a:r>
            <a:r>
              <a:rPr sz="2000" dirty="0" err="1">
                <a:solidFill>
                  <a:srgbClr val="1F2937"/>
                </a:solidFill>
                <a:latin typeface="Aptos"/>
              </a:rPr>
              <a:t>o‘zgaruvchisi</a:t>
            </a:r>
            <a:r>
              <a:rPr sz="2000" dirty="0">
                <a:solidFill>
                  <a:srgbClr val="1F2937"/>
                </a:solidFill>
                <a:latin typeface="Aptos"/>
              </a:rPr>
              <a:t> — </a:t>
            </a:r>
            <a:r>
              <a:rPr sz="2000" dirty="0" err="1">
                <a:solidFill>
                  <a:srgbClr val="1F2937"/>
                </a:solidFill>
                <a:latin typeface="Aptos"/>
              </a:rPr>
              <a:t>asosiy</a:t>
            </a:r>
            <a:r>
              <a:rPr sz="2000" dirty="0">
                <a:solidFill>
                  <a:srgbClr val="1F2937"/>
                </a:solidFill>
                <a:latin typeface="Aptos"/>
              </a:rPr>
              <a:t> X </a:t>
            </a:r>
            <a:r>
              <a:rPr sz="2000" dirty="0" err="1">
                <a:solidFill>
                  <a:srgbClr val="1F2937"/>
                </a:solidFill>
                <a:latin typeface="Aptos"/>
              </a:rPr>
              <a:t>va</a:t>
            </a:r>
            <a:r>
              <a:rPr sz="2000" dirty="0">
                <a:solidFill>
                  <a:srgbClr val="1F2937"/>
                </a:solidFill>
                <a:latin typeface="Aptos"/>
              </a:rPr>
              <a:t> Y </a:t>
            </a:r>
            <a:r>
              <a:rPr sz="2000" dirty="0" err="1">
                <a:solidFill>
                  <a:srgbClr val="1F2937"/>
                </a:solidFill>
                <a:latin typeface="Aptos"/>
              </a:rPr>
              <a:t>o‘rtasidagi</a:t>
            </a:r>
            <a:r>
              <a:rPr sz="2000" dirty="0">
                <a:solidFill>
                  <a:srgbClr val="1F2937"/>
                </a:solidFill>
                <a:latin typeface="Aptos"/>
              </a:rPr>
              <a:t> </a:t>
            </a:r>
            <a:r>
              <a:rPr sz="2000" dirty="0" err="1">
                <a:solidFill>
                  <a:srgbClr val="1F2937"/>
                </a:solidFill>
                <a:latin typeface="Aptos"/>
              </a:rPr>
              <a:t>munosabatni</a:t>
            </a:r>
            <a:r>
              <a:rPr sz="2000" dirty="0">
                <a:solidFill>
                  <a:srgbClr val="1F2937"/>
                </a:solidFill>
                <a:latin typeface="Aptos"/>
              </a:rPr>
              <a:t> </a:t>
            </a:r>
            <a:r>
              <a:rPr sz="2000" dirty="0" err="1">
                <a:solidFill>
                  <a:srgbClr val="1F2937"/>
                </a:solidFill>
                <a:latin typeface="Aptos"/>
              </a:rPr>
              <a:t>aniqroq</a:t>
            </a:r>
            <a:r>
              <a:rPr sz="2000" dirty="0">
                <a:solidFill>
                  <a:srgbClr val="1F2937"/>
                </a:solidFill>
                <a:latin typeface="Aptos"/>
              </a:rPr>
              <a:t> </a:t>
            </a:r>
            <a:r>
              <a:rPr sz="2000" dirty="0" err="1">
                <a:solidFill>
                  <a:srgbClr val="1F2937"/>
                </a:solidFill>
                <a:latin typeface="Aptos"/>
              </a:rPr>
              <a:t>tahlil</a:t>
            </a:r>
            <a:r>
              <a:rPr sz="2000" dirty="0">
                <a:solidFill>
                  <a:srgbClr val="1F2937"/>
                </a:solidFill>
                <a:latin typeface="Aptos"/>
              </a:rPr>
              <a:t> </a:t>
            </a:r>
            <a:r>
              <a:rPr sz="2000" dirty="0" err="1">
                <a:solidFill>
                  <a:srgbClr val="1F2937"/>
                </a:solidFill>
                <a:latin typeface="Aptos"/>
              </a:rPr>
              <a:t>qilish</a:t>
            </a:r>
            <a:r>
              <a:rPr sz="2000" dirty="0">
                <a:solidFill>
                  <a:srgbClr val="1F2937"/>
                </a:solidFill>
                <a:latin typeface="Aptos"/>
              </a:rPr>
              <a:t> </a:t>
            </a:r>
            <a:r>
              <a:rPr sz="2000" dirty="0" err="1">
                <a:solidFill>
                  <a:srgbClr val="1F2937"/>
                </a:solidFill>
                <a:latin typeface="Aptos"/>
              </a:rPr>
              <a:t>uchun</a:t>
            </a:r>
            <a:r>
              <a:rPr sz="2000" dirty="0">
                <a:solidFill>
                  <a:srgbClr val="1F2937"/>
                </a:solidFill>
                <a:latin typeface="Aptos"/>
              </a:rPr>
              <a:t> </a:t>
            </a:r>
            <a:r>
              <a:rPr sz="2000" dirty="0" err="1">
                <a:solidFill>
                  <a:srgbClr val="1F2937"/>
                </a:solidFill>
                <a:latin typeface="Aptos"/>
              </a:rPr>
              <a:t>modelga</a:t>
            </a:r>
            <a:r>
              <a:rPr sz="2000" dirty="0">
                <a:solidFill>
                  <a:srgbClr val="1F2937"/>
                </a:solidFill>
                <a:latin typeface="Aptos"/>
              </a:rPr>
              <a:t> </a:t>
            </a:r>
            <a:r>
              <a:rPr sz="2000" dirty="0" err="1">
                <a:solidFill>
                  <a:srgbClr val="1F2937"/>
                </a:solidFill>
                <a:latin typeface="Aptos"/>
              </a:rPr>
              <a:t>kiritiladigan</a:t>
            </a:r>
            <a:r>
              <a:rPr sz="2000" dirty="0">
                <a:solidFill>
                  <a:srgbClr val="1F2937"/>
                </a:solidFill>
                <a:latin typeface="Aptos"/>
              </a:rPr>
              <a:t> </a:t>
            </a:r>
            <a:r>
              <a:rPr sz="2000" dirty="0" err="1">
                <a:solidFill>
                  <a:srgbClr val="1F2937"/>
                </a:solidFill>
                <a:latin typeface="Aptos"/>
              </a:rPr>
              <a:t>qo‘shimcha</a:t>
            </a:r>
            <a:r>
              <a:rPr sz="2000" dirty="0">
                <a:solidFill>
                  <a:srgbClr val="1F2937"/>
                </a:solidFill>
                <a:latin typeface="Aptos"/>
              </a:rPr>
              <a:t> </a:t>
            </a:r>
            <a:r>
              <a:rPr sz="2000" dirty="0" err="1">
                <a:solidFill>
                  <a:srgbClr val="1F2937"/>
                </a:solidFill>
                <a:latin typeface="Aptos"/>
              </a:rPr>
              <a:t>omil</a:t>
            </a:r>
            <a:r>
              <a:rPr sz="2000" dirty="0">
                <a:solidFill>
                  <a:srgbClr val="1F2937"/>
                </a:solidFill>
                <a:latin typeface="Aptos"/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154680"/>
            <a:ext cx="73152" cy="1097280"/>
          </a:xfrm>
          <a:prstGeom prst="roundRect">
            <a:avLst/>
          </a:prstGeom>
          <a:solidFill>
            <a:srgbClr val="C2A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792224" y="4841537"/>
            <a:ext cx="9052560" cy="841670"/>
          </a:xfrm>
          <a:prstGeom prst="roundRect">
            <a:avLst/>
          </a:prstGeom>
          <a:solidFill>
            <a:srgbClr val="F8E8E8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27000" rtlCol="0" anchor="t"/>
          <a:lstStyle/>
          <a:p>
            <a:pPr algn="ctr"/>
            <a:r>
              <a:rPr sz="1800" b="1">
                <a:solidFill>
                  <a:srgbClr val="0B1F33"/>
                </a:solidFill>
                <a:latin typeface="Aptos"/>
              </a:rPr>
              <a:t>Ogohlantirish: nazorat o‘zgaruvchilarini tanlash nazariya va tadqiqot dizayniga asoslanishi kerak.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554480" y="4892040"/>
            <a:ext cx="73152" cy="685800"/>
          </a:xfrm>
          <a:prstGeom prst="roundRect">
            <a:avLst/>
          </a:prstGeom>
          <a:solidFill>
            <a:srgbClr val="A3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9184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Aptos"/>
              </a:rPr>
              <a:t>DUMMY O‘ZGARUVCHI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76072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0B1F33"/>
                </a:solidFill>
                <a:latin typeface="Aptos Display"/>
              </a:rPr>
              <a:t>Sifat belgilarini modelga qanday kiritamiz?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097280" cy="254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tiu-blu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84048"/>
            <a:ext cx="960120" cy="40901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12064" y="6446520"/>
            <a:ext cx="11201400" cy="15240"/>
          </a:xfrm>
          <a:prstGeom prst="rect">
            <a:avLst/>
          </a:prstGeom>
          <a:solidFill>
            <a:srgbClr val="D9D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6510528"/>
            <a:ext cx="98755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TASHKENT INTERNATIONAL UNIVERSITY • EKONOMETRIKA • BAKALAVRIAT 3-KURS • by Sarvar Komilov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44784" y="6510528"/>
            <a:ext cx="8229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Aptos"/>
              </a:rPr>
              <a:t>21 / 57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1416475"/>
            <a:ext cx="104241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27000" rtlCol="0" anchor="t"/>
          <a:lstStyle/>
          <a:p>
            <a:pPr algn="l"/>
            <a:r>
              <a:rPr sz="2100" b="1" dirty="0" err="1">
                <a:solidFill>
                  <a:srgbClr val="0B1F33"/>
                </a:solidFill>
                <a:latin typeface="Aptos"/>
              </a:rPr>
              <a:t>Ta’rif</a:t>
            </a:r>
            <a:endParaRPr sz="2100" b="1" dirty="0">
              <a:solidFill>
                <a:srgbClr val="0B1F33"/>
              </a:solidFill>
              <a:latin typeface="Aptos"/>
            </a:endParaRPr>
          </a:p>
          <a:p>
            <a:pPr algn="l">
              <a:spcBef>
                <a:spcPts val="600"/>
              </a:spcBef>
            </a:pPr>
            <a:r>
              <a:rPr sz="2100" dirty="0">
                <a:solidFill>
                  <a:srgbClr val="1F2937"/>
                </a:solidFill>
                <a:latin typeface="Aptos"/>
              </a:rPr>
              <a:t>Dummy </a:t>
            </a:r>
            <a:r>
              <a:rPr sz="2100" dirty="0" err="1">
                <a:solidFill>
                  <a:srgbClr val="1F2937"/>
                </a:solidFill>
                <a:latin typeface="Aptos"/>
              </a:rPr>
              <a:t>o‘zgaruvchi</a:t>
            </a:r>
            <a:r>
              <a:rPr sz="2100" dirty="0">
                <a:solidFill>
                  <a:srgbClr val="1F2937"/>
                </a:solidFill>
                <a:latin typeface="Aptos"/>
              </a:rPr>
              <a:t> — </a:t>
            </a:r>
            <a:r>
              <a:rPr sz="2100" dirty="0" err="1">
                <a:solidFill>
                  <a:srgbClr val="1F2937"/>
                </a:solidFill>
                <a:latin typeface="Aptos"/>
              </a:rPr>
              <a:t>odatda</a:t>
            </a:r>
            <a:r>
              <a:rPr sz="2100" dirty="0">
                <a:solidFill>
                  <a:srgbClr val="1F2937"/>
                </a:solidFill>
                <a:latin typeface="Aptos"/>
              </a:rPr>
              <a:t> 0 </a:t>
            </a:r>
            <a:r>
              <a:rPr sz="2100" dirty="0" err="1">
                <a:solidFill>
                  <a:srgbClr val="1F2937"/>
                </a:solidFill>
                <a:latin typeface="Aptos"/>
              </a:rPr>
              <a:t>va</a:t>
            </a:r>
            <a:r>
              <a:rPr sz="2100" dirty="0">
                <a:solidFill>
                  <a:srgbClr val="1F2937"/>
                </a:solidFill>
                <a:latin typeface="Aptos"/>
              </a:rPr>
              <a:t> 1 </a:t>
            </a:r>
            <a:r>
              <a:rPr sz="2100" dirty="0" err="1">
                <a:solidFill>
                  <a:srgbClr val="1F2937"/>
                </a:solidFill>
                <a:latin typeface="Aptos"/>
              </a:rPr>
              <a:t>qiymatlarini</a:t>
            </a:r>
            <a:r>
              <a:rPr sz="2100" dirty="0">
                <a:solidFill>
                  <a:srgbClr val="1F2937"/>
                </a:solidFill>
                <a:latin typeface="Aptos"/>
              </a:rPr>
              <a:t> </a:t>
            </a:r>
            <a:r>
              <a:rPr sz="2100" dirty="0" err="1">
                <a:solidFill>
                  <a:srgbClr val="1F2937"/>
                </a:solidFill>
                <a:latin typeface="Aptos"/>
              </a:rPr>
              <a:t>qabul</a:t>
            </a:r>
            <a:r>
              <a:rPr sz="2100" dirty="0">
                <a:solidFill>
                  <a:srgbClr val="1F2937"/>
                </a:solidFill>
                <a:latin typeface="Aptos"/>
              </a:rPr>
              <a:t> </a:t>
            </a:r>
            <a:r>
              <a:rPr sz="2100" dirty="0" err="1">
                <a:solidFill>
                  <a:srgbClr val="1F2937"/>
                </a:solidFill>
                <a:latin typeface="Aptos"/>
              </a:rPr>
              <a:t>qiladigan</a:t>
            </a:r>
            <a:r>
              <a:rPr sz="2100" dirty="0">
                <a:solidFill>
                  <a:srgbClr val="1F2937"/>
                </a:solidFill>
                <a:latin typeface="Aptos"/>
              </a:rPr>
              <a:t> </a:t>
            </a:r>
            <a:r>
              <a:rPr sz="2100" dirty="0" err="1">
                <a:solidFill>
                  <a:srgbClr val="1F2937"/>
                </a:solidFill>
                <a:latin typeface="Aptos"/>
              </a:rPr>
              <a:t>kategorik</a:t>
            </a:r>
            <a:r>
              <a:rPr sz="2100" dirty="0">
                <a:solidFill>
                  <a:srgbClr val="1F2937"/>
                </a:solidFill>
                <a:latin typeface="Aptos"/>
              </a:rPr>
              <a:t> </a:t>
            </a:r>
            <a:r>
              <a:rPr sz="2100" dirty="0" err="1">
                <a:solidFill>
                  <a:srgbClr val="1F2937"/>
                </a:solidFill>
                <a:latin typeface="Aptos"/>
              </a:rPr>
              <a:t>ko‘rsatkich</a:t>
            </a:r>
            <a:r>
              <a:rPr sz="2100" dirty="0">
                <a:solidFill>
                  <a:srgbClr val="1F2937"/>
                </a:solidFill>
                <a:latin typeface="Aptos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417320"/>
            <a:ext cx="73152" cy="91440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143000" y="2736015"/>
            <a:ext cx="4892040" cy="1880326"/>
          </a:xfrm>
          <a:prstGeom prst="roundRect">
            <a:avLst/>
          </a:prstGeom>
          <a:solidFill>
            <a:srgbClr val="F8F3E7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27000" rtlCol="0" anchor="t"/>
          <a:lstStyle/>
          <a:p>
            <a:pPr algn="ctr"/>
            <a:r>
              <a:rPr sz="2600" b="1" dirty="0">
                <a:solidFill>
                  <a:srgbClr val="0B1F33"/>
                </a:solidFill>
                <a:latin typeface="Aptos"/>
              </a:rPr>
              <a:t>Onlineᵢ</a:t>
            </a:r>
          </a:p>
          <a:p>
            <a:pPr algn="ctr">
              <a:spcBef>
                <a:spcPts val="600"/>
              </a:spcBef>
            </a:pPr>
            <a:r>
              <a:rPr sz="2100" dirty="0">
                <a:solidFill>
                  <a:srgbClr val="1F2937"/>
                </a:solidFill>
                <a:latin typeface="Aptos"/>
              </a:rPr>
              <a:t>1 — </a:t>
            </a:r>
            <a:r>
              <a:rPr sz="2100" dirty="0" err="1">
                <a:solidFill>
                  <a:srgbClr val="1F2937"/>
                </a:solidFill>
                <a:latin typeface="Aptos"/>
              </a:rPr>
              <a:t>xarid</a:t>
            </a:r>
            <a:r>
              <a:rPr sz="2100" dirty="0">
                <a:solidFill>
                  <a:srgbClr val="1F2937"/>
                </a:solidFill>
                <a:latin typeface="Aptos"/>
              </a:rPr>
              <a:t> </a:t>
            </a:r>
            <a:r>
              <a:rPr sz="2100" dirty="0" err="1">
                <a:solidFill>
                  <a:srgbClr val="1F2937"/>
                </a:solidFill>
                <a:latin typeface="Aptos"/>
              </a:rPr>
              <a:t>onlayn</a:t>
            </a:r>
            <a:r>
              <a:rPr sz="2100" dirty="0">
                <a:solidFill>
                  <a:srgbClr val="1F2937"/>
                </a:solidFill>
                <a:latin typeface="Aptos"/>
              </a:rPr>
              <a:t> </a:t>
            </a:r>
            <a:r>
              <a:rPr sz="2100" dirty="0" err="1">
                <a:solidFill>
                  <a:srgbClr val="1F2937"/>
                </a:solidFill>
                <a:latin typeface="Aptos"/>
              </a:rPr>
              <a:t>amalga</a:t>
            </a:r>
            <a:r>
              <a:rPr sz="2100" dirty="0">
                <a:solidFill>
                  <a:srgbClr val="1F2937"/>
                </a:solidFill>
                <a:latin typeface="Aptos"/>
              </a:rPr>
              <a:t> </a:t>
            </a:r>
            <a:r>
              <a:rPr sz="2100" dirty="0" err="1">
                <a:solidFill>
                  <a:srgbClr val="1F2937"/>
                </a:solidFill>
                <a:latin typeface="Aptos"/>
              </a:rPr>
              <a:t>oshirilgan</a:t>
            </a:r>
            <a:r>
              <a:rPr sz="2100" dirty="0">
                <a:solidFill>
                  <a:srgbClr val="1F2937"/>
                </a:solidFill>
                <a:latin typeface="Aptos"/>
              </a:rPr>
              <a:t> </a:t>
            </a:r>
            <a:r>
              <a:rPr sz="2100" dirty="0" err="1">
                <a:solidFill>
                  <a:srgbClr val="1F2937"/>
                </a:solidFill>
                <a:latin typeface="Aptos"/>
              </a:rPr>
              <a:t>bo‘lsa</a:t>
            </a:r>
            <a:r>
              <a:rPr sz="2100" dirty="0">
                <a:solidFill>
                  <a:srgbClr val="1F2937"/>
                </a:solidFill>
                <a:latin typeface="Aptos"/>
              </a:rPr>
              <a:t>
0 — </a:t>
            </a:r>
            <a:r>
              <a:rPr sz="2100" dirty="0" err="1">
                <a:solidFill>
                  <a:srgbClr val="1F2937"/>
                </a:solidFill>
                <a:latin typeface="Aptos"/>
              </a:rPr>
              <a:t>aks</a:t>
            </a:r>
            <a:r>
              <a:rPr sz="2100" dirty="0">
                <a:solidFill>
                  <a:srgbClr val="1F2937"/>
                </a:solidFill>
                <a:latin typeface="Aptos"/>
              </a:rPr>
              <a:t> </a:t>
            </a:r>
            <a:r>
              <a:rPr sz="2100" dirty="0" err="1">
                <a:solidFill>
                  <a:srgbClr val="1F2937"/>
                </a:solidFill>
                <a:latin typeface="Aptos"/>
              </a:rPr>
              <a:t>holda</a:t>
            </a:r>
            <a:endParaRPr sz="2100" dirty="0">
              <a:solidFill>
                <a:srgbClr val="1F2937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914400" y="2834640"/>
            <a:ext cx="73152" cy="1600200"/>
          </a:xfrm>
          <a:prstGeom prst="roundRect">
            <a:avLst/>
          </a:prstGeom>
          <a:solidFill>
            <a:srgbClr val="C2A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629400" y="2736015"/>
            <a:ext cx="4892040" cy="1880326"/>
          </a:xfrm>
          <a:prstGeom prst="roundRect">
            <a:avLst/>
          </a:prstGeom>
          <a:solidFill>
            <a:srgbClr val="E8EFF8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27000" rtlCol="0" anchor="t"/>
          <a:lstStyle/>
          <a:p>
            <a:pPr algn="ctr"/>
            <a:r>
              <a:rPr sz="2600" b="1">
                <a:solidFill>
                  <a:srgbClr val="0B1F33"/>
                </a:solidFill>
                <a:latin typeface="Aptos"/>
              </a:rPr>
              <a:t>Crisisₜ</a:t>
            </a:r>
          </a:p>
          <a:p>
            <a:pPr algn="ctr">
              <a:spcBef>
                <a:spcPts val="600"/>
              </a:spcBef>
            </a:pPr>
            <a:r>
              <a:rPr sz="2100">
                <a:solidFill>
                  <a:srgbClr val="1F2937"/>
                </a:solidFill>
                <a:latin typeface="Aptos"/>
              </a:rPr>
              <a:t>1 — inqiroz davri
0 — boshqa davr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2834640"/>
            <a:ext cx="73152" cy="1600200"/>
          </a:xfrm>
          <a:prstGeom prst="roundRect">
            <a:avLst/>
          </a:prstGeom>
          <a:solidFill>
            <a:srgbClr val="12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43000" y="5166360"/>
            <a:ext cx="9875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>
                <a:solidFill>
                  <a:srgbClr val="0B1F33"/>
                </a:solidFill>
                <a:latin typeface="Aptos"/>
              </a:rPr>
              <a:t>Dummy o‘zgaruvchilar sifat jihatidan farq qiluvchi guruh yoki davrlarni modelga kiritish imkonini beradi.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9184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Aptos"/>
              </a:rPr>
              <a:t>KECHIKKAN O‘ZGARUVCHI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76072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0B1F33"/>
                </a:solidFill>
                <a:latin typeface="Aptos Display"/>
              </a:rPr>
              <a:t>Bugungi natija kechagi holatga bog‘liq bo‘lishi mumkinmi?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097280" cy="254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tiu-blu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84048"/>
            <a:ext cx="960120" cy="40901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12064" y="6446520"/>
            <a:ext cx="11201400" cy="15240"/>
          </a:xfrm>
          <a:prstGeom prst="rect">
            <a:avLst/>
          </a:prstGeom>
          <a:solidFill>
            <a:srgbClr val="D9D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6510528"/>
            <a:ext cx="98755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TASHKENT INTERNATIONAL UNIVERSITY • EKONOMETRIKA • BAKALAVRIAT 3-KURS • by Sarvar Komilov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44784" y="6510528"/>
            <a:ext cx="8229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Aptos"/>
              </a:rPr>
              <a:t>22 / 57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1508760"/>
            <a:ext cx="987552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800" b="0">
                <a:solidFill>
                  <a:srgbClr val="0B1F33"/>
                </a:solidFill>
                <a:latin typeface="Cambria Math"/>
              </a:rPr>
              <a:t>Inflyatsiyaₜ = β₀ + β₁Inflyatsiyaₜ₋₁ + uₜ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2743200"/>
            <a:ext cx="4663440" cy="1005840"/>
          </a:xfrm>
          <a:prstGeom prst="roundRect">
            <a:avLst/>
          </a:prstGeom>
          <a:solidFill>
            <a:srgbClr val="E5F6F4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27000" rtlCol="0" anchor="t"/>
          <a:lstStyle/>
          <a:p>
            <a:pPr algn="ctr"/>
            <a:r>
              <a:rPr sz="2400" b="1">
                <a:solidFill>
                  <a:srgbClr val="0B1F33"/>
                </a:solidFill>
                <a:latin typeface="Aptos"/>
              </a:rPr>
              <a:t>Inflyatsiyaₜ</a:t>
            </a:r>
          </a:p>
          <a:p>
            <a:pPr algn="ctr">
              <a:spcBef>
                <a:spcPts val="600"/>
              </a:spcBef>
            </a:pPr>
            <a:r>
              <a:rPr sz="2000">
                <a:solidFill>
                  <a:srgbClr val="1F2937"/>
                </a:solidFill>
                <a:latin typeface="Aptos"/>
              </a:rPr>
              <a:t>joriy davrdagi inflyatsiya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2743200"/>
            <a:ext cx="73152" cy="100584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355080" y="2743200"/>
            <a:ext cx="4663440" cy="1005840"/>
          </a:xfrm>
          <a:prstGeom prst="roundRect">
            <a:avLst/>
          </a:prstGeom>
          <a:solidFill>
            <a:srgbClr val="F8F3E7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27000" rtlCol="0" anchor="t"/>
          <a:lstStyle/>
          <a:p>
            <a:pPr algn="ctr"/>
            <a:r>
              <a:rPr sz="2400" b="1">
                <a:solidFill>
                  <a:srgbClr val="0B1F33"/>
                </a:solidFill>
                <a:latin typeface="Aptos"/>
              </a:rPr>
              <a:t>Inflyatsiyaₜ₋₁</a:t>
            </a:r>
          </a:p>
          <a:p>
            <a:pPr algn="ctr">
              <a:spcBef>
                <a:spcPts val="600"/>
              </a:spcBef>
            </a:pPr>
            <a:r>
              <a:rPr sz="2000">
                <a:solidFill>
                  <a:srgbClr val="1F2937"/>
                </a:solidFill>
                <a:latin typeface="Aptos"/>
              </a:rPr>
              <a:t>oldingi davrdagi inflyatsiya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2743200"/>
            <a:ext cx="73152" cy="1005840"/>
          </a:xfrm>
          <a:prstGeom prst="roundRect">
            <a:avLst/>
          </a:prstGeom>
          <a:solidFill>
            <a:srgbClr val="C2A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80160" y="4343400"/>
            <a:ext cx="9875520" cy="9144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0">
                <a:solidFill>
                  <a:srgbClr val="1F2937"/>
                </a:solidFill>
                <a:latin typeface="Aptos"/>
              </a:rPr>
              <a:t>• inflyatsiya inertsiya ko‘rsatishi mumkin</a:t>
            </a:r>
          </a:p>
          <a:p>
            <a:pPr algn="l">
              <a:spcAft>
                <a:spcPts val="500"/>
              </a:spcAft>
            </a:pPr>
            <a:r>
              <a:rPr sz="2000" b="0">
                <a:solidFill>
                  <a:srgbClr val="1F2937"/>
                </a:solidFill>
                <a:latin typeface="Aptos"/>
              </a:rPr>
              <a:t>• iste’mol odatlari vaqt davomida saqlanishi mumkin</a:t>
            </a:r>
          </a:p>
          <a:p>
            <a:pPr algn="l">
              <a:spcAft>
                <a:spcPts val="500"/>
              </a:spcAft>
            </a:pPr>
            <a:r>
              <a:rPr sz="2000" b="0">
                <a:solidFill>
                  <a:srgbClr val="1F2937"/>
                </a:solidFill>
                <a:latin typeface="Aptos"/>
              </a:rPr>
              <a:t>• investitsiya qarorlari kechikib ta’sir ko‘rsatishi mumkin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9184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Aptos"/>
              </a:rPr>
              <a:t>PARAMETRLAR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76072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0B1F33"/>
                </a:solidFill>
                <a:latin typeface="Aptos Display"/>
              </a:rPr>
              <a:t>β₀ va β₁ iqtisodiy jihatdan nimani anglatadi?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097280" cy="254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tiu-blu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84048"/>
            <a:ext cx="960120" cy="40901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12064" y="6446520"/>
            <a:ext cx="11201400" cy="15240"/>
          </a:xfrm>
          <a:prstGeom prst="rect">
            <a:avLst/>
          </a:prstGeom>
          <a:solidFill>
            <a:srgbClr val="D9D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6510528"/>
            <a:ext cx="98755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TASHKENT INTERNATIONAL UNIVERSITY • EKONOMETRIKA • BAKALAVRIAT 3-KURS • by Sarvar Komilov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44784" y="6510528"/>
            <a:ext cx="8229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Aptos"/>
              </a:rPr>
              <a:t>23 / 57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03120" y="1417320"/>
            <a:ext cx="7955279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400" b="0">
                <a:solidFill>
                  <a:srgbClr val="0B1F33"/>
                </a:solidFill>
                <a:latin typeface="Cambria Math"/>
              </a:rPr>
              <a:t>Yᵢ = β₀ + β₁Xᵢ + uᵢ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25879" y="2762122"/>
            <a:ext cx="4754880" cy="1695050"/>
          </a:xfrm>
          <a:prstGeom prst="roundRect">
            <a:avLst/>
          </a:prstGeom>
          <a:solidFill>
            <a:srgbClr val="F8F3E7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27000" rtlCol="0" anchor="t"/>
          <a:lstStyle/>
          <a:p>
            <a:pPr algn="ctr"/>
            <a:r>
              <a:rPr sz="2800" b="1">
                <a:solidFill>
                  <a:srgbClr val="0B1F33"/>
                </a:solidFill>
                <a:latin typeface="Aptos"/>
              </a:rPr>
              <a:t>β₀</a:t>
            </a:r>
          </a:p>
          <a:p>
            <a:pPr algn="ctr">
              <a:spcBef>
                <a:spcPts val="600"/>
              </a:spcBef>
            </a:pPr>
            <a:r>
              <a:rPr sz="2100">
                <a:solidFill>
                  <a:srgbClr val="1F2937"/>
                </a:solidFill>
                <a:latin typeface="Aptos"/>
              </a:rPr>
              <a:t>X = 0 bo‘lgandagi modelning boshlang‘ich darajasi.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2788920"/>
            <a:ext cx="73152" cy="1463040"/>
          </a:xfrm>
          <a:prstGeom prst="roundRect">
            <a:avLst/>
          </a:prstGeom>
          <a:solidFill>
            <a:srgbClr val="C2A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611113" y="2762122"/>
            <a:ext cx="4754880" cy="1695050"/>
          </a:xfrm>
          <a:prstGeom prst="roundRect">
            <a:avLst/>
          </a:prstGeom>
          <a:solidFill>
            <a:srgbClr val="E5F6F4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27000" rtlCol="0" anchor="t"/>
          <a:lstStyle/>
          <a:p>
            <a:pPr algn="ctr"/>
            <a:r>
              <a:rPr sz="2800" b="1" dirty="0">
                <a:solidFill>
                  <a:srgbClr val="0B1F33"/>
                </a:solidFill>
                <a:latin typeface="Aptos"/>
              </a:rPr>
              <a:t>β₁</a:t>
            </a:r>
          </a:p>
          <a:p>
            <a:pPr algn="ctr">
              <a:spcBef>
                <a:spcPts val="600"/>
              </a:spcBef>
            </a:pPr>
            <a:r>
              <a:rPr sz="1900" dirty="0">
                <a:solidFill>
                  <a:srgbClr val="1F2937"/>
                </a:solidFill>
                <a:latin typeface="Aptos"/>
              </a:rPr>
              <a:t>X </a:t>
            </a:r>
            <a:r>
              <a:rPr sz="1900" dirty="0" err="1">
                <a:solidFill>
                  <a:srgbClr val="1F2937"/>
                </a:solidFill>
                <a:latin typeface="Aptos"/>
              </a:rPr>
              <a:t>bir</a:t>
            </a:r>
            <a:r>
              <a:rPr sz="1900" dirty="0">
                <a:solidFill>
                  <a:srgbClr val="1F2937"/>
                </a:solidFill>
                <a:latin typeface="Aptos"/>
              </a:rPr>
              <a:t> </a:t>
            </a:r>
            <a:r>
              <a:rPr sz="1900" dirty="0" err="1">
                <a:solidFill>
                  <a:srgbClr val="1F2937"/>
                </a:solidFill>
                <a:latin typeface="Aptos"/>
              </a:rPr>
              <a:t>birlik</a:t>
            </a:r>
            <a:r>
              <a:rPr sz="1900" dirty="0">
                <a:solidFill>
                  <a:srgbClr val="1F2937"/>
                </a:solidFill>
                <a:latin typeface="Aptos"/>
              </a:rPr>
              <a:t> </a:t>
            </a:r>
            <a:r>
              <a:rPr sz="1900" dirty="0" err="1">
                <a:solidFill>
                  <a:srgbClr val="1F2937"/>
                </a:solidFill>
                <a:latin typeface="Aptos"/>
              </a:rPr>
              <a:t>o‘zgarganda</a:t>
            </a:r>
            <a:r>
              <a:rPr sz="1900" dirty="0">
                <a:solidFill>
                  <a:srgbClr val="1F2937"/>
                </a:solidFill>
                <a:latin typeface="Aptos"/>
              </a:rPr>
              <a:t> Y </a:t>
            </a:r>
            <a:r>
              <a:rPr sz="1900" dirty="0" err="1">
                <a:solidFill>
                  <a:srgbClr val="1F2937"/>
                </a:solidFill>
                <a:latin typeface="Aptos"/>
              </a:rPr>
              <a:t>ning</a:t>
            </a:r>
            <a:r>
              <a:rPr sz="1900" dirty="0">
                <a:solidFill>
                  <a:srgbClr val="1F2937"/>
                </a:solidFill>
                <a:latin typeface="Aptos"/>
              </a:rPr>
              <a:t> </a:t>
            </a:r>
            <a:r>
              <a:rPr sz="1900" dirty="0" err="1">
                <a:solidFill>
                  <a:srgbClr val="1F2937"/>
                </a:solidFill>
                <a:latin typeface="Aptos"/>
              </a:rPr>
              <a:t>o‘rtacha</a:t>
            </a:r>
            <a:r>
              <a:rPr sz="1900" dirty="0">
                <a:solidFill>
                  <a:srgbClr val="1F2937"/>
                </a:solidFill>
                <a:latin typeface="Aptos"/>
              </a:rPr>
              <a:t> </a:t>
            </a:r>
            <a:r>
              <a:rPr sz="1900" dirty="0" err="1">
                <a:solidFill>
                  <a:srgbClr val="1F2937"/>
                </a:solidFill>
                <a:latin typeface="Aptos"/>
              </a:rPr>
              <a:t>qanday</a:t>
            </a:r>
            <a:r>
              <a:rPr sz="1900" dirty="0">
                <a:solidFill>
                  <a:srgbClr val="1F2937"/>
                </a:solidFill>
                <a:latin typeface="Aptos"/>
              </a:rPr>
              <a:t> </a:t>
            </a:r>
            <a:r>
              <a:rPr sz="1900" dirty="0" err="1">
                <a:solidFill>
                  <a:srgbClr val="1F2937"/>
                </a:solidFill>
                <a:latin typeface="Aptos"/>
              </a:rPr>
              <a:t>farqlanishini</a:t>
            </a:r>
            <a:r>
              <a:rPr sz="1900" dirty="0">
                <a:solidFill>
                  <a:srgbClr val="1F2937"/>
                </a:solidFill>
                <a:latin typeface="Aptos"/>
              </a:rPr>
              <a:t> </a:t>
            </a:r>
            <a:r>
              <a:rPr sz="1900" dirty="0" err="1">
                <a:solidFill>
                  <a:srgbClr val="1F2937"/>
                </a:solidFill>
                <a:latin typeface="Aptos"/>
              </a:rPr>
              <a:t>ifodalaydi</a:t>
            </a:r>
            <a:r>
              <a:rPr sz="1900" dirty="0">
                <a:solidFill>
                  <a:srgbClr val="1F2937"/>
                </a:solidFill>
                <a:latin typeface="Aptos"/>
              </a:rPr>
              <a:t> — model </a:t>
            </a:r>
            <a:r>
              <a:rPr sz="1900" dirty="0" err="1">
                <a:solidFill>
                  <a:srgbClr val="1F2937"/>
                </a:solidFill>
                <a:latin typeface="Aptos"/>
              </a:rPr>
              <a:t>shartlari</a:t>
            </a:r>
            <a:r>
              <a:rPr sz="1900" dirty="0">
                <a:solidFill>
                  <a:srgbClr val="1F2937"/>
                </a:solidFill>
                <a:latin typeface="Aptos"/>
              </a:rPr>
              <a:t> </a:t>
            </a:r>
            <a:r>
              <a:rPr sz="1900" dirty="0" err="1">
                <a:solidFill>
                  <a:srgbClr val="1F2937"/>
                </a:solidFill>
                <a:latin typeface="Aptos"/>
              </a:rPr>
              <a:t>doirasida</a:t>
            </a:r>
            <a:r>
              <a:rPr sz="1900" dirty="0">
                <a:solidFill>
                  <a:srgbClr val="1F2937"/>
                </a:solidFill>
                <a:latin typeface="Aptos"/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2788920"/>
            <a:ext cx="73152" cy="146304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371600" y="4892040"/>
            <a:ext cx="9418320" cy="685800"/>
          </a:xfrm>
          <a:prstGeom prst="roundRect">
            <a:avLst/>
          </a:prstGeom>
          <a:solidFill>
            <a:srgbClr val="F8E8E8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27000" rtlCol="0" anchor="t"/>
          <a:lstStyle/>
          <a:p>
            <a:pPr algn="ctr"/>
            <a:r>
              <a:rPr sz="1900" b="1">
                <a:solidFill>
                  <a:srgbClr val="0B1F33"/>
                </a:solidFill>
                <a:latin typeface="Aptos"/>
              </a:rPr>
              <a:t>β₁ ning aniq talqini modelning funksional shakliga va o‘lchov birliklariga bog‘liq.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71600" y="4892040"/>
            <a:ext cx="73152" cy="685800"/>
          </a:xfrm>
          <a:prstGeom prst="roundRect">
            <a:avLst/>
          </a:prstGeom>
          <a:solidFill>
            <a:srgbClr val="A3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9184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Aptos"/>
              </a:rPr>
              <a:t>AMALIY O‘QISH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76072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0B1F33"/>
                </a:solidFill>
                <a:latin typeface="Aptos Display"/>
              </a:rPr>
              <a:t>Modelni faqat ko‘rmang — iqtisodiy tilda o‘qing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097280" cy="254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tiu-blu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84048"/>
            <a:ext cx="960120" cy="40901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12064" y="6446520"/>
            <a:ext cx="11201400" cy="15240"/>
          </a:xfrm>
          <a:prstGeom prst="rect">
            <a:avLst/>
          </a:prstGeom>
          <a:solidFill>
            <a:srgbClr val="D9D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6510528"/>
            <a:ext cx="98755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TASHKENT INTERNATIONAL UNIVERSITY • EKONOMETRIKA • BAKALAVRIAT 3-KURS • by Sarvar Komilov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44784" y="6510528"/>
            <a:ext cx="8229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Aptos"/>
              </a:rPr>
              <a:t>24 / 57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25880"/>
            <a:ext cx="1078992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0">
                <a:solidFill>
                  <a:srgbClr val="0B1F33"/>
                </a:solidFill>
                <a:latin typeface="Cambria Math"/>
              </a:rPr>
              <a:t>Ijaraᵢ = β₀ + β₁Maydonᵢ + β₂Markazᵢ + β₃Ta’mirᵢ + uᵢ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31720"/>
            <a:ext cx="5120640" cy="192024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0">
                <a:solidFill>
                  <a:srgbClr val="1F2937"/>
                </a:solidFill>
                <a:latin typeface="Aptos"/>
              </a:rPr>
              <a:t>• Ijara — bog‘liq o‘zgaruvchi</a:t>
            </a:r>
          </a:p>
          <a:p>
            <a:pPr algn="l">
              <a:spcAft>
                <a:spcPts val="500"/>
              </a:spcAft>
            </a:pPr>
            <a:r>
              <a:rPr sz="2000" b="0">
                <a:solidFill>
                  <a:srgbClr val="1F2937"/>
                </a:solidFill>
                <a:latin typeface="Aptos"/>
              </a:rPr>
              <a:t>• Maydon — xonadon maydoni</a:t>
            </a:r>
          </a:p>
          <a:p>
            <a:pPr algn="l">
              <a:spcAft>
                <a:spcPts val="500"/>
              </a:spcAft>
            </a:pPr>
            <a:r>
              <a:rPr sz="2000" b="0">
                <a:solidFill>
                  <a:srgbClr val="1F2937"/>
                </a:solidFill>
                <a:latin typeface="Aptos"/>
              </a:rPr>
              <a:t>• Markaz — markaziy hudud dummy o‘zgaruvchisi</a:t>
            </a:r>
          </a:p>
          <a:p>
            <a:pPr algn="l">
              <a:spcAft>
                <a:spcPts val="500"/>
              </a:spcAft>
            </a:pPr>
            <a:r>
              <a:rPr sz="2000" b="0">
                <a:solidFill>
                  <a:srgbClr val="1F2937"/>
                </a:solidFill>
                <a:latin typeface="Aptos"/>
              </a:rPr>
              <a:t>• Ta’mir — ta’mirlanganlik dummy o‘zgaruvchisi</a:t>
            </a:r>
          </a:p>
          <a:p>
            <a:pPr algn="l">
              <a:spcAft>
                <a:spcPts val="500"/>
              </a:spcAft>
            </a:pPr>
            <a:r>
              <a:rPr sz="2000" b="0">
                <a:solidFill>
                  <a:srgbClr val="1F2937"/>
                </a:solidFill>
                <a:latin typeface="Aptos"/>
              </a:rPr>
              <a:t>• u — kuzatilmagan boshqa omillar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14160" y="2331720"/>
            <a:ext cx="4663440" cy="2415162"/>
          </a:xfrm>
          <a:prstGeom prst="roundRect">
            <a:avLst/>
          </a:prstGeom>
          <a:solidFill>
            <a:srgbClr val="E5F6F4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27000" rtlCol="0" anchor="t"/>
          <a:lstStyle/>
          <a:p>
            <a:pPr algn="l"/>
            <a:r>
              <a:rPr sz="2000" b="1" dirty="0" err="1">
                <a:solidFill>
                  <a:srgbClr val="0B1F33"/>
                </a:solidFill>
                <a:latin typeface="Aptos"/>
              </a:rPr>
              <a:t>Auditoriya</a:t>
            </a:r>
            <a:r>
              <a:rPr sz="2000" b="1" dirty="0">
                <a:solidFill>
                  <a:srgbClr val="0B1F33"/>
                </a:solidFill>
                <a:latin typeface="Aptos"/>
              </a:rPr>
              <a:t> </a:t>
            </a:r>
            <a:r>
              <a:rPr sz="2000" b="1" dirty="0" err="1">
                <a:solidFill>
                  <a:srgbClr val="0B1F33"/>
                </a:solidFill>
                <a:latin typeface="Aptos"/>
              </a:rPr>
              <a:t>savollari</a:t>
            </a:r>
            <a:endParaRPr sz="2000" b="1" dirty="0">
              <a:solidFill>
                <a:srgbClr val="0B1F33"/>
              </a:solidFill>
              <a:latin typeface="Aptos"/>
            </a:endParaRPr>
          </a:p>
          <a:p>
            <a:pPr algn="l">
              <a:spcBef>
                <a:spcPts val="600"/>
              </a:spcBef>
            </a:pPr>
            <a:r>
              <a:rPr sz="1800" dirty="0">
                <a:solidFill>
                  <a:srgbClr val="1F2937"/>
                </a:solidFill>
                <a:latin typeface="Aptos"/>
              </a:rPr>
              <a:t>1. Y </a:t>
            </a:r>
            <a:r>
              <a:rPr sz="1800" dirty="0" err="1">
                <a:solidFill>
                  <a:srgbClr val="1F2937"/>
                </a:solidFill>
                <a:latin typeface="Aptos"/>
              </a:rPr>
              <a:t>qaysi</a:t>
            </a:r>
            <a:r>
              <a:rPr sz="1800" dirty="0">
                <a:solidFill>
                  <a:srgbClr val="1F2937"/>
                </a:solidFill>
                <a:latin typeface="Aptos"/>
              </a:rPr>
              <a:t>?
2. </a:t>
            </a:r>
            <a:r>
              <a:rPr sz="1800" dirty="0" err="1">
                <a:solidFill>
                  <a:srgbClr val="1F2937"/>
                </a:solidFill>
                <a:latin typeface="Aptos"/>
              </a:rPr>
              <a:t>Qaysilari</a:t>
            </a:r>
            <a:r>
              <a:rPr sz="1800" dirty="0">
                <a:solidFill>
                  <a:srgbClr val="1F2937"/>
                </a:solidFill>
                <a:latin typeface="Aptos"/>
              </a:rPr>
              <a:t> X?
3. </a:t>
            </a:r>
            <a:r>
              <a:rPr sz="1800" dirty="0" err="1">
                <a:solidFill>
                  <a:srgbClr val="1F2937"/>
                </a:solidFill>
                <a:latin typeface="Aptos"/>
              </a:rPr>
              <a:t>Qaysilari</a:t>
            </a:r>
            <a:r>
              <a:rPr sz="1800" dirty="0">
                <a:solidFill>
                  <a:srgbClr val="1F2937"/>
                </a:solidFill>
                <a:latin typeface="Aptos"/>
              </a:rPr>
              <a:t> dummy?
4. u </a:t>
            </a:r>
            <a:r>
              <a:rPr sz="1800" dirty="0" err="1">
                <a:solidFill>
                  <a:srgbClr val="1F2937"/>
                </a:solidFill>
                <a:latin typeface="Aptos"/>
              </a:rPr>
              <a:t>tarkibida</a:t>
            </a:r>
            <a:r>
              <a:rPr sz="1800" dirty="0">
                <a:solidFill>
                  <a:srgbClr val="1F2937"/>
                </a:solidFill>
                <a:latin typeface="Aptos"/>
              </a:rPr>
              <a:t> </a:t>
            </a:r>
            <a:r>
              <a:rPr sz="1800" dirty="0" err="1">
                <a:solidFill>
                  <a:srgbClr val="1F2937"/>
                </a:solidFill>
                <a:latin typeface="Aptos"/>
              </a:rPr>
              <a:t>nima</a:t>
            </a:r>
            <a:r>
              <a:rPr sz="1800" dirty="0">
                <a:solidFill>
                  <a:srgbClr val="1F2937"/>
                </a:solidFill>
                <a:latin typeface="Aptos"/>
              </a:rPr>
              <a:t> </a:t>
            </a:r>
            <a:r>
              <a:rPr sz="1800" dirty="0" err="1">
                <a:solidFill>
                  <a:srgbClr val="1F2937"/>
                </a:solidFill>
                <a:latin typeface="Aptos"/>
              </a:rPr>
              <a:t>bo‘lishi</a:t>
            </a:r>
            <a:r>
              <a:rPr sz="1800" dirty="0">
                <a:solidFill>
                  <a:srgbClr val="1F2937"/>
                </a:solidFill>
                <a:latin typeface="Aptos"/>
              </a:rPr>
              <a:t> </a:t>
            </a:r>
            <a:r>
              <a:rPr sz="1800" dirty="0" err="1">
                <a:solidFill>
                  <a:srgbClr val="1F2937"/>
                </a:solidFill>
                <a:latin typeface="Aptos"/>
              </a:rPr>
              <a:t>mumkin</a:t>
            </a:r>
            <a:r>
              <a:rPr sz="1800" dirty="0">
                <a:solidFill>
                  <a:srgbClr val="1F2937"/>
                </a:solidFill>
                <a:latin typeface="Aptos"/>
              </a:rPr>
              <a:t>?
5. β₁ </a:t>
            </a:r>
            <a:r>
              <a:rPr sz="1800" dirty="0" err="1">
                <a:solidFill>
                  <a:srgbClr val="1F2937"/>
                </a:solidFill>
                <a:latin typeface="Aptos"/>
              </a:rPr>
              <a:t>nimani</a:t>
            </a:r>
            <a:r>
              <a:rPr sz="1800" dirty="0">
                <a:solidFill>
                  <a:srgbClr val="1F2937"/>
                </a:solidFill>
                <a:latin typeface="Aptos"/>
              </a:rPr>
              <a:t> </a:t>
            </a:r>
            <a:r>
              <a:rPr sz="1800" dirty="0" err="1">
                <a:solidFill>
                  <a:srgbClr val="1F2937"/>
                </a:solidFill>
                <a:latin typeface="Aptos"/>
              </a:rPr>
              <a:t>ifodalaydi</a:t>
            </a:r>
            <a:r>
              <a:rPr sz="1800" dirty="0">
                <a:solidFill>
                  <a:srgbClr val="1F2937"/>
                </a:solidFill>
                <a:latin typeface="Aptos"/>
              </a:rPr>
              <a:t>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331720"/>
            <a:ext cx="73152" cy="224028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9184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Aptos"/>
              </a:rPr>
              <a:t>MODEL TASNIFI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76072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0B1F33"/>
                </a:solidFill>
                <a:latin typeface="Aptos Display"/>
              </a:rPr>
              <a:t>Ekonometrik modellarning asosiy turlari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097280" cy="254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tiu-blu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84048"/>
            <a:ext cx="960120" cy="40901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12064" y="6446520"/>
            <a:ext cx="11201400" cy="15240"/>
          </a:xfrm>
          <a:prstGeom prst="rect">
            <a:avLst/>
          </a:prstGeom>
          <a:solidFill>
            <a:srgbClr val="D9D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6510528"/>
            <a:ext cx="98755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TASHKENT INTERNATIONAL UNIVERSITY • EKONOMETRIKA • BAKALAVRIAT 3-KURS • by Sarvar Komilov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44784" y="6510528"/>
            <a:ext cx="8229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Aptos"/>
              </a:rPr>
              <a:t>25 / 57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1417320"/>
            <a:ext cx="4846320" cy="594360"/>
          </a:xfrm>
          <a:prstGeom prst="roundRect">
            <a:avLst/>
          </a:prstGeom>
          <a:solidFill>
            <a:srgbClr val="0B1F33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300" b="1">
                <a:solidFill>
                  <a:srgbClr val="FFFFFF"/>
                </a:solidFill>
                <a:latin typeface="Aptos"/>
              </a:rPr>
              <a:t>EKONOMETRIK MODELLAR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743200"/>
            <a:ext cx="3246120" cy="1508760"/>
          </a:xfrm>
          <a:prstGeom prst="roundRect">
            <a:avLst/>
          </a:prstGeom>
          <a:solidFill>
            <a:srgbClr val="E5F6F4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27000" rtlCol="0" anchor="t"/>
          <a:lstStyle/>
          <a:p>
            <a:pPr algn="ctr"/>
            <a:r>
              <a:rPr sz="1900" b="1">
                <a:solidFill>
                  <a:srgbClr val="0B1F33"/>
                </a:solidFill>
                <a:latin typeface="Aptos"/>
              </a:rPr>
              <a:t>MA’LUMOT TUZILISHI</a:t>
            </a:r>
          </a:p>
          <a:p>
            <a:pPr algn="ctr">
              <a:spcBef>
                <a:spcPts val="600"/>
              </a:spcBef>
            </a:pPr>
            <a:r>
              <a:rPr sz="1800">
                <a:solidFill>
                  <a:srgbClr val="1F2937"/>
                </a:solidFill>
                <a:latin typeface="Aptos"/>
              </a:rPr>
              <a:t>kesim • vaqt qatori • panel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743200"/>
            <a:ext cx="73152" cy="150876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663440" y="2743200"/>
            <a:ext cx="3246120" cy="1508760"/>
          </a:xfrm>
          <a:prstGeom prst="roundRect">
            <a:avLst/>
          </a:prstGeom>
          <a:solidFill>
            <a:srgbClr val="F8F3E7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27000" rtlCol="0" anchor="t"/>
          <a:lstStyle/>
          <a:p>
            <a:pPr algn="ctr"/>
            <a:r>
              <a:rPr sz="1900" b="1">
                <a:solidFill>
                  <a:srgbClr val="0B1F33"/>
                </a:solidFill>
                <a:latin typeface="Aptos"/>
              </a:rPr>
              <a:t>FUNKSIONAL SHAKL</a:t>
            </a:r>
          </a:p>
          <a:p>
            <a:pPr algn="ctr">
              <a:spcBef>
                <a:spcPts val="600"/>
              </a:spcBef>
            </a:pPr>
            <a:r>
              <a:rPr sz="1800">
                <a:solidFill>
                  <a:srgbClr val="1F2937"/>
                </a:solidFill>
                <a:latin typeface="Aptos"/>
              </a:rPr>
              <a:t>chiziqli • chiziqli bo‘lmagan • logarifmik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2743200"/>
            <a:ext cx="73152" cy="1508760"/>
          </a:xfrm>
          <a:prstGeom prst="roundRect">
            <a:avLst/>
          </a:prstGeom>
          <a:solidFill>
            <a:srgbClr val="C2A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412480" y="2743200"/>
            <a:ext cx="3246120" cy="1508760"/>
          </a:xfrm>
          <a:prstGeom prst="roundRect">
            <a:avLst/>
          </a:prstGeom>
          <a:solidFill>
            <a:srgbClr val="E8EFF8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27000" rtlCol="0" anchor="t"/>
          <a:lstStyle/>
          <a:p>
            <a:pPr algn="ctr"/>
            <a:r>
              <a:rPr sz="1900" b="1">
                <a:solidFill>
                  <a:srgbClr val="0B1F33"/>
                </a:solidFill>
                <a:latin typeface="Aptos"/>
              </a:rPr>
              <a:t>VAQT DINAMIKASI</a:t>
            </a:r>
          </a:p>
          <a:p>
            <a:pPr algn="ctr">
              <a:spcBef>
                <a:spcPts val="600"/>
              </a:spcBef>
            </a:pPr>
            <a:r>
              <a:rPr sz="1800">
                <a:solidFill>
                  <a:srgbClr val="1F2937"/>
                </a:solidFill>
                <a:latin typeface="Aptos"/>
              </a:rPr>
              <a:t>statik • dinamik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0" y="2743200"/>
            <a:ext cx="73152" cy="1508760"/>
          </a:xfrm>
          <a:prstGeom prst="roundRect">
            <a:avLst/>
          </a:prstGeom>
          <a:solidFill>
            <a:srgbClr val="12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554480" y="521208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300" b="1">
                <a:solidFill>
                  <a:srgbClr val="0B1F33"/>
                </a:solidFill>
                <a:latin typeface="Aptos"/>
              </a:rPr>
              <a:t>Model turi tadqiqot savoli va ma’lumot tuzilishiga mos tanlanadi.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9184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Aptos"/>
              </a:rPr>
              <a:t>MA’LUMOT TURI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76072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0B1F33"/>
                </a:solidFill>
                <a:latin typeface="Aptos Display"/>
              </a:rPr>
              <a:t>Kesim ma’lumotlari: ko‘p obyekt, bitta davr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097280" cy="254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tiu-blu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84048"/>
            <a:ext cx="960120" cy="40901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12064" y="6446520"/>
            <a:ext cx="11201400" cy="15240"/>
          </a:xfrm>
          <a:prstGeom prst="rect">
            <a:avLst/>
          </a:prstGeom>
          <a:solidFill>
            <a:srgbClr val="D9D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6510528"/>
            <a:ext cx="98755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TASHKENT INTERNATIONAL UNIVERSITY • EKONOMETRIKA • BAKALAVRIAT 3-KURS • by Sarvar Komilov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44784" y="6510528"/>
            <a:ext cx="8229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Aptos"/>
              </a:rPr>
              <a:t>26 / 57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1342136"/>
            <a:ext cx="4892040" cy="1437640"/>
          </a:xfrm>
          <a:prstGeom prst="roundRect">
            <a:avLst/>
          </a:prstGeom>
          <a:solidFill>
            <a:srgbClr val="E5F6F4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27000" rtlCol="0" anchor="t"/>
          <a:lstStyle/>
          <a:p>
            <a:pPr algn="l"/>
            <a:r>
              <a:rPr sz="2300" b="1" dirty="0" err="1">
                <a:solidFill>
                  <a:srgbClr val="0B1F33"/>
                </a:solidFill>
                <a:latin typeface="Aptos"/>
              </a:rPr>
              <a:t>Misol</a:t>
            </a:r>
            <a:endParaRPr sz="2300" b="1" dirty="0">
              <a:solidFill>
                <a:srgbClr val="0B1F33"/>
              </a:solidFill>
              <a:latin typeface="Aptos"/>
            </a:endParaRPr>
          </a:p>
          <a:p>
            <a:pPr algn="l">
              <a:spcBef>
                <a:spcPts val="600"/>
              </a:spcBef>
            </a:pPr>
            <a:r>
              <a:rPr sz="2200" dirty="0">
                <a:solidFill>
                  <a:srgbClr val="1F2937"/>
                </a:solidFill>
                <a:latin typeface="Aptos"/>
              </a:rPr>
              <a:t>2026-</a:t>
            </a:r>
            <a:r>
              <a:rPr sz="2200" dirty="0" err="1">
                <a:solidFill>
                  <a:srgbClr val="1F2937"/>
                </a:solidFill>
                <a:latin typeface="Aptos"/>
              </a:rPr>
              <a:t>yilda</a:t>
            </a:r>
            <a:r>
              <a:rPr sz="2200" dirty="0">
                <a:solidFill>
                  <a:srgbClr val="1F2937"/>
                </a:solidFill>
                <a:latin typeface="Aptos"/>
              </a:rPr>
              <a:t> </a:t>
            </a:r>
            <a:r>
              <a:rPr sz="2200" dirty="0" err="1">
                <a:solidFill>
                  <a:srgbClr val="1F2937"/>
                </a:solidFill>
                <a:latin typeface="Aptos"/>
              </a:rPr>
              <a:t>Toshkentdagi</a:t>
            </a:r>
            <a:r>
              <a:rPr sz="2200" dirty="0">
                <a:solidFill>
                  <a:srgbClr val="1F2937"/>
                </a:solidFill>
                <a:latin typeface="Aptos"/>
              </a:rPr>
              <a:t> 500 ta </a:t>
            </a:r>
            <a:r>
              <a:rPr sz="2200" dirty="0" err="1">
                <a:solidFill>
                  <a:srgbClr val="1F2937"/>
                </a:solidFill>
                <a:latin typeface="Aptos"/>
              </a:rPr>
              <a:t>xonadon</a:t>
            </a:r>
            <a:r>
              <a:rPr sz="2200" dirty="0">
                <a:solidFill>
                  <a:srgbClr val="1F2937"/>
                </a:solidFill>
                <a:latin typeface="Aptos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417320"/>
            <a:ext cx="73152" cy="123444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22960" y="2926080"/>
            <a:ext cx="105156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300" b="0">
                <a:solidFill>
                  <a:srgbClr val="0B1F33"/>
                </a:solidFill>
                <a:latin typeface="Cambria Math"/>
              </a:rPr>
              <a:t>Narxᵢ = β₀ + β₁Maydonᵢ + β₂Joylashuvᵢ + β₃Yoshᵢ + uᵢ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1342136"/>
            <a:ext cx="4754880" cy="1437640"/>
          </a:xfrm>
          <a:prstGeom prst="roundRect">
            <a:avLst/>
          </a:prstGeom>
          <a:solidFill>
            <a:srgbClr val="F8F3E7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27000" rtlCol="0" anchor="t"/>
          <a:lstStyle/>
          <a:p>
            <a:pPr algn="l"/>
            <a:r>
              <a:rPr sz="2300" b="1" dirty="0">
                <a:solidFill>
                  <a:srgbClr val="0B1F33"/>
                </a:solidFill>
                <a:latin typeface="Aptos"/>
              </a:rPr>
              <a:t>Savol</a:t>
            </a:r>
          </a:p>
          <a:p>
            <a:pPr algn="l">
              <a:spcBef>
                <a:spcPts val="600"/>
              </a:spcBef>
            </a:pPr>
            <a:r>
              <a:rPr sz="2000" dirty="0">
                <a:solidFill>
                  <a:srgbClr val="1F2937"/>
                </a:solidFill>
                <a:latin typeface="Aptos"/>
              </a:rPr>
              <a:t>Nega </a:t>
            </a:r>
            <a:r>
              <a:rPr sz="2000" dirty="0" err="1">
                <a:solidFill>
                  <a:srgbClr val="1F2937"/>
                </a:solidFill>
                <a:latin typeface="Aptos"/>
              </a:rPr>
              <a:t>bir</a:t>
            </a:r>
            <a:r>
              <a:rPr sz="2000" dirty="0">
                <a:solidFill>
                  <a:srgbClr val="1F2937"/>
                </a:solidFill>
                <a:latin typeface="Aptos"/>
              </a:rPr>
              <a:t> </a:t>
            </a:r>
            <a:r>
              <a:rPr sz="2000" dirty="0" err="1">
                <a:solidFill>
                  <a:srgbClr val="1F2937"/>
                </a:solidFill>
                <a:latin typeface="Aptos"/>
              </a:rPr>
              <a:t>xil</a:t>
            </a:r>
            <a:r>
              <a:rPr sz="2000" dirty="0">
                <a:solidFill>
                  <a:srgbClr val="1F2937"/>
                </a:solidFill>
                <a:latin typeface="Aptos"/>
              </a:rPr>
              <a:t> </a:t>
            </a:r>
            <a:r>
              <a:rPr sz="2000" dirty="0" err="1">
                <a:solidFill>
                  <a:srgbClr val="1F2937"/>
                </a:solidFill>
                <a:latin typeface="Aptos"/>
              </a:rPr>
              <a:t>davrdagi</a:t>
            </a:r>
            <a:r>
              <a:rPr sz="2000" dirty="0">
                <a:solidFill>
                  <a:srgbClr val="1F2937"/>
                </a:solidFill>
                <a:latin typeface="Aptos"/>
              </a:rPr>
              <a:t> </a:t>
            </a:r>
            <a:r>
              <a:rPr sz="2000" dirty="0" err="1">
                <a:solidFill>
                  <a:srgbClr val="1F2937"/>
                </a:solidFill>
                <a:latin typeface="Aptos"/>
              </a:rPr>
              <a:t>xonadonlarning</a:t>
            </a:r>
            <a:r>
              <a:rPr sz="2000" dirty="0">
                <a:solidFill>
                  <a:srgbClr val="1F2937"/>
                </a:solidFill>
                <a:latin typeface="Aptos"/>
              </a:rPr>
              <a:t> </a:t>
            </a:r>
            <a:r>
              <a:rPr sz="2000" dirty="0" err="1">
                <a:solidFill>
                  <a:srgbClr val="1F2937"/>
                </a:solidFill>
                <a:latin typeface="Aptos"/>
              </a:rPr>
              <a:t>narxlari</a:t>
            </a:r>
            <a:r>
              <a:rPr sz="2000" dirty="0">
                <a:solidFill>
                  <a:srgbClr val="1F2937"/>
                </a:solidFill>
                <a:latin typeface="Aptos"/>
              </a:rPr>
              <a:t> </a:t>
            </a:r>
            <a:r>
              <a:rPr sz="2000" dirty="0" err="1">
                <a:solidFill>
                  <a:srgbClr val="1F2937"/>
                </a:solidFill>
                <a:latin typeface="Aptos"/>
              </a:rPr>
              <a:t>bir-biridan</a:t>
            </a:r>
            <a:r>
              <a:rPr sz="2000" dirty="0">
                <a:solidFill>
                  <a:srgbClr val="1F2937"/>
                </a:solidFill>
                <a:latin typeface="Aptos"/>
              </a:rPr>
              <a:t> </a:t>
            </a:r>
            <a:r>
              <a:rPr sz="2000" dirty="0" err="1">
                <a:solidFill>
                  <a:srgbClr val="1F2937"/>
                </a:solidFill>
                <a:latin typeface="Aptos"/>
              </a:rPr>
              <a:t>farq</a:t>
            </a:r>
            <a:r>
              <a:rPr sz="2000" dirty="0">
                <a:solidFill>
                  <a:srgbClr val="1F2937"/>
                </a:solidFill>
                <a:latin typeface="Aptos"/>
              </a:rPr>
              <a:t> </a:t>
            </a:r>
            <a:r>
              <a:rPr sz="2000" dirty="0" err="1">
                <a:solidFill>
                  <a:srgbClr val="1F2937"/>
                </a:solidFill>
                <a:latin typeface="Aptos"/>
              </a:rPr>
              <a:t>qiladi</a:t>
            </a:r>
            <a:r>
              <a:rPr sz="2000" dirty="0">
                <a:solidFill>
                  <a:srgbClr val="1F2937"/>
                </a:solidFill>
                <a:latin typeface="Aptos"/>
              </a:rPr>
              <a:t>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417320"/>
            <a:ext cx="73152" cy="1234440"/>
          </a:xfrm>
          <a:prstGeom prst="roundRect">
            <a:avLst/>
          </a:prstGeom>
          <a:solidFill>
            <a:srgbClr val="C2A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05840" y="4160520"/>
            <a:ext cx="164592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B1F33"/>
                </a:solidFill>
                <a:latin typeface="Aptos"/>
              </a:rPr>
              <a:t>Xonadon 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17520" y="4160520"/>
            <a:ext cx="164592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B1F33"/>
                </a:solidFill>
                <a:latin typeface="Aptos"/>
              </a:rPr>
              <a:t>Xonadon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0" y="4160520"/>
            <a:ext cx="164592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B1F33"/>
                </a:solidFill>
                <a:latin typeface="Aptos"/>
              </a:rPr>
              <a:t>Xonadon 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40880" y="4160520"/>
            <a:ext cx="164592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B1F33"/>
                </a:solidFill>
                <a:latin typeface="Aptos"/>
              </a:rPr>
              <a:t>Xonadon 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52560" y="4160520"/>
            <a:ext cx="164592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A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B1F33"/>
                </a:solidFill>
                <a:latin typeface="Aptos"/>
              </a:rPr>
              <a:t>Xonadon 500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074920"/>
            <a:ext cx="95097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>
                <a:solidFill>
                  <a:srgbClr val="0B1F33"/>
                </a:solidFill>
                <a:latin typeface="Aptos"/>
              </a:rPr>
              <a:t>Kesim ma’lumotlari — bir davrda ko‘plab birliklar bo‘yicha yig‘ilgan kuzatuvlar.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9184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Aptos"/>
              </a:rPr>
              <a:t>MA’LUMOT TURI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76072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0B1F33"/>
                </a:solidFill>
                <a:latin typeface="Aptos Display"/>
              </a:rPr>
              <a:t>Vaqt qatori: bitta jarayonning vaqt davomida o‘zgarishi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097280" cy="254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tiu-blu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84048"/>
            <a:ext cx="960120" cy="40901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12064" y="6446520"/>
            <a:ext cx="11201400" cy="15240"/>
          </a:xfrm>
          <a:prstGeom prst="rect">
            <a:avLst/>
          </a:prstGeom>
          <a:solidFill>
            <a:srgbClr val="D9D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6510528"/>
            <a:ext cx="98755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TASHKENT INTERNATIONAL UNIVERSITY • EKONOMETRIKA • BAKALAVRIAT 3-KURS • by Sarvar Komilov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44784" y="6510528"/>
            <a:ext cx="8229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Aptos"/>
              </a:rPr>
              <a:t>27 / 57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1417320"/>
            <a:ext cx="1014984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500" b="0">
                <a:solidFill>
                  <a:srgbClr val="0B1F33"/>
                </a:solidFill>
                <a:latin typeface="Cambria Math"/>
              </a:rPr>
              <a:t>Inflyatsiyaₜ = f(ValyutaKursiₜ, FoizStavkasiₜ, …)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2743200"/>
            <a:ext cx="1869033" cy="502920"/>
          </a:xfrm>
          <a:prstGeom prst="roundRect">
            <a:avLst/>
          </a:prstGeom>
          <a:solidFill>
            <a:srgbClr val="E5F6F4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0B1F33"/>
                </a:solidFill>
                <a:latin typeface="Aptos"/>
              </a:rPr>
              <a:t>2017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48025" y="2843784"/>
            <a:ext cx="16459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>
                <a:solidFill>
                  <a:srgbClr val="C2A56B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76041" y="2743200"/>
            <a:ext cx="1869033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0B1F33"/>
                </a:solidFill>
                <a:latin typeface="Aptos"/>
              </a:rPr>
              <a:t>2018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26787" y="2843784"/>
            <a:ext cx="16459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>
                <a:solidFill>
                  <a:srgbClr val="C2A56B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54803" y="2743200"/>
            <a:ext cx="1869033" cy="502920"/>
          </a:xfrm>
          <a:prstGeom prst="roundRect">
            <a:avLst/>
          </a:prstGeom>
          <a:solidFill>
            <a:srgbClr val="E5F6F4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0B1F33"/>
                </a:solidFill>
                <a:latin typeface="Aptos"/>
              </a:rPr>
              <a:t>2019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5548" y="2843784"/>
            <a:ext cx="16459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>
                <a:solidFill>
                  <a:srgbClr val="C2A56B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33564" y="2743200"/>
            <a:ext cx="1869033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0B1F33"/>
                </a:solidFill>
                <a:latin typeface="Aptos"/>
              </a:rPr>
              <a:t>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84310" y="2843784"/>
            <a:ext cx="16459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>
                <a:solidFill>
                  <a:srgbClr val="C2A56B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12326" y="2743200"/>
            <a:ext cx="1869033" cy="502920"/>
          </a:xfrm>
          <a:prstGeom prst="roundRect">
            <a:avLst/>
          </a:prstGeom>
          <a:solidFill>
            <a:srgbClr val="E5F6F4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0B1F33"/>
                </a:solidFill>
                <a:latin typeface="Aptos"/>
              </a:rPr>
              <a:t>2026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42999" y="3886200"/>
            <a:ext cx="4846320" cy="1478280"/>
          </a:xfrm>
          <a:prstGeom prst="roundRect">
            <a:avLst/>
          </a:prstGeom>
          <a:solidFill>
            <a:srgbClr val="E5F6F4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27000" rtlCol="0" anchor="t"/>
          <a:lstStyle/>
          <a:p>
            <a:pPr algn="l"/>
            <a:r>
              <a:rPr sz="2000" b="1" dirty="0" err="1">
                <a:solidFill>
                  <a:srgbClr val="0B1F33"/>
                </a:solidFill>
                <a:latin typeface="Aptos"/>
              </a:rPr>
              <a:t>Ta’rif</a:t>
            </a:r>
            <a:endParaRPr sz="2000" b="1" dirty="0">
              <a:solidFill>
                <a:srgbClr val="0B1F33"/>
              </a:solidFill>
              <a:latin typeface="Aptos"/>
            </a:endParaRPr>
          </a:p>
          <a:p>
            <a:pPr algn="l">
              <a:spcBef>
                <a:spcPts val="600"/>
              </a:spcBef>
            </a:pPr>
            <a:r>
              <a:rPr sz="1800" dirty="0" err="1">
                <a:solidFill>
                  <a:srgbClr val="1F2937"/>
                </a:solidFill>
                <a:latin typeface="Aptos"/>
              </a:rPr>
              <a:t>Vaqt</a:t>
            </a:r>
            <a:r>
              <a:rPr sz="1800" dirty="0">
                <a:solidFill>
                  <a:srgbClr val="1F2937"/>
                </a:solidFill>
                <a:latin typeface="Aptos"/>
              </a:rPr>
              <a:t> </a:t>
            </a:r>
            <a:r>
              <a:rPr sz="1800" dirty="0" err="1">
                <a:solidFill>
                  <a:srgbClr val="1F2937"/>
                </a:solidFill>
                <a:latin typeface="Aptos"/>
              </a:rPr>
              <a:t>qatori</a:t>
            </a:r>
            <a:r>
              <a:rPr sz="1800" dirty="0">
                <a:solidFill>
                  <a:srgbClr val="1F2937"/>
                </a:solidFill>
                <a:latin typeface="Aptos"/>
              </a:rPr>
              <a:t> </a:t>
            </a:r>
            <a:r>
              <a:rPr sz="1800" dirty="0" err="1">
                <a:solidFill>
                  <a:srgbClr val="1F2937"/>
                </a:solidFill>
                <a:latin typeface="Aptos"/>
              </a:rPr>
              <a:t>ma’lumotlari</a:t>
            </a:r>
            <a:r>
              <a:rPr sz="1800" dirty="0">
                <a:solidFill>
                  <a:srgbClr val="1F2937"/>
                </a:solidFill>
                <a:latin typeface="Aptos"/>
              </a:rPr>
              <a:t> — </a:t>
            </a:r>
            <a:r>
              <a:rPr sz="1800" dirty="0" err="1">
                <a:solidFill>
                  <a:srgbClr val="1F2937"/>
                </a:solidFill>
                <a:latin typeface="Aptos"/>
              </a:rPr>
              <a:t>iqtisodiy</a:t>
            </a:r>
            <a:r>
              <a:rPr sz="1800" dirty="0">
                <a:solidFill>
                  <a:srgbClr val="1F2937"/>
                </a:solidFill>
                <a:latin typeface="Aptos"/>
              </a:rPr>
              <a:t> </a:t>
            </a:r>
            <a:r>
              <a:rPr sz="1800" dirty="0" err="1">
                <a:solidFill>
                  <a:srgbClr val="1F2937"/>
                </a:solidFill>
                <a:latin typeface="Aptos"/>
              </a:rPr>
              <a:t>ko‘rsatkichlarning</a:t>
            </a:r>
            <a:r>
              <a:rPr sz="1800" dirty="0">
                <a:solidFill>
                  <a:srgbClr val="1F2937"/>
                </a:solidFill>
                <a:latin typeface="Aptos"/>
              </a:rPr>
              <a:t> </a:t>
            </a:r>
            <a:r>
              <a:rPr sz="1800" dirty="0" err="1">
                <a:solidFill>
                  <a:srgbClr val="1F2937"/>
                </a:solidFill>
                <a:latin typeface="Aptos"/>
              </a:rPr>
              <a:t>vaqt</a:t>
            </a:r>
            <a:r>
              <a:rPr sz="1800" dirty="0">
                <a:solidFill>
                  <a:srgbClr val="1F2937"/>
                </a:solidFill>
                <a:latin typeface="Aptos"/>
              </a:rPr>
              <a:t> </a:t>
            </a:r>
            <a:r>
              <a:rPr sz="1800" dirty="0" err="1">
                <a:solidFill>
                  <a:srgbClr val="1F2937"/>
                </a:solidFill>
                <a:latin typeface="Aptos"/>
              </a:rPr>
              <a:t>davomida</a:t>
            </a:r>
            <a:r>
              <a:rPr sz="1800" dirty="0">
                <a:solidFill>
                  <a:srgbClr val="1F2937"/>
                </a:solidFill>
                <a:latin typeface="Aptos"/>
              </a:rPr>
              <a:t> </a:t>
            </a:r>
            <a:r>
              <a:rPr sz="1800" dirty="0" err="1">
                <a:solidFill>
                  <a:srgbClr val="1F2937"/>
                </a:solidFill>
                <a:latin typeface="Aptos"/>
              </a:rPr>
              <a:t>ketma</a:t>
            </a:r>
            <a:r>
              <a:rPr sz="1800" dirty="0">
                <a:solidFill>
                  <a:srgbClr val="1F2937"/>
                </a:solidFill>
                <a:latin typeface="Aptos"/>
              </a:rPr>
              <a:t>-ket </a:t>
            </a:r>
            <a:r>
              <a:rPr sz="1800" dirty="0" err="1">
                <a:solidFill>
                  <a:srgbClr val="1F2937"/>
                </a:solidFill>
                <a:latin typeface="Aptos"/>
              </a:rPr>
              <a:t>kuzatilgan</a:t>
            </a:r>
            <a:r>
              <a:rPr sz="1800" dirty="0">
                <a:solidFill>
                  <a:srgbClr val="1F2937"/>
                </a:solidFill>
                <a:latin typeface="Aptos"/>
              </a:rPr>
              <a:t> </a:t>
            </a:r>
            <a:r>
              <a:rPr sz="1800" dirty="0" err="1">
                <a:solidFill>
                  <a:srgbClr val="1F2937"/>
                </a:solidFill>
                <a:latin typeface="Aptos"/>
              </a:rPr>
              <a:t>qiymatlari</a:t>
            </a:r>
            <a:r>
              <a:rPr sz="1800" dirty="0">
                <a:solidFill>
                  <a:srgbClr val="1F2937"/>
                </a:solidFill>
                <a:latin typeface="Aptos"/>
              </a:rPr>
              <a:t>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5840" y="3931920"/>
            <a:ext cx="73152" cy="128016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83680" y="3977639"/>
            <a:ext cx="4114800" cy="132588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0">
                <a:solidFill>
                  <a:srgbClr val="1F2937"/>
                </a:solidFill>
                <a:latin typeface="Aptos"/>
              </a:rPr>
              <a:t>• inflyatsiya</a:t>
            </a:r>
          </a:p>
          <a:p>
            <a:pPr algn="l">
              <a:spcAft>
                <a:spcPts val="500"/>
              </a:spcAft>
            </a:pPr>
            <a:r>
              <a:rPr sz="2000" b="0">
                <a:solidFill>
                  <a:srgbClr val="1F2937"/>
                </a:solidFill>
                <a:latin typeface="Aptos"/>
              </a:rPr>
              <a:t>• valyuta kursi</a:t>
            </a:r>
          </a:p>
          <a:p>
            <a:pPr algn="l">
              <a:spcAft>
                <a:spcPts val="500"/>
              </a:spcAft>
            </a:pPr>
            <a:r>
              <a:rPr sz="2000" b="0">
                <a:solidFill>
                  <a:srgbClr val="1F2937"/>
                </a:solidFill>
                <a:latin typeface="Aptos"/>
              </a:rPr>
              <a:t>• YAIM</a:t>
            </a:r>
          </a:p>
          <a:p>
            <a:pPr algn="l">
              <a:spcAft>
                <a:spcPts val="500"/>
              </a:spcAft>
            </a:pPr>
            <a:r>
              <a:rPr sz="2000" b="0">
                <a:solidFill>
                  <a:srgbClr val="1F2937"/>
                </a:solidFill>
                <a:latin typeface="Aptos"/>
              </a:rPr>
              <a:t>• foiz stavkasi</a:t>
            </a:r>
          </a:p>
          <a:p>
            <a:pPr algn="l">
              <a:spcAft>
                <a:spcPts val="500"/>
              </a:spcAft>
            </a:pPr>
            <a:r>
              <a:rPr sz="2000" b="0">
                <a:solidFill>
                  <a:srgbClr val="1F2937"/>
                </a:solidFill>
                <a:latin typeface="Aptos"/>
              </a:rPr>
              <a:t>• aksiyalar narxi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9184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Aptos"/>
              </a:rPr>
              <a:t>MA’LUMOT TURI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76072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0B1F33"/>
                </a:solidFill>
                <a:latin typeface="Aptos Display"/>
              </a:rPr>
              <a:t>Panel ma’lumotlari: obyekt + vaqt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097280" cy="254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tiu-blu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84048"/>
            <a:ext cx="960120" cy="40901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12064" y="6446520"/>
            <a:ext cx="11201400" cy="15240"/>
          </a:xfrm>
          <a:prstGeom prst="rect">
            <a:avLst/>
          </a:prstGeom>
          <a:solidFill>
            <a:srgbClr val="D9D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6510528"/>
            <a:ext cx="98755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TASHKENT INTERNATIONAL UNIVERSITY • EKONOMETRIKA • BAKALAVRIAT 3-KURS • by Sarvar Komilov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44784" y="6510528"/>
            <a:ext cx="8229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Aptos"/>
              </a:rPr>
              <a:t>28 / 57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325880"/>
            <a:ext cx="3657600" cy="1097280"/>
          </a:xfrm>
          <a:prstGeom prst="roundRect">
            <a:avLst/>
          </a:prstGeom>
          <a:solidFill>
            <a:srgbClr val="F8F3E7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27000" rtlCol="0" anchor="t"/>
          <a:lstStyle/>
          <a:p>
            <a:pPr algn="ctr"/>
            <a:r>
              <a:rPr sz="2400" b="1">
                <a:solidFill>
                  <a:srgbClr val="0B1F33"/>
                </a:solidFill>
                <a:latin typeface="Aptos"/>
              </a:rPr>
              <a:t>Misol</a:t>
            </a:r>
          </a:p>
          <a:p>
            <a:pPr algn="ctr">
              <a:spcBef>
                <a:spcPts val="600"/>
              </a:spcBef>
            </a:pPr>
            <a:r>
              <a:rPr sz="2200">
                <a:solidFill>
                  <a:srgbClr val="1F2937"/>
                </a:solidFill>
                <a:latin typeface="Aptos"/>
              </a:rPr>
              <a:t>100 ta kompaniya × 10 yil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325880"/>
            <a:ext cx="73152" cy="1097280"/>
          </a:xfrm>
          <a:prstGeom prst="roundRect">
            <a:avLst/>
          </a:prstGeom>
          <a:solidFill>
            <a:srgbClr val="C2A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937760" y="1417320"/>
            <a:ext cx="612648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0">
                <a:solidFill>
                  <a:srgbClr val="0B1F33"/>
                </a:solidFill>
                <a:latin typeface="Cambria Math"/>
              </a:rPr>
              <a:t>Foydaᵢₜ = β₀ + β₁Investitsiyaᵢₜ + uᵢₜ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77440" y="2743200"/>
            <a:ext cx="1005840" cy="411480"/>
          </a:xfrm>
          <a:prstGeom prst="roundRect">
            <a:avLst/>
          </a:prstGeom>
          <a:solidFill>
            <a:srgbClr val="E8EFF8"/>
          </a:solidFill>
          <a:ln w="12700">
            <a:solidFill>
              <a:srgbClr val="12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2017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2743200"/>
            <a:ext cx="1005840" cy="411480"/>
          </a:xfrm>
          <a:prstGeom prst="roundRect">
            <a:avLst/>
          </a:prstGeom>
          <a:solidFill>
            <a:srgbClr val="E8EFF8"/>
          </a:solidFill>
          <a:ln w="12700">
            <a:solidFill>
              <a:srgbClr val="12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2018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2743200"/>
            <a:ext cx="1005840" cy="411480"/>
          </a:xfrm>
          <a:prstGeom prst="roundRect">
            <a:avLst/>
          </a:prstGeom>
          <a:solidFill>
            <a:srgbClr val="E8EFF8"/>
          </a:solidFill>
          <a:ln w="12700">
            <a:solidFill>
              <a:srgbClr val="12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2019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94960" y="2743200"/>
            <a:ext cx="1005840" cy="411480"/>
          </a:xfrm>
          <a:prstGeom prst="roundRect">
            <a:avLst/>
          </a:prstGeom>
          <a:solidFill>
            <a:srgbClr val="E8EFF8"/>
          </a:solidFill>
          <a:ln w="12700">
            <a:solidFill>
              <a:srgbClr val="12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2743200"/>
            <a:ext cx="1005840" cy="411480"/>
          </a:xfrm>
          <a:prstGeom prst="roundRect">
            <a:avLst/>
          </a:prstGeom>
          <a:solidFill>
            <a:srgbClr val="E8EFF8"/>
          </a:solidFill>
          <a:ln w="12700">
            <a:solidFill>
              <a:srgbClr val="12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2026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246120"/>
            <a:ext cx="1371600" cy="411480"/>
          </a:xfrm>
          <a:prstGeom prst="roundRect">
            <a:avLst/>
          </a:prstGeom>
          <a:solidFill>
            <a:srgbClr val="F1F4F7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B1F33"/>
                </a:solidFill>
                <a:latin typeface="Aptos"/>
              </a:rPr>
              <a:t>Kompaniya 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3657600"/>
            <a:ext cx="1371600" cy="411480"/>
          </a:xfrm>
          <a:prstGeom prst="roundRect">
            <a:avLst/>
          </a:prstGeom>
          <a:solidFill>
            <a:srgbClr val="F1F4F7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B1F33"/>
                </a:solidFill>
                <a:latin typeface="Aptos"/>
              </a:rPr>
              <a:t>Kompaniya 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4069080"/>
            <a:ext cx="1371600" cy="411480"/>
          </a:xfrm>
          <a:prstGeom prst="roundRect">
            <a:avLst/>
          </a:prstGeom>
          <a:solidFill>
            <a:srgbClr val="F1F4F7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B1F33"/>
                </a:solidFill>
                <a:latin typeface="Aptos"/>
              </a:rPr>
              <a:t>Kompaniya 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480560"/>
            <a:ext cx="1371600" cy="411480"/>
          </a:xfrm>
          <a:prstGeom prst="roundRect">
            <a:avLst/>
          </a:prstGeom>
          <a:solidFill>
            <a:srgbClr val="F1F4F7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B1F33"/>
                </a:solidFill>
                <a:latin typeface="Aptos"/>
              </a:rPr>
              <a:t>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4892040"/>
            <a:ext cx="1371600" cy="411480"/>
          </a:xfrm>
          <a:prstGeom prst="roundRect">
            <a:avLst/>
          </a:prstGeom>
          <a:solidFill>
            <a:srgbClr val="F1F4F7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B1F33"/>
                </a:solidFill>
                <a:latin typeface="Aptos"/>
              </a:rPr>
              <a:t>Kompaniya 100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77440" y="3246120"/>
            <a:ext cx="1005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383280" y="3246120"/>
            <a:ext cx="1005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389120" y="3246120"/>
            <a:ext cx="1005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394960" y="3246120"/>
            <a:ext cx="1005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400800" y="3246120"/>
            <a:ext cx="1005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377440" y="3657600"/>
            <a:ext cx="1005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383280" y="3657600"/>
            <a:ext cx="1005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389120" y="3657600"/>
            <a:ext cx="1005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394960" y="3657600"/>
            <a:ext cx="1005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400800" y="3657600"/>
            <a:ext cx="1005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2377440" y="4069080"/>
            <a:ext cx="1005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3383280" y="4069080"/>
            <a:ext cx="1005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389120" y="4069080"/>
            <a:ext cx="1005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394960" y="4069080"/>
            <a:ext cx="1005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400800" y="4069080"/>
            <a:ext cx="1005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2377440" y="4480560"/>
            <a:ext cx="1005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3383280" y="4480560"/>
            <a:ext cx="1005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4389120" y="4480560"/>
            <a:ext cx="1005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5394960" y="4480560"/>
            <a:ext cx="1005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400800" y="4480560"/>
            <a:ext cx="1005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2377440" y="4892040"/>
            <a:ext cx="1005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3383280" y="4892040"/>
            <a:ext cx="1005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4389120" y="4892040"/>
            <a:ext cx="1005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5394960" y="4892040"/>
            <a:ext cx="1005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400800" y="4892040"/>
            <a:ext cx="1005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8001001" y="3017520"/>
            <a:ext cx="3977639" cy="1961886"/>
          </a:xfrm>
          <a:prstGeom prst="roundRect">
            <a:avLst/>
          </a:prstGeom>
          <a:solidFill>
            <a:srgbClr val="E5F6F4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27000" rtlCol="0" anchor="t"/>
          <a:lstStyle/>
          <a:p>
            <a:pPr algn="l"/>
            <a:r>
              <a:rPr sz="2100" b="1" dirty="0" err="1">
                <a:solidFill>
                  <a:srgbClr val="0B1F33"/>
                </a:solidFill>
                <a:latin typeface="Aptos"/>
              </a:rPr>
              <a:t>i</a:t>
            </a:r>
            <a:r>
              <a:rPr sz="2100" b="1" dirty="0">
                <a:solidFill>
                  <a:srgbClr val="0B1F33"/>
                </a:solidFill>
                <a:latin typeface="Aptos"/>
              </a:rPr>
              <a:t> = </a:t>
            </a:r>
            <a:r>
              <a:rPr sz="2100" b="1" dirty="0" err="1">
                <a:solidFill>
                  <a:srgbClr val="0B1F33"/>
                </a:solidFill>
                <a:latin typeface="Aptos"/>
              </a:rPr>
              <a:t>obyekt</a:t>
            </a:r>
            <a:r>
              <a:rPr sz="2100" b="1" dirty="0">
                <a:solidFill>
                  <a:srgbClr val="0B1F33"/>
                </a:solidFill>
                <a:latin typeface="Aptos"/>
              </a:rPr>
              <a:t>
t = </a:t>
            </a:r>
            <a:r>
              <a:rPr sz="2100" b="1" dirty="0" err="1">
                <a:solidFill>
                  <a:srgbClr val="0B1F33"/>
                </a:solidFill>
                <a:latin typeface="Aptos"/>
              </a:rPr>
              <a:t>vaqt</a:t>
            </a:r>
            <a:endParaRPr sz="2100" b="1" dirty="0">
              <a:solidFill>
                <a:srgbClr val="0B1F33"/>
              </a:solidFill>
              <a:latin typeface="Aptos"/>
            </a:endParaRPr>
          </a:p>
          <a:p>
            <a:pPr algn="l">
              <a:spcBef>
                <a:spcPts val="600"/>
              </a:spcBef>
            </a:pPr>
            <a:r>
              <a:rPr sz="1800" dirty="0">
                <a:solidFill>
                  <a:srgbClr val="1F2937"/>
                </a:solidFill>
                <a:latin typeface="Aptos"/>
              </a:rPr>
              <a:t>Panel </a:t>
            </a:r>
            <a:r>
              <a:rPr sz="1800" dirty="0" err="1">
                <a:solidFill>
                  <a:srgbClr val="1F2937"/>
                </a:solidFill>
                <a:latin typeface="Aptos"/>
              </a:rPr>
              <a:t>bir</a:t>
            </a:r>
            <a:r>
              <a:rPr sz="1800" dirty="0">
                <a:solidFill>
                  <a:srgbClr val="1F2937"/>
                </a:solidFill>
                <a:latin typeface="Aptos"/>
              </a:rPr>
              <a:t> </a:t>
            </a:r>
            <a:r>
              <a:rPr sz="1800" dirty="0" err="1">
                <a:solidFill>
                  <a:srgbClr val="1F2937"/>
                </a:solidFill>
                <a:latin typeface="Aptos"/>
              </a:rPr>
              <a:t>vaqtning</a:t>
            </a:r>
            <a:r>
              <a:rPr sz="1800" dirty="0">
                <a:solidFill>
                  <a:srgbClr val="1F2937"/>
                </a:solidFill>
                <a:latin typeface="Aptos"/>
              </a:rPr>
              <a:t> </a:t>
            </a:r>
            <a:r>
              <a:rPr sz="1800" dirty="0" err="1">
                <a:solidFill>
                  <a:srgbClr val="1F2937"/>
                </a:solidFill>
                <a:latin typeface="Aptos"/>
              </a:rPr>
              <a:t>o‘zida</a:t>
            </a:r>
            <a:r>
              <a:rPr sz="1800" dirty="0">
                <a:solidFill>
                  <a:srgbClr val="1F2937"/>
                </a:solidFill>
                <a:latin typeface="Aptos"/>
              </a:rPr>
              <a:t> </a:t>
            </a:r>
            <a:r>
              <a:rPr sz="1800" dirty="0" err="1">
                <a:solidFill>
                  <a:srgbClr val="1F2937"/>
                </a:solidFill>
                <a:latin typeface="Aptos"/>
              </a:rPr>
              <a:t>obyektlar</a:t>
            </a:r>
            <a:r>
              <a:rPr sz="1800" dirty="0">
                <a:solidFill>
                  <a:srgbClr val="1F2937"/>
                </a:solidFill>
                <a:latin typeface="Aptos"/>
              </a:rPr>
              <a:t> </a:t>
            </a:r>
            <a:r>
              <a:rPr sz="1800" dirty="0" err="1">
                <a:solidFill>
                  <a:srgbClr val="1F2937"/>
                </a:solidFill>
                <a:latin typeface="Aptos"/>
              </a:rPr>
              <a:t>va</a:t>
            </a:r>
            <a:r>
              <a:rPr sz="1800" dirty="0">
                <a:solidFill>
                  <a:srgbClr val="1F2937"/>
                </a:solidFill>
                <a:latin typeface="Aptos"/>
              </a:rPr>
              <a:t> </a:t>
            </a:r>
            <a:r>
              <a:rPr sz="1800" dirty="0" err="1">
                <a:solidFill>
                  <a:srgbClr val="1F2937"/>
                </a:solidFill>
                <a:latin typeface="Aptos"/>
              </a:rPr>
              <a:t>vaqt</a:t>
            </a:r>
            <a:r>
              <a:rPr sz="1800" dirty="0">
                <a:solidFill>
                  <a:srgbClr val="1F2937"/>
                </a:solidFill>
                <a:latin typeface="Aptos"/>
              </a:rPr>
              <a:t> </a:t>
            </a:r>
            <a:r>
              <a:rPr sz="1800" dirty="0" err="1">
                <a:solidFill>
                  <a:srgbClr val="1F2937"/>
                </a:solidFill>
                <a:latin typeface="Aptos"/>
              </a:rPr>
              <a:t>bo‘yicha</a:t>
            </a:r>
            <a:r>
              <a:rPr sz="1800" dirty="0">
                <a:solidFill>
                  <a:srgbClr val="1F2937"/>
                </a:solidFill>
                <a:latin typeface="Aptos"/>
              </a:rPr>
              <a:t> </a:t>
            </a:r>
            <a:r>
              <a:rPr sz="1800" dirty="0" err="1">
                <a:solidFill>
                  <a:srgbClr val="1F2937"/>
                </a:solidFill>
                <a:latin typeface="Aptos"/>
              </a:rPr>
              <a:t>farqlarni</a:t>
            </a:r>
            <a:r>
              <a:rPr sz="1800" dirty="0">
                <a:solidFill>
                  <a:srgbClr val="1F2937"/>
                </a:solidFill>
                <a:latin typeface="Aptos"/>
              </a:rPr>
              <a:t> </a:t>
            </a:r>
            <a:r>
              <a:rPr sz="1800" dirty="0" err="1">
                <a:solidFill>
                  <a:srgbClr val="1F2937"/>
                </a:solidFill>
                <a:latin typeface="Aptos"/>
              </a:rPr>
              <a:t>o‘rganadi</a:t>
            </a:r>
            <a:r>
              <a:rPr sz="1800" dirty="0">
                <a:solidFill>
                  <a:srgbClr val="1F2937"/>
                </a:solidFill>
                <a:latin typeface="Aptos"/>
              </a:rPr>
              <a:t>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766306" y="3042416"/>
            <a:ext cx="73152" cy="1961885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9184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Aptos"/>
              </a:rPr>
              <a:t>FUNKSIONAL SHAKL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76072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0B1F33"/>
                </a:solidFill>
                <a:latin typeface="Aptos Display"/>
              </a:rPr>
              <a:t>Chiziqli modelning asosiy g‘oyasi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097280" cy="254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tiu-blu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84048"/>
            <a:ext cx="960120" cy="40901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12064" y="6446520"/>
            <a:ext cx="11201400" cy="15240"/>
          </a:xfrm>
          <a:prstGeom prst="rect">
            <a:avLst/>
          </a:prstGeom>
          <a:solidFill>
            <a:srgbClr val="D9D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6510528"/>
            <a:ext cx="98755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TASHKENT INTERNATIONAL UNIVERSITY • EKONOMETRIKA • BAKALAVRIAT 3-KURS • by Sarvar Komilov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44784" y="6510528"/>
            <a:ext cx="8229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Aptos"/>
              </a:rPr>
              <a:t>29 / 57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417320"/>
            <a:ext cx="38404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000" b="0">
                <a:solidFill>
                  <a:srgbClr val="0B1F33"/>
                </a:solidFill>
                <a:latin typeface="Cambria Math"/>
              </a:rPr>
              <a:t>Y = β₀ + β₁X + u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0" y="1417320"/>
            <a:ext cx="49377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989320" y="4343400"/>
            <a:ext cx="4114800" cy="1905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989320" y="1783080"/>
            <a:ext cx="19050" cy="256032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263640" y="3977639"/>
            <a:ext cx="82296" cy="82296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629400" y="3749039"/>
            <a:ext cx="82296" cy="82296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995160" y="3337560"/>
            <a:ext cx="82296" cy="82296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360920" y="3474720"/>
            <a:ext cx="82296" cy="82296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818120" y="2926080"/>
            <a:ext cx="82296" cy="82296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229600" y="2743200"/>
            <a:ext cx="82296" cy="82296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641080" y="2331720"/>
            <a:ext cx="82296" cy="82296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144000" y="2514600"/>
            <a:ext cx="82296" cy="82296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9555480" y="1874519"/>
            <a:ext cx="82296" cy="82296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2" name="Connector 21"/>
          <p:cNvCxnSpPr/>
          <p:nvPr/>
        </p:nvCxnSpPr>
        <p:spPr>
          <a:xfrm flipV="1">
            <a:off x="6217920" y="1920240"/>
            <a:ext cx="3520440" cy="2148840"/>
          </a:xfrm>
          <a:prstGeom prst="line">
            <a:avLst/>
          </a:prstGeom>
          <a:ln w="38100">
            <a:solidFill>
              <a:srgbClr val="C2A5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0149840" y="4206240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64748B"/>
                </a:solidFill>
                <a:latin typeface="Aptos"/>
              </a:rPr>
              <a:t>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0" y="1554480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64748B"/>
                </a:solidFill>
                <a:latin typeface="Aptos"/>
              </a:rPr>
              <a:t>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" y="2560320"/>
            <a:ext cx="4206240" cy="2103120"/>
          </a:xfrm>
          <a:prstGeom prst="roundRect">
            <a:avLst/>
          </a:prstGeom>
          <a:solidFill>
            <a:srgbClr val="E5F6F4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27000" rtlCol="0" anchor="t"/>
          <a:lstStyle/>
          <a:p>
            <a:pPr algn="l"/>
            <a:r>
              <a:rPr sz="2100" b="1">
                <a:solidFill>
                  <a:srgbClr val="0B1F33"/>
                </a:solidFill>
                <a:latin typeface="Aptos"/>
              </a:rPr>
              <a:t>Talqin</a:t>
            </a:r>
          </a:p>
          <a:p>
            <a:pPr algn="l">
              <a:spcBef>
                <a:spcPts val="600"/>
              </a:spcBef>
            </a:pPr>
            <a:r>
              <a:rPr sz="1800">
                <a:solidFill>
                  <a:srgbClr val="1F2937"/>
                </a:solidFill>
                <a:latin typeface="Aptos"/>
              </a:rPr>
              <a:t>Chiziqli modelda X va Y o‘rtasidagi munosabat parametrlar bo‘yicha chiziqli shaklda ifodalanadi. X bir birlik o‘zgarganda Y ning kutilayotgan o‘zgarishi β₁ orqali ifodalanadi.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8680" y="2560320"/>
            <a:ext cx="73152" cy="210312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188720" y="5257800"/>
            <a:ext cx="9784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>
                <a:solidFill>
                  <a:srgbClr val="0B1F33"/>
                </a:solidFill>
                <a:latin typeface="Aptos"/>
              </a:rPr>
              <a:t>Chiziqli model — ekonometrik tahlilning muhim boshlang‘ich modellaridan biri.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9184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Aptos"/>
              </a:rPr>
              <a:t>CHIZIQLI BO‘LMAGAN MUNOSABAT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76072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0B1F33"/>
                </a:solidFill>
                <a:latin typeface="Aptos Display"/>
              </a:rPr>
              <a:t>Bir xil qo‘shimcha xarajat har doim bir xil natija beradimi?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097280" cy="254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tiu-blu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84048"/>
            <a:ext cx="960120" cy="40901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12064" y="6446520"/>
            <a:ext cx="11201400" cy="15240"/>
          </a:xfrm>
          <a:prstGeom prst="rect">
            <a:avLst/>
          </a:prstGeom>
          <a:solidFill>
            <a:srgbClr val="D9D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6510528"/>
            <a:ext cx="98755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TASHKENT INTERNATIONAL UNIVERSITY • EKONOMETRIKA • BAKALAVRIAT 3-KURS • by Sarvar Komilov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44784" y="6510528"/>
            <a:ext cx="8229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Aptos"/>
              </a:rPr>
              <a:t>30 / 57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417320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0B1F33"/>
                </a:solidFill>
                <a:latin typeface="Aptos"/>
              </a:rPr>
              <a:t>REKLAMA XARAJATI → SOTUV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51560" y="1933951"/>
            <a:ext cx="4754880" cy="1345692"/>
          </a:xfrm>
          <a:prstGeom prst="roundRect">
            <a:avLst/>
          </a:prstGeom>
          <a:solidFill>
            <a:srgbClr val="E5F6F4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27000" rtlCol="0" anchor="t"/>
          <a:lstStyle/>
          <a:p>
            <a:pPr algn="l"/>
            <a:r>
              <a:rPr sz="2100" b="1">
                <a:solidFill>
                  <a:srgbClr val="0B1F33"/>
                </a:solidFill>
                <a:latin typeface="Aptos"/>
              </a:rPr>
              <a:t>Past xarajat darajasida</a:t>
            </a:r>
          </a:p>
          <a:p>
            <a:pPr algn="l">
              <a:spcBef>
                <a:spcPts val="600"/>
              </a:spcBef>
            </a:pPr>
            <a:r>
              <a:rPr sz="2000">
                <a:solidFill>
                  <a:srgbClr val="1F2937"/>
                </a:solidFill>
                <a:latin typeface="Aptos"/>
              </a:rPr>
              <a:t>qo‘shimcha reklamaning ta’siri katta bo‘lishi mumkin.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2057400"/>
            <a:ext cx="73152" cy="100584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36321" y="3383279"/>
            <a:ext cx="4754880" cy="1666677"/>
          </a:xfrm>
          <a:prstGeom prst="roundRect">
            <a:avLst/>
          </a:prstGeom>
          <a:solidFill>
            <a:srgbClr val="F8F3E7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27000" rtlCol="0" anchor="t"/>
          <a:lstStyle/>
          <a:p>
            <a:pPr algn="l"/>
            <a:r>
              <a:rPr sz="2100" b="1" dirty="0" err="1">
                <a:solidFill>
                  <a:srgbClr val="0B1F33"/>
                </a:solidFill>
                <a:latin typeface="Aptos"/>
              </a:rPr>
              <a:t>Yuqori</a:t>
            </a:r>
            <a:r>
              <a:rPr sz="2100" b="1" dirty="0">
                <a:solidFill>
                  <a:srgbClr val="0B1F33"/>
                </a:solidFill>
                <a:latin typeface="Aptos"/>
              </a:rPr>
              <a:t> </a:t>
            </a:r>
            <a:r>
              <a:rPr sz="2100" b="1" dirty="0" err="1">
                <a:solidFill>
                  <a:srgbClr val="0B1F33"/>
                </a:solidFill>
                <a:latin typeface="Aptos"/>
              </a:rPr>
              <a:t>xarajat</a:t>
            </a:r>
            <a:r>
              <a:rPr sz="2100" b="1" dirty="0">
                <a:solidFill>
                  <a:srgbClr val="0B1F33"/>
                </a:solidFill>
                <a:latin typeface="Aptos"/>
              </a:rPr>
              <a:t> </a:t>
            </a:r>
            <a:r>
              <a:rPr sz="2100" b="1" dirty="0" err="1">
                <a:solidFill>
                  <a:srgbClr val="0B1F33"/>
                </a:solidFill>
                <a:latin typeface="Aptos"/>
              </a:rPr>
              <a:t>darajasida</a:t>
            </a:r>
            <a:endParaRPr sz="2100" b="1" dirty="0">
              <a:solidFill>
                <a:srgbClr val="0B1F33"/>
              </a:solidFill>
              <a:latin typeface="Aptos"/>
            </a:endParaRPr>
          </a:p>
          <a:p>
            <a:pPr algn="l">
              <a:spcBef>
                <a:spcPts val="600"/>
              </a:spcBef>
            </a:pPr>
            <a:r>
              <a:rPr sz="2000" dirty="0" err="1">
                <a:solidFill>
                  <a:srgbClr val="1F2937"/>
                </a:solidFill>
                <a:latin typeface="Aptos"/>
              </a:rPr>
              <a:t>bozor</a:t>
            </a:r>
            <a:r>
              <a:rPr sz="2000" dirty="0">
                <a:solidFill>
                  <a:srgbClr val="1F2937"/>
                </a:solidFill>
                <a:latin typeface="Aptos"/>
              </a:rPr>
              <a:t> </a:t>
            </a:r>
            <a:r>
              <a:rPr sz="2000" dirty="0" err="1">
                <a:solidFill>
                  <a:srgbClr val="1F2937"/>
                </a:solidFill>
                <a:latin typeface="Aptos"/>
              </a:rPr>
              <a:t>to‘yingan</a:t>
            </a:r>
            <a:r>
              <a:rPr sz="2000" dirty="0">
                <a:solidFill>
                  <a:srgbClr val="1F2937"/>
                </a:solidFill>
                <a:latin typeface="Aptos"/>
              </a:rPr>
              <a:t> sari </a:t>
            </a:r>
            <a:r>
              <a:rPr sz="2000" dirty="0" err="1">
                <a:solidFill>
                  <a:srgbClr val="1F2937"/>
                </a:solidFill>
                <a:latin typeface="Aptos"/>
              </a:rPr>
              <a:t>qo‘shimcha</a:t>
            </a:r>
            <a:r>
              <a:rPr sz="2000" dirty="0">
                <a:solidFill>
                  <a:srgbClr val="1F2937"/>
                </a:solidFill>
                <a:latin typeface="Aptos"/>
              </a:rPr>
              <a:t> </a:t>
            </a:r>
            <a:r>
              <a:rPr sz="2000" dirty="0" err="1">
                <a:solidFill>
                  <a:srgbClr val="1F2937"/>
                </a:solidFill>
                <a:latin typeface="Aptos"/>
              </a:rPr>
              <a:t>reklamaning</a:t>
            </a:r>
            <a:r>
              <a:rPr sz="2000" dirty="0">
                <a:solidFill>
                  <a:srgbClr val="1F2937"/>
                </a:solidFill>
                <a:latin typeface="Aptos"/>
              </a:rPr>
              <a:t> </a:t>
            </a:r>
            <a:r>
              <a:rPr sz="2000" dirty="0" err="1">
                <a:solidFill>
                  <a:srgbClr val="1F2937"/>
                </a:solidFill>
                <a:latin typeface="Aptos"/>
              </a:rPr>
              <a:t>foydasi</a:t>
            </a:r>
            <a:r>
              <a:rPr sz="2000" dirty="0">
                <a:solidFill>
                  <a:srgbClr val="1F2937"/>
                </a:solidFill>
                <a:latin typeface="Aptos"/>
              </a:rPr>
              <a:t> </a:t>
            </a:r>
            <a:r>
              <a:rPr sz="2000" dirty="0" err="1">
                <a:solidFill>
                  <a:srgbClr val="1F2937"/>
                </a:solidFill>
                <a:latin typeface="Aptos"/>
              </a:rPr>
              <a:t>kamayishi</a:t>
            </a:r>
            <a:r>
              <a:rPr sz="2000" dirty="0">
                <a:solidFill>
                  <a:srgbClr val="1F2937"/>
                </a:solidFill>
                <a:latin typeface="Aptos"/>
              </a:rPr>
              <a:t> </a:t>
            </a:r>
            <a:r>
              <a:rPr sz="2000" dirty="0" err="1">
                <a:solidFill>
                  <a:srgbClr val="1F2937"/>
                </a:solidFill>
                <a:latin typeface="Aptos"/>
              </a:rPr>
              <a:t>mumkin</a:t>
            </a:r>
            <a:r>
              <a:rPr sz="2000" dirty="0">
                <a:solidFill>
                  <a:srgbClr val="1F2937"/>
                </a:solidFill>
                <a:latin typeface="Aptos"/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429000"/>
            <a:ext cx="73152" cy="1492766"/>
          </a:xfrm>
          <a:prstGeom prst="roundRect">
            <a:avLst/>
          </a:prstGeom>
          <a:solidFill>
            <a:srgbClr val="C2A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0" y="1463040"/>
            <a:ext cx="43891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5" name="Connector 14"/>
          <p:cNvCxnSpPr/>
          <p:nvPr/>
        </p:nvCxnSpPr>
        <p:spPr>
          <a:xfrm flipV="1">
            <a:off x="6766560" y="3383280"/>
            <a:ext cx="457200" cy="914400"/>
          </a:xfrm>
          <a:prstGeom prst="line">
            <a:avLst/>
          </a:prstGeom>
          <a:ln w="3810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7223760" y="2697480"/>
            <a:ext cx="548640" cy="685800"/>
          </a:xfrm>
          <a:prstGeom prst="line">
            <a:avLst/>
          </a:prstGeom>
          <a:ln w="3810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7772400" y="2331720"/>
            <a:ext cx="640080" cy="365760"/>
          </a:xfrm>
          <a:prstGeom prst="line">
            <a:avLst/>
          </a:prstGeom>
          <a:ln w="3810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8412480" y="2148840"/>
            <a:ext cx="731520" cy="182880"/>
          </a:xfrm>
          <a:prstGeom prst="line">
            <a:avLst/>
          </a:prstGeom>
          <a:ln w="3810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9144000" y="2057400"/>
            <a:ext cx="822960" cy="91440"/>
          </a:xfrm>
          <a:prstGeom prst="line">
            <a:avLst/>
          </a:prstGeom>
          <a:ln w="3810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371600" y="5257800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>
                <a:solidFill>
                  <a:srgbClr val="0B1F33"/>
                </a:solidFill>
                <a:latin typeface="Aptos"/>
              </a:rPr>
              <a:t>Iqtisodiy munosabat shaklini nazariy mantiq va ma’lumot asosida tekshirish kerak.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9184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Aptos"/>
              </a:rPr>
              <a:t>LOGARIFMIK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76072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0B1F33"/>
                </a:solidFill>
                <a:latin typeface="Aptos Display"/>
              </a:rPr>
              <a:t>Foiz o‘zgarishlarini tahlil qilishda logarifmlar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097280" cy="254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tiu-blu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84048"/>
            <a:ext cx="960120" cy="40901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12064" y="6446520"/>
            <a:ext cx="11201400" cy="15240"/>
          </a:xfrm>
          <a:prstGeom prst="rect">
            <a:avLst/>
          </a:prstGeom>
          <a:solidFill>
            <a:srgbClr val="D9D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6510528"/>
            <a:ext cx="98755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TASHKENT INTERNATIONAL UNIVERSITY • EKONOMETRIKA • BAKALAVRIAT 3-KURS • by Sarvar Komilov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44784" y="6510528"/>
            <a:ext cx="8229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Aptos"/>
              </a:rPr>
              <a:t>31 / 57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88720" y="1417320"/>
            <a:ext cx="978408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000" b="0">
                <a:solidFill>
                  <a:srgbClr val="0B1F33"/>
                </a:solidFill>
                <a:latin typeface="Cambria Math"/>
              </a:rPr>
              <a:t>ln(Yᵢ) = β₀ + β₁ln(Xᵢ) + uᵢ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0" y="2834640"/>
            <a:ext cx="2761488" cy="566928"/>
          </a:xfrm>
          <a:prstGeom prst="roundRect">
            <a:avLst/>
          </a:prstGeom>
          <a:solidFill>
            <a:srgbClr val="E5F6F4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0B1F33"/>
                </a:solidFill>
                <a:latin typeface="Aptos"/>
              </a:rPr>
              <a:t>LEVEL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935224"/>
            <a:ext cx="16459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>
                <a:solidFill>
                  <a:srgbClr val="C2A56B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00016" y="2834640"/>
            <a:ext cx="276148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0B1F33"/>
                </a:solidFill>
                <a:latin typeface="Aptos"/>
              </a:rPr>
              <a:t>LOG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43216" y="2935224"/>
            <a:ext cx="16459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>
                <a:solidFill>
                  <a:srgbClr val="C2A56B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71232" y="2834640"/>
            <a:ext cx="2761488" cy="566928"/>
          </a:xfrm>
          <a:prstGeom prst="roundRect">
            <a:avLst/>
          </a:prstGeom>
          <a:solidFill>
            <a:srgbClr val="E5F6F4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0B1F33"/>
                </a:solidFill>
                <a:latin typeface="Aptos"/>
              </a:rPr>
              <a:t>% TALQIN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57155" y="3813049"/>
            <a:ext cx="4572000" cy="1399033"/>
          </a:xfrm>
          <a:prstGeom prst="roundRect">
            <a:avLst/>
          </a:prstGeom>
          <a:solidFill>
            <a:srgbClr val="E5F6F4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27000" rtlCol="0" anchor="t"/>
          <a:lstStyle/>
          <a:p>
            <a:pPr algn="l"/>
            <a:r>
              <a:rPr sz="2200" b="1" dirty="0" err="1">
                <a:solidFill>
                  <a:srgbClr val="0B1F33"/>
                </a:solidFill>
                <a:latin typeface="Aptos"/>
              </a:rPr>
              <a:t>Asosiy</a:t>
            </a:r>
            <a:r>
              <a:rPr sz="2200" b="1" dirty="0">
                <a:solidFill>
                  <a:srgbClr val="0B1F33"/>
                </a:solidFill>
                <a:latin typeface="Aptos"/>
              </a:rPr>
              <a:t> </a:t>
            </a:r>
            <a:r>
              <a:rPr sz="2200" b="1" dirty="0" err="1">
                <a:solidFill>
                  <a:srgbClr val="0B1F33"/>
                </a:solidFill>
                <a:latin typeface="Aptos"/>
              </a:rPr>
              <a:t>g‘oya</a:t>
            </a:r>
            <a:endParaRPr sz="2200" b="1" dirty="0">
              <a:solidFill>
                <a:srgbClr val="0B1F33"/>
              </a:solidFill>
              <a:latin typeface="Aptos"/>
            </a:endParaRPr>
          </a:p>
          <a:p>
            <a:pPr algn="l">
              <a:spcBef>
                <a:spcPts val="600"/>
              </a:spcBef>
            </a:pPr>
            <a:r>
              <a:rPr sz="2000" dirty="0">
                <a:solidFill>
                  <a:srgbClr val="1F2937"/>
                </a:solidFill>
                <a:latin typeface="Aptos"/>
              </a:rPr>
              <a:t>Log–log </a:t>
            </a:r>
            <a:r>
              <a:rPr sz="2000" dirty="0" err="1">
                <a:solidFill>
                  <a:srgbClr val="1F2937"/>
                </a:solidFill>
                <a:latin typeface="Aptos"/>
              </a:rPr>
              <a:t>modelda</a:t>
            </a:r>
            <a:r>
              <a:rPr sz="2000" dirty="0">
                <a:solidFill>
                  <a:srgbClr val="1F2937"/>
                </a:solidFill>
                <a:latin typeface="Aptos"/>
              </a:rPr>
              <a:t> β₁ </a:t>
            </a:r>
            <a:r>
              <a:rPr sz="2000" dirty="0" err="1">
                <a:solidFill>
                  <a:srgbClr val="1F2937"/>
                </a:solidFill>
                <a:latin typeface="Aptos"/>
              </a:rPr>
              <a:t>ko‘pincha</a:t>
            </a:r>
            <a:r>
              <a:rPr sz="2000" dirty="0">
                <a:solidFill>
                  <a:srgbClr val="1F2937"/>
                </a:solidFill>
                <a:latin typeface="Aptos"/>
              </a:rPr>
              <a:t> </a:t>
            </a:r>
            <a:r>
              <a:rPr sz="2000" dirty="0" err="1">
                <a:solidFill>
                  <a:srgbClr val="1F2937"/>
                </a:solidFill>
                <a:latin typeface="Aptos"/>
              </a:rPr>
              <a:t>elastiklik</a:t>
            </a:r>
            <a:r>
              <a:rPr sz="2000" dirty="0">
                <a:solidFill>
                  <a:srgbClr val="1F2937"/>
                </a:solidFill>
                <a:latin typeface="Aptos"/>
              </a:rPr>
              <a:t> </a:t>
            </a:r>
            <a:r>
              <a:rPr sz="2000" dirty="0" err="1">
                <a:solidFill>
                  <a:srgbClr val="1F2937"/>
                </a:solidFill>
                <a:latin typeface="Aptos"/>
              </a:rPr>
              <a:t>sifatida</a:t>
            </a:r>
            <a:r>
              <a:rPr sz="2000" dirty="0">
                <a:solidFill>
                  <a:srgbClr val="1F2937"/>
                </a:solidFill>
                <a:latin typeface="Aptos"/>
              </a:rPr>
              <a:t> </a:t>
            </a:r>
            <a:r>
              <a:rPr sz="2000" dirty="0" err="1">
                <a:solidFill>
                  <a:srgbClr val="1F2937"/>
                </a:solidFill>
                <a:latin typeface="Aptos"/>
              </a:rPr>
              <a:t>talqin</a:t>
            </a:r>
            <a:r>
              <a:rPr sz="2000" dirty="0">
                <a:solidFill>
                  <a:srgbClr val="1F2937"/>
                </a:solidFill>
                <a:latin typeface="Aptos"/>
              </a:rPr>
              <a:t> </a:t>
            </a:r>
            <a:r>
              <a:rPr sz="2000" dirty="0" err="1">
                <a:solidFill>
                  <a:srgbClr val="1F2937"/>
                </a:solidFill>
                <a:latin typeface="Aptos"/>
              </a:rPr>
              <a:t>qilinadi</a:t>
            </a:r>
            <a:r>
              <a:rPr sz="2000" dirty="0">
                <a:solidFill>
                  <a:srgbClr val="1F2937"/>
                </a:solidFill>
                <a:latin typeface="Aptos"/>
              </a:rPr>
              <a:t>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34440" y="3977639"/>
            <a:ext cx="73152" cy="100584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662717" y="3785615"/>
            <a:ext cx="4572000" cy="1463041"/>
          </a:xfrm>
          <a:prstGeom prst="roundRect">
            <a:avLst/>
          </a:prstGeom>
          <a:solidFill>
            <a:srgbClr val="F8F3E7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27000" rtlCol="0" anchor="t"/>
          <a:lstStyle/>
          <a:p>
            <a:pPr algn="l"/>
            <a:r>
              <a:rPr sz="2200" b="1" dirty="0" err="1">
                <a:solidFill>
                  <a:srgbClr val="0B1F33"/>
                </a:solidFill>
                <a:latin typeface="Aptos"/>
              </a:rPr>
              <a:t>Sodda</a:t>
            </a:r>
            <a:r>
              <a:rPr sz="2200" b="1" dirty="0">
                <a:solidFill>
                  <a:srgbClr val="0B1F33"/>
                </a:solidFill>
                <a:latin typeface="Aptos"/>
              </a:rPr>
              <a:t> </a:t>
            </a:r>
            <a:r>
              <a:rPr sz="2200" b="1" dirty="0" err="1">
                <a:solidFill>
                  <a:srgbClr val="0B1F33"/>
                </a:solidFill>
                <a:latin typeface="Aptos"/>
              </a:rPr>
              <a:t>talqin</a:t>
            </a:r>
            <a:endParaRPr sz="2200" b="1" dirty="0">
              <a:solidFill>
                <a:srgbClr val="0B1F33"/>
              </a:solidFill>
              <a:latin typeface="Aptos"/>
            </a:endParaRPr>
          </a:p>
          <a:p>
            <a:pPr algn="l">
              <a:spcBef>
                <a:spcPts val="600"/>
              </a:spcBef>
            </a:pPr>
            <a:r>
              <a:rPr sz="1900" dirty="0">
                <a:solidFill>
                  <a:srgbClr val="1F2937"/>
                </a:solidFill>
                <a:latin typeface="Aptos"/>
              </a:rPr>
              <a:t>X 1% ga </a:t>
            </a:r>
            <a:r>
              <a:rPr sz="1900" dirty="0" err="1">
                <a:solidFill>
                  <a:srgbClr val="1F2937"/>
                </a:solidFill>
                <a:latin typeface="Aptos"/>
              </a:rPr>
              <a:t>o‘zgarganda</a:t>
            </a:r>
            <a:r>
              <a:rPr sz="1900" dirty="0">
                <a:solidFill>
                  <a:srgbClr val="1F2937"/>
                </a:solidFill>
                <a:latin typeface="Aptos"/>
              </a:rPr>
              <a:t>, Y </a:t>
            </a:r>
            <a:r>
              <a:rPr sz="1900" dirty="0" err="1">
                <a:solidFill>
                  <a:srgbClr val="1F2937"/>
                </a:solidFill>
                <a:latin typeface="Aptos"/>
              </a:rPr>
              <a:t>o‘rtacha</a:t>
            </a:r>
            <a:r>
              <a:rPr sz="1900" dirty="0">
                <a:solidFill>
                  <a:srgbClr val="1F2937"/>
                </a:solidFill>
                <a:latin typeface="Aptos"/>
              </a:rPr>
              <a:t> </a:t>
            </a:r>
            <a:r>
              <a:rPr sz="1900" dirty="0" err="1">
                <a:solidFill>
                  <a:srgbClr val="1F2937"/>
                </a:solidFill>
                <a:latin typeface="Aptos"/>
              </a:rPr>
              <a:t>taxminan</a:t>
            </a:r>
            <a:r>
              <a:rPr sz="1900" dirty="0">
                <a:solidFill>
                  <a:srgbClr val="1F2937"/>
                </a:solidFill>
                <a:latin typeface="Aptos"/>
              </a:rPr>
              <a:t> β₁% ga </a:t>
            </a:r>
            <a:r>
              <a:rPr sz="1900" dirty="0" err="1">
                <a:solidFill>
                  <a:srgbClr val="1F2937"/>
                </a:solidFill>
                <a:latin typeface="Aptos"/>
              </a:rPr>
              <a:t>o‘zgarishi</a:t>
            </a:r>
            <a:r>
              <a:rPr sz="1900" dirty="0">
                <a:solidFill>
                  <a:srgbClr val="1F2937"/>
                </a:solidFill>
                <a:latin typeface="Aptos"/>
              </a:rPr>
              <a:t> </a:t>
            </a:r>
            <a:r>
              <a:rPr sz="1900" dirty="0" err="1">
                <a:solidFill>
                  <a:srgbClr val="1F2937"/>
                </a:solidFill>
                <a:latin typeface="Aptos"/>
              </a:rPr>
              <a:t>bilan</a:t>
            </a:r>
            <a:r>
              <a:rPr sz="1900" dirty="0">
                <a:solidFill>
                  <a:srgbClr val="1F2937"/>
                </a:solidFill>
                <a:latin typeface="Aptos"/>
              </a:rPr>
              <a:t> </a:t>
            </a:r>
            <a:r>
              <a:rPr sz="1900" dirty="0" err="1">
                <a:solidFill>
                  <a:srgbClr val="1F2937"/>
                </a:solidFill>
                <a:latin typeface="Aptos"/>
              </a:rPr>
              <a:t>bog‘liq</a:t>
            </a:r>
            <a:r>
              <a:rPr sz="1900" dirty="0">
                <a:solidFill>
                  <a:srgbClr val="1F2937"/>
                </a:solidFill>
                <a:latin typeface="Aptos"/>
              </a:rPr>
              <a:t>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977639"/>
            <a:ext cx="73152" cy="1005840"/>
          </a:xfrm>
          <a:prstGeom prst="roundRect">
            <a:avLst/>
          </a:prstGeom>
          <a:solidFill>
            <a:srgbClr val="C2A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463040" y="5394960"/>
            <a:ext cx="9235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>
                <a:solidFill>
                  <a:srgbClr val="64748B"/>
                </a:solidFill>
                <a:latin typeface="Aptos"/>
              </a:rPr>
              <a:t>Bu mavzu keyingi darslarda batafsil o‘rganiladi.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9184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Aptos"/>
              </a:rPr>
              <a:t>STATIK VA DINAMIK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76072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0B1F33"/>
                </a:solidFill>
                <a:latin typeface="Aptos Display"/>
              </a:rPr>
              <a:t>Iqtisodiyotda vaqtning roli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097280" cy="254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tiu-blu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84048"/>
            <a:ext cx="960120" cy="40901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12064" y="6446520"/>
            <a:ext cx="11201400" cy="15240"/>
          </a:xfrm>
          <a:prstGeom prst="rect">
            <a:avLst/>
          </a:prstGeom>
          <a:solidFill>
            <a:srgbClr val="D9D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6510528"/>
            <a:ext cx="98755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TASHKENT INTERNATIONAL UNIVERSITY • EKONOMETRIKA • BAKALAVRIAT 3-KURS • by Sarvar Komilov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44784" y="6510528"/>
            <a:ext cx="8229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Aptos"/>
              </a:rPr>
              <a:t>32 / 57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600200"/>
            <a:ext cx="5120640" cy="2880360"/>
          </a:xfrm>
          <a:prstGeom prst="roundRect">
            <a:avLst/>
          </a:prstGeom>
          <a:solidFill>
            <a:srgbClr val="E5F6F4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27000" rtlCol="0" anchor="t"/>
          <a:lstStyle/>
          <a:p>
            <a:pPr algn="ctr"/>
            <a:r>
              <a:rPr sz="2400" b="1">
                <a:solidFill>
                  <a:srgbClr val="0B1F33"/>
                </a:solidFill>
                <a:latin typeface="Aptos"/>
              </a:rPr>
              <a:t>STATIK MODEL</a:t>
            </a:r>
          </a:p>
          <a:p>
            <a:pPr algn="ctr">
              <a:spcBef>
                <a:spcPts val="600"/>
              </a:spcBef>
            </a:pPr>
            <a:r>
              <a:rPr sz="2200">
                <a:solidFill>
                  <a:srgbClr val="1F2937"/>
                </a:solidFill>
                <a:latin typeface="Aptos"/>
              </a:rPr>
              <a:t>Iste’molₜ = β₀ + β₁Daromadₜ + uₜ
Joriy iste’mol joriy daromad bilan bog‘lanadi.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600200"/>
            <a:ext cx="73152" cy="288036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217920" y="1600200"/>
            <a:ext cx="5120640" cy="2880360"/>
          </a:xfrm>
          <a:prstGeom prst="roundRect">
            <a:avLst/>
          </a:prstGeom>
          <a:solidFill>
            <a:srgbClr val="F8F3E7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27000" rtlCol="0" anchor="t"/>
          <a:lstStyle/>
          <a:p>
            <a:pPr algn="ctr"/>
            <a:r>
              <a:rPr sz="2400" b="1">
                <a:solidFill>
                  <a:srgbClr val="0B1F33"/>
                </a:solidFill>
                <a:latin typeface="Aptos"/>
              </a:rPr>
              <a:t>DINAMIK MODEL</a:t>
            </a:r>
          </a:p>
          <a:p>
            <a:pPr algn="ctr">
              <a:spcBef>
                <a:spcPts val="600"/>
              </a:spcBef>
            </a:pPr>
            <a:r>
              <a:rPr sz="2100">
                <a:solidFill>
                  <a:srgbClr val="1F2937"/>
                </a:solidFill>
                <a:latin typeface="Aptos"/>
              </a:rPr>
              <a:t>Iste’molₜ = β₀ + β₁Daromadₜ + β₂Iste’molₜ₋₁ + uₜ
Joriy iste’molga oldingi davrdagi iste’mol ham bog‘langan.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00200"/>
            <a:ext cx="73152" cy="2880360"/>
          </a:xfrm>
          <a:prstGeom prst="roundRect">
            <a:avLst/>
          </a:prstGeom>
          <a:solidFill>
            <a:srgbClr val="C2A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20" y="5166360"/>
            <a:ext cx="9784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>
                <a:solidFill>
                  <a:srgbClr val="0B1F33"/>
                </a:solidFill>
                <a:latin typeface="Aptos"/>
              </a:rPr>
              <a:t>Dinamik model iqtisodiy jarayonlarning vaqt bo‘yicha davomiyligini hisobga oladi.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9184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Aptos"/>
              </a:rPr>
              <a:t>REAL ECONOMETRIC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76072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0B1F33"/>
                </a:solidFill>
                <a:latin typeface="Aptos Display"/>
              </a:rPr>
              <a:t>Uber narx o‘zgarishiga talab qanday javob berishini qanday o‘rgandi?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097280" cy="254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tiu-blu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84048"/>
            <a:ext cx="960120" cy="40901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12064" y="6446520"/>
            <a:ext cx="11201400" cy="15240"/>
          </a:xfrm>
          <a:prstGeom prst="rect">
            <a:avLst/>
          </a:prstGeom>
          <a:solidFill>
            <a:srgbClr val="D9D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6510528"/>
            <a:ext cx="98755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TASHKENT INTERNATIONAL UNIVERSITY • EKONOMETRIKA • BAKALAVRIAT 3-KURS • by Sarvar Komilov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44784" y="6510528"/>
            <a:ext cx="8229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Aptos"/>
              </a:rPr>
              <a:t>33 / 57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9536" y="1531459"/>
            <a:ext cx="5212080" cy="17007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27000" rtlCol="0" anchor="t"/>
          <a:lstStyle/>
          <a:p>
            <a:pPr algn="l"/>
            <a:r>
              <a:rPr sz="2000" b="1" dirty="0" err="1">
                <a:solidFill>
                  <a:srgbClr val="0B1F33"/>
                </a:solidFill>
                <a:latin typeface="Aptos"/>
              </a:rPr>
              <a:t>Tadqiqot</a:t>
            </a:r>
            <a:r>
              <a:rPr sz="2000" b="1" dirty="0">
                <a:solidFill>
                  <a:srgbClr val="0B1F33"/>
                </a:solidFill>
                <a:latin typeface="Aptos"/>
              </a:rPr>
              <a:t> </a:t>
            </a:r>
            <a:r>
              <a:rPr sz="2000" b="1" dirty="0" err="1">
                <a:solidFill>
                  <a:srgbClr val="0B1F33"/>
                </a:solidFill>
                <a:latin typeface="Aptos"/>
              </a:rPr>
              <a:t>g‘oyasi</a:t>
            </a:r>
            <a:endParaRPr sz="2000" b="1" dirty="0">
              <a:solidFill>
                <a:srgbClr val="0B1F33"/>
              </a:solidFill>
              <a:latin typeface="Aptos"/>
            </a:endParaRPr>
          </a:p>
          <a:p>
            <a:pPr algn="l">
              <a:spcBef>
                <a:spcPts val="600"/>
              </a:spcBef>
            </a:pPr>
            <a:r>
              <a:rPr sz="1800" dirty="0">
                <a:solidFill>
                  <a:srgbClr val="1F2937"/>
                </a:solidFill>
                <a:latin typeface="Aptos"/>
              </a:rPr>
              <a:t>Cohen, Hahn, Hall, Levitt </a:t>
            </a:r>
            <a:r>
              <a:rPr sz="1800" dirty="0" err="1">
                <a:solidFill>
                  <a:srgbClr val="1F2937"/>
                </a:solidFill>
                <a:latin typeface="Aptos"/>
              </a:rPr>
              <a:t>va</a:t>
            </a:r>
            <a:r>
              <a:rPr sz="1800" dirty="0">
                <a:solidFill>
                  <a:srgbClr val="1F2937"/>
                </a:solidFill>
                <a:latin typeface="Aptos"/>
              </a:rPr>
              <a:t> Metcalfe Uber “surge pricing” </a:t>
            </a:r>
            <a:r>
              <a:rPr sz="1800" dirty="0" err="1">
                <a:solidFill>
                  <a:srgbClr val="1F2937"/>
                </a:solidFill>
                <a:latin typeface="Aptos"/>
              </a:rPr>
              <a:t>algoritmidagi</a:t>
            </a:r>
            <a:r>
              <a:rPr sz="1800" dirty="0">
                <a:solidFill>
                  <a:srgbClr val="1F2937"/>
                </a:solidFill>
                <a:latin typeface="Aptos"/>
              </a:rPr>
              <a:t> </a:t>
            </a:r>
            <a:r>
              <a:rPr sz="1800" dirty="0" err="1">
                <a:solidFill>
                  <a:srgbClr val="1F2937"/>
                </a:solidFill>
                <a:latin typeface="Aptos"/>
              </a:rPr>
              <a:t>narx</a:t>
            </a:r>
            <a:r>
              <a:rPr sz="1800" dirty="0">
                <a:solidFill>
                  <a:srgbClr val="1F2937"/>
                </a:solidFill>
                <a:latin typeface="Aptos"/>
              </a:rPr>
              <a:t> </a:t>
            </a:r>
            <a:r>
              <a:rPr sz="1800" dirty="0" err="1">
                <a:solidFill>
                  <a:srgbClr val="1F2937"/>
                </a:solidFill>
                <a:latin typeface="Aptos"/>
              </a:rPr>
              <a:t>o‘zgarishlaridan</a:t>
            </a:r>
            <a:r>
              <a:rPr sz="1800" dirty="0">
                <a:solidFill>
                  <a:srgbClr val="1F2937"/>
                </a:solidFill>
                <a:latin typeface="Aptos"/>
              </a:rPr>
              <a:t> </a:t>
            </a:r>
            <a:r>
              <a:rPr sz="1800" dirty="0" err="1">
                <a:solidFill>
                  <a:srgbClr val="1F2937"/>
                </a:solidFill>
                <a:latin typeface="Aptos"/>
              </a:rPr>
              <a:t>foydalanib</a:t>
            </a:r>
            <a:r>
              <a:rPr sz="1800" dirty="0">
                <a:solidFill>
                  <a:srgbClr val="1F2937"/>
                </a:solidFill>
                <a:latin typeface="Aptos"/>
              </a:rPr>
              <a:t> talab </a:t>
            </a:r>
            <a:r>
              <a:rPr sz="1800" dirty="0" err="1">
                <a:solidFill>
                  <a:srgbClr val="1F2937"/>
                </a:solidFill>
                <a:latin typeface="Aptos"/>
              </a:rPr>
              <a:t>elastikligini</a:t>
            </a:r>
            <a:r>
              <a:rPr sz="1800" dirty="0">
                <a:solidFill>
                  <a:srgbClr val="1F2937"/>
                </a:solidFill>
                <a:latin typeface="Aptos"/>
              </a:rPr>
              <a:t> </a:t>
            </a:r>
            <a:r>
              <a:rPr sz="1800" dirty="0" err="1">
                <a:solidFill>
                  <a:srgbClr val="1F2937"/>
                </a:solidFill>
                <a:latin typeface="Aptos"/>
              </a:rPr>
              <a:t>baholagan</a:t>
            </a:r>
            <a:r>
              <a:rPr sz="1800" dirty="0">
                <a:solidFill>
                  <a:srgbClr val="1F2937"/>
                </a:solidFill>
                <a:latin typeface="Aptos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" y="1678940"/>
            <a:ext cx="73152" cy="128016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551676" y="1261872"/>
            <a:ext cx="2240280" cy="1920240"/>
          </a:xfrm>
          <a:prstGeom prst="roundRect">
            <a:avLst/>
          </a:prstGeom>
          <a:solidFill>
            <a:srgbClr val="F8F3E7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27000" rtlCol="0" anchor="t"/>
          <a:lstStyle/>
          <a:p>
            <a:pPr algn="ctr"/>
            <a:r>
              <a:rPr sz="3000" b="1">
                <a:solidFill>
                  <a:srgbClr val="0B1F33"/>
                </a:solidFill>
                <a:latin typeface="Aptos"/>
              </a:rPr>
              <a:t>≈ 50 million</a:t>
            </a:r>
          </a:p>
          <a:p>
            <a:pPr algn="ctr">
              <a:spcBef>
                <a:spcPts val="600"/>
              </a:spcBef>
            </a:pPr>
            <a:r>
              <a:rPr sz="1800">
                <a:solidFill>
                  <a:srgbClr val="1F2937"/>
                </a:solidFill>
                <a:latin typeface="Aptos"/>
              </a:rPr>
              <a:t>individual kuzatuv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417320"/>
            <a:ext cx="73152" cy="1280160"/>
          </a:xfrm>
          <a:prstGeom prst="roundRect">
            <a:avLst/>
          </a:prstGeom>
          <a:solidFill>
            <a:srgbClr val="C2A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035781" y="1290344"/>
            <a:ext cx="2240280" cy="1891767"/>
          </a:xfrm>
          <a:prstGeom prst="roundRect">
            <a:avLst/>
          </a:prstGeom>
          <a:solidFill>
            <a:srgbClr val="E8EFF8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27000" rtlCol="0" anchor="t"/>
          <a:lstStyle/>
          <a:p>
            <a:pPr algn="ctr"/>
            <a:r>
              <a:rPr sz="2300" b="1" dirty="0">
                <a:solidFill>
                  <a:srgbClr val="0B1F33"/>
                </a:solidFill>
                <a:latin typeface="Aptos"/>
              </a:rPr>
              <a:t>Method</a:t>
            </a:r>
          </a:p>
          <a:p>
            <a:pPr algn="ctr">
              <a:spcBef>
                <a:spcPts val="600"/>
              </a:spcBef>
            </a:pPr>
            <a:r>
              <a:rPr sz="1800" dirty="0">
                <a:solidFill>
                  <a:srgbClr val="1F2937"/>
                </a:solidFill>
                <a:latin typeface="Aptos"/>
              </a:rPr>
              <a:t>Regression discontinuity design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69680" y="1417320"/>
            <a:ext cx="73152" cy="1280160"/>
          </a:xfrm>
          <a:prstGeom prst="roundRect">
            <a:avLst/>
          </a:prstGeom>
          <a:solidFill>
            <a:srgbClr val="12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05840" y="3337560"/>
            <a:ext cx="2432304" cy="566928"/>
          </a:xfrm>
          <a:prstGeom prst="roundRect">
            <a:avLst/>
          </a:prstGeom>
          <a:solidFill>
            <a:srgbClr val="E5F6F4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1F33"/>
                </a:solidFill>
                <a:latin typeface="Aptos"/>
              </a:rPr>
              <a:t>PRICE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19856" y="3438144"/>
            <a:ext cx="16459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>
                <a:solidFill>
                  <a:srgbClr val="C2A56B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47872" y="3337560"/>
            <a:ext cx="2432304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1F33"/>
                </a:solidFill>
                <a:latin typeface="Aptos"/>
              </a:rPr>
              <a:t>RIDE REQUESTS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61888" y="3438144"/>
            <a:ext cx="16459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>
                <a:solidFill>
                  <a:srgbClr val="C2A56B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89904" y="3337560"/>
            <a:ext cx="2432304" cy="566928"/>
          </a:xfrm>
          <a:prstGeom prst="roundRect">
            <a:avLst/>
          </a:prstGeom>
          <a:solidFill>
            <a:srgbClr val="E5F6F4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1F33"/>
                </a:solidFill>
                <a:latin typeface="Aptos"/>
              </a:rPr>
              <a:t>DEMAND ELASTICITY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3438144"/>
            <a:ext cx="16459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>
                <a:solidFill>
                  <a:srgbClr val="C2A56B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31936" y="3337560"/>
            <a:ext cx="2432304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1F33"/>
                </a:solidFill>
                <a:latin typeface="Aptos"/>
              </a:rPr>
              <a:t>BUSINESS DECISION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71600" y="4617720"/>
            <a:ext cx="9418320" cy="685800"/>
          </a:xfrm>
          <a:prstGeom prst="roundRect">
            <a:avLst/>
          </a:prstGeom>
          <a:solidFill>
            <a:srgbClr val="F8E8E8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27000" rtlCol="0" anchor="t"/>
          <a:lstStyle/>
          <a:p>
            <a:pPr algn="ctr"/>
            <a:r>
              <a:rPr sz="2100" b="1">
                <a:solidFill>
                  <a:srgbClr val="0B1F33"/>
                </a:solidFill>
                <a:latin typeface="Aptos"/>
              </a:rPr>
              <a:t>Katta ma’lumotning o‘zi yetarli emas. To‘g‘ri tadqiqot dizayni ham kerak.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71600" y="4617720"/>
            <a:ext cx="73152" cy="685800"/>
          </a:xfrm>
          <a:prstGeom prst="roundRect">
            <a:avLst/>
          </a:prstGeom>
          <a:solidFill>
            <a:srgbClr val="A3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8368" y="6144768"/>
            <a:ext cx="10698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Source: Cohen, Hahn, Hall, Levitt &amp; Metcalfe, NBER Working Paper No. 22627, 2016.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9184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Aptos"/>
              </a:rPr>
              <a:t>CASE TALQINI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76072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0B1F33"/>
                </a:solidFill>
                <a:latin typeface="Aptos Display"/>
              </a:rPr>
              <a:t>50 million kuzatuv borligi muammoni avtomatik hal qilmaydi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097280" cy="254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tiu-blu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84048"/>
            <a:ext cx="960120" cy="40901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12064" y="6446520"/>
            <a:ext cx="11201400" cy="15240"/>
          </a:xfrm>
          <a:prstGeom prst="rect">
            <a:avLst/>
          </a:prstGeom>
          <a:solidFill>
            <a:srgbClr val="D9D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6510528"/>
            <a:ext cx="98755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TASHKENT INTERNATIONAL UNIVERSITY • EKONOMETRIKA • BAKALAVRIAT 3-KURS • by Sarvar Komilov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44784" y="6510528"/>
            <a:ext cx="8229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Aptos"/>
              </a:rPr>
              <a:t>34 / 57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737360"/>
            <a:ext cx="3246120" cy="2331720"/>
          </a:xfrm>
          <a:prstGeom prst="roundRect">
            <a:avLst/>
          </a:prstGeom>
          <a:solidFill>
            <a:srgbClr val="E8EFF8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27000" rtlCol="0" anchor="t"/>
          <a:lstStyle/>
          <a:p>
            <a:pPr algn="ctr"/>
            <a:r>
              <a:rPr sz="2400" b="1">
                <a:solidFill>
                  <a:srgbClr val="0B1F33"/>
                </a:solidFill>
                <a:latin typeface="Aptos"/>
              </a:rPr>
              <a:t>DATA</a:t>
            </a:r>
          </a:p>
          <a:p>
            <a:pPr algn="ctr">
              <a:spcBef>
                <a:spcPts val="600"/>
              </a:spcBef>
            </a:pPr>
            <a:r>
              <a:rPr sz="2000">
                <a:solidFill>
                  <a:srgbClr val="1F2937"/>
                </a:solidFill>
                <a:latin typeface="Aptos"/>
              </a:rPr>
              <a:t>Ko‘p kuzatuv ≠ avtomatik causal evidence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737360"/>
            <a:ext cx="73152" cy="2331720"/>
          </a:xfrm>
          <a:prstGeom prst="roundRect">
            <a:avLst/>
          </a:prstGeom>
          <a:solidFill>
            <a:srgbClr val="12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617720" y="1737360"/>
            <a:ext cx="3246120" cy="2331720"/>
          </a:xfrm>
          <a:prstGeom prst="roundRect">
            <a:avLst/>
          </a:prstGeom>
          <a:solidFill>
            <a:srgbClr val="E5F6F4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27000" rtlCol="0" anchor="t"/>
          <a:lstStyle/>
          <a:p>
            <a:pPr algn="ctr"/>
            <a:r>
              <a:rPr sz="2400" b="1">
                <a:solidFill>
                  <a:srgbClr val="0B1F33"/>
                </a:solidFill>
                <a:latin typeface="Aptos"/>
              </a:rPr>
              <a:t>IDENTIFICATION</a:t>
            </a:r>
          </a:p>
          <a:p>
            <a:pPr algn="ctr">
              <a:spcBef>
                <a:spcPts val="600"/>
              </a:spcBef>
            </a:pPr>
            <a:r>
              <a:rPr sz="2000">
                <a:solidFill>
                  <a:srgbClr val="1F2937"/>
                </a:solidFill>
                <a:latin typeface="Aptos"/>
              </a:rPr>
              <a:t>Narxning o‘zgarishini boshqa omillardan qanday ajratamiz?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17720" y="1737360"/>
            <a:ext cx="73152" cy="233172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366759" y="1737360"/>
            <a:ext cx="3246120" cy="2331720"/>
          </a:xfrm>
          <a:prstGeom prst="roundRect">
            <a:avLst/>
          </a:prstGeom>
          <a:solidFill>
            <a:srgbClr val="F8F3E7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27000" rtlCol="0" anchor="t"/>
          <a:lstStyle/>
          <a:p>
            <a:pPr algn="ctr"/>
            <a:r>
              <a:rPr sz="2400" b="1">
                <a:solidFill>
                  <a:srgbClr val="0B1F33"/>
                </a:solidFill>
                <a:latin typeface="Aptos"/>
              </a:rPr>
              <a:t>DECISION</a:t>
            </a:r>
          </a:p>
          <a:p>
            <a:pPr algn="ctr">
              <a:spcBef>
                <a:spcPts val="600"/>
              </a:spcBef>
            </a:pPr>
            <a:r>
              <a:rPr sz="2000">
                <a:solidFill>
                  <a:srgbClr val="1F2937"/>
                </a:solidFill>
                <a:latin typeface="Aptos"/>
              </a:rPr>
              <a:t>Talab elastikligi, pricing va consumer surplus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66759" y="1737360"/>
            <a:ext cx="73152" cy="2331720"/>
          </a:xfrm>
          <a:prstGeom prst="roundRect">
            <a:avLst/>
          </a:prstGeom>
          <a:solidFill>
            <a:srgbClr val="C2A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554480" y="4892040"/>
            <a:ext cx="9052560" cy="777240"/>
          </a:xfrm>
          <a:prstGeom prst="roundRect">
            <a:avLst/>
          </a:prstGeom>
          <a:solidFill>
            <a:srgbClr val="F8E8E8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27000" rtlCol="0" anchor="t"/>
          <a:lstStyle/>
          <a:p>
            <a:pPr algn="ctr"/>
            <a:r>
              <a:rPr sz="2200" b="1">
                <a:solidFill>
                  <a:srgbClr val="0B1F33"/>
                </a:solidFill>
                <a:latin typeface="Aptos"/>
              </a:rPr>
              <a:t>Ekonometrika = savol + iqtisodiy mantiq + ma’lumot + to‘g‘ri metod.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554480" y="4892040"/>
            <a:ext cx="73152" cy="777240"/>
          </a:xfrm>
          <a:prstGeom prst="roundRect">
            <a:avLst/>
          </a:prstGeom>
          <a:solidFill>
            <a:srgbClr val="A3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" y="6144768"/>
            <a:ext cx="10698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Source: Cohen, Hahn, Hall, Levitt &amp; Metcalfe, NBER Working Paper No. 22627, 2016.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9184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Aptos"/>
              </a:rPr>
              <a:t>REAL POLICY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76072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0B1F33"/>
                </a:solidFill>
                <a:latin typeface="Aptos Display"/>
              </a:rPr>
              <a:t>Minimal ish haqini oshirish bandlikka qanday ta’sir qiladi?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097280" cy="254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tiu-blu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84048"/>
            <a:ext cx="960120" cy="40901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12064" y="6446520"/>
            <a:ext cx="11201400" cy="15240"/>
          </a:xfrm>
          <a:prstGeom prst="rect">
            <a:avLst/>
          </a:prstGeom>
          <a:solidFill>
            <a:srgbClr val="D9D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6510528"/>
            <a:ext cx="98755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TASHKENT INTERNATIONAL UNIVERSITY • EKONOMETRIKA • BAKALAVRIAT 3-KURS • by Sarvar Komilov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44784" y="6510528"/>
            <a:ext cx="8229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Aptos"/>
              </a:rPr>
              <a:t>35 / 57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23444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1">
                <a:solidFill>
                  <a:srgbClr val="123052"/>
                </a:solidFill>
                <a:latin typeface="Aptos"/>
              </a:rPr>
              <a:t>Card &amp; Krueger — mashhur tabiiy eksperiment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828800"/>
            <a:ext cx="3200400" cy="1920240"/>
          </a:xfrm>
          <a:prstGeom prst="roundRect">
            <a:avLst/>
          </a:prstGeom>
          <a:solidFill>
            <a:srgbClr val="E5F6F4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27000" rtlCol="0" anchor="t"/>
          <a:lstStyle/>
          <a:p>
            <a:pPr algn="ctr"/>
            <a:r>
              <a:rPr sz="2400" b="1">
                <a:solidFill>
                  <a:srgbClr val="0B1F33"/>
                </a:solidFill>
                <a:latin typeface="Aptos"/>
              </a:rPr>
              <a:t>NEW JERSEY</a:t>
            </a:r>
          </a:p>
          <a:p>
            <a:pPr algn="ctr">
              <a:spcBef>
                <a:spcPts val="600"/>
              </a:spcBef>
            </a:pPr>
            <a:r>
              <a:rPr sz="2300">
                <a:solidFill>
                  <a:srgbClr val="1F2937"/>
                </a:solidFill>
                <a:latin typeface="Aptos"/>
              </a:rPr>
              <a:t>Minimal ish haqi
$4.25 → $5.05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1828800"/>
            <a:ext cx="73152" cy="192024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80560" y="256032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800" b="1">
                <a:solidFill>
                  <a:srgbClr val="C2A56B"/>
                </a:solidFill>
                <a:latin typeface="Aptos"/>
              </a:rPr>
              <a:t>VS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32120" y="1828800"/>
            <a:ext cx="3200400" cy="1920240"/>
          </a:xfrm>
          <a:prstGeom prst="roundRect">
            <a:avLst/>
          </a:prstGeom>
          <a:solidFill>
            <a:srgbClr val="F8F3E7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27000" rtlCol="0" anchor="t"/>
          <a:lstStyle/>
          <a:p>
            <a:pPr algn="ctr"/>
            <a:r>
              <a:rPr sz="2400" b="1">
                <a:solidFill>
                  <a:srgbClr val="0B1F33"/>
                </a:solidFill>
                <a:latin typeface="Aptos"/>
              </a:rPr>
              <a:t>PENNSYLVANIA</a:t>
            </a:r>
          </a:p>
          <a:p>
            <a:pPr algn="ctr">
              <a:spcBef>
                <a:spcPts val="600"/>
              </a:spcBef>
            </a:pPr>
            <a:r>
              <a:rPr sz="2300">
                <a:solidFill>
                  <a:srgbClr val="1F2937"/>
                </a:solidFill>
                <a:latin typeface="Aptos"/>
              </a:rPr>
              <a:t>Taqqoslash hududi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32120" y="1828800"/>
            <a:ext cx="73152" cy="1920240"/>
          </a:xfrm>
          <a:prstGeom prst="roundRect">
            <a:avLst/>
          </a:prstGeom>
          <a:solidFill>
            <a:srgbClr val="C2A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9235440" y="1828800"/>
            <a:ext cx="2011680" cy="1920240"/>
          </a:xfrm>
          <a:prstGeom prst="roundRect">
            <a:avLst/>
          </a:prstGeom>
          <a:solidFill>
            <a:srgbClr val="E8EFF8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27000" rtlCol="0" anchor="t"/>
          <a:lstStyle/>
          <a:p>
            <a:pPr algn="ctr"/>
            <a:r>
              <a:rPr sz="3600" b="1">
                <a:solidFill>
                  <a:srgbClr val="0B1F33"/>
                </a:solidFill>
                <a:latin typeface="Aptos"/>
              </a:rPr>
              <a:t>410</a:t>
            </a:r>
          </a:p>
          <a:p>
            <a:pPr algn="ctr">
              <a:spcBef>
                <a:spcPts val="600"/>
              </a:spcBef>
            </a:pPr>
            <a:r>
              <a:rPr sz="1800">
                <a:solidFill>
                  <a:srgbClr val="1F2937"/>
                </a:solidFill>
                <a:latin typeface="Aptos"/>
              </a:rPr>
              <a:t>fast-food restorani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1828800"/>
            <a:ext cx="73152" cy="1920240"/>
          </a:xfrm>
          <a:prstGeom prst="roundRect">
            <a:avLst/>
          </a:prstGeom>
          <a:solidFill>
            <a:srgbClr val="12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305962" y="4465828"/>
            <a:ext cx="9875520" cy="962152"/>
          </a:xfrm>
          <a:prstGeom prst="roundRect">
            <a:avLst/>
          </a:prstGeom>
          <a:solidFill>
            <a:srgbClr val="F8E8E8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27000" rtlCol="0" anchor="t"/>
          <a:lstStyle/>
          <a:p>
            <a:pPr algn="ctr"/>
            <a:r>
              <a:rPr sz="2000" b="1">
                <a:solidFill>
                  <a:srgbClr val="0B1F33"/>
                </a:solidFill>
                <a:latin typeface="Aptos"/>
              </a:rPr>
              <a:t>Mos taqqoslash guruhini topish “oldin–keyin” kuzatuvidan ko‘ra muhimroq bo‘lishi mumkin.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4572000"/>
            <a:ext cx="73152" cy="713232"/>
          </a:xfrm>
          <a:prstGeom prst="roundRect">
            <a:avLst/>
          </a:prstGeom>
          <a:solidFill>
            <a:srgbClr val="A3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8368" y="6144768"/>
            <a:ext cx="10698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Source: Card &amp; Krueger, NBER Working Paper No. 4509, 1993; American Economic Review, 1994.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9184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Aptos"/>
              </a:rPr>
              <a:t>SABABIY SAVOLLAR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76072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0B1F33"/>
                </a:solidFill>
                <a:latin typeface="Aptos Display"/>
              </a:rPr>
              <a:t>“Birga o‘zgardi” emas — “nima sabab bo‘ldi?”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097280" cy="254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tiu-blu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84048"/>
            <a:ext cx="960120" cy="40901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12064" y="6446520"/>
            <a:ext cx="11201400" cy="15240"/>
          </a:xfrm>
          <a:prstGeom prst="rect">
            <a:avLst/>
          </a:prstGeom>
          <a:solidFill>
            <a:srgbClr val="D9D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6510528"/>
            <a:ext cx="98755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TASHKENT INTERNATIONAL UNIVERSITY • EKONOMETRIKA • BAKALAVRIAT 3-KURS • by Sarvar Komilov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44784" y="6510528"/>
            <a:ext cx="8229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Aptos"/>
              </a:rPr>
              <a:t>36 / 57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325880"/>
            <a:ext cx="10241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300" b="1">
                <a:solidFill>
                  <a:srgbClr val="0B1F33"/>
                </a:solidFill>
                <a:latin typeface="Aptos"/>
              </a:rPr>
              <a:t>2021-yil Iqtisodiyot bo‘yicha Nobel mukofoti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1965960"/>
            <a:ext cx="3246120" cy="1965960"/>
          </a:xfrm>
          <a:prstGeom prst="roundRect">
            <a:avLst/>
          </a:prstGeom>
          <a:solidFill>
            <a:srgbClr val="F8F3E7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27000" rtlCol="0" anchor="t"/>
          <a:lstStyle/>
          <a:p>
            <a:pPr algn="ctr"/>
            <a:r>
              <a:rPr sz="2400" b="1">
                <a:solidFill>
                  <a:srgbClr val="0B1F33"/>
                </a:solidFill>
                <a:latin typeface="Aptos"/>
              </a:rPr>
              <a:t>DAVID CARD</a:t>
            </a:r>
          </a:p>
          <a:p>
            <a:pPr algn="ctr">
              <a:spcBef>
                <a:spcPts val="600"/>
              </a:spcBef>
            </a:pPr>
            <a:r>
              <a:rPr sz="1900">
                <a:solidFill>
                  <a:srgbClr val="1F2937"/>
                </a:solidFill>
                <a:latin typeface="Aptos"/>
              </a:rPr>
              <a:t>empirik mehnat iqtisodiyotiga qo‘shgan hissasi uchun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" y="1965960"/>
            <a:ext cx="73152" cy="1965960"/>
          </a:xfrm>
          <a:prstGeom prst="roundRect">
            <a:avLst/>
          </a:prstGeom>
          <a:solidFill>
            <a:srgbClr val="C2A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480560" y="1965960"/>
            <a:ext cx="3246120" cy="1965960"/>
          </a:xfrm>
          <a:prstGeom prst="roundRect">
            <a:avLst/>
          </a:prstGeom>
          <a:solidFill>
            <a:srgbClr val="E5F6F4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27000" rtlCol="0" anchor="t"/>
          <a:lstStyle/>
          <a:p>
            <a:pPr algn="ctr"/>
            <a:r>
              <a:rPr sz="2200" b="1">
                <a:solidFill>
                  <a:srgbClr val="0B1F33"/>
                </a:solidFill>
                <a:latin typeface="Aptos"/>
              </a:rPr>
              <a:t>JOSHUA D. ANGRIST</a:t>
            </a:r>
          </a:p>
          <a:p>
            <a:pPr algn="ctr">
              <a:spcBef>
                <a:spcPts val="600"/>
              </a:spcBef>
            </a:pPr>
            <a:r>
              <a:rPr sz="1800">
                <a:solidFill>
                  <a:srgbClr val="1F2937"/>
                </a:solidFill>
                <a:latin typeface="Aptos"/>
              </a:rPr>
              <a:t>sababiy munosabatlarni tahlil qilish metodologiyasiga qo‘shgan hissasi uchun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1965960"/>
            <a:ext cx="73152" cy="196596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001000" y="1965960"/>
            <a:ext cx="3246120" cy="1965960"/>
          </a:xfrm>
          <a:prstGeom prst="roundRect">
            <a:avLst/>
          </a:prstGeom>
          <a:solidFill>
            <a:srgbClr val="E5F6F4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27000" rtlCol="0" anchor="t"/>
          <a:lstStyle/>
          <a:p>
            <a:pPr algn="ctr"/>
            <a:r>
              <a:rPr sz="2200" b="1">
                <a:solidFill>
                  <a:srgbClr val="0B1F33"/>
                </a:solidFill>
                <a:latin typeface="Aptos"/>
              </a:rPr>
              <a:t>GUIDO W. IMBENS</a:t>
            </a:r>
          </a:p>
          <a:p>
            <a:pPr algn="ctr">
              <a:spcBef>
                <a:spcPts val="600"/>
              </a:spcBef>
            </a:pPr>
            <a:r>
              <a:rPr sz="1800">
                <a:solidFill>
                  <a:srgbClr val="1F2937"/>
                </a:solidFill>
                <a:latin typeface="Aptos"/>
              </a:rPr>
              <a:t>sababiy munosabatlarni tahlil qilish metodologiyasiga qo‘shgan hissasi uchun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1965960"/>
            <a:ext cx="73152" cy="196596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371600" y="4617720"/>
            <a:ext cx="2272284" cy="530352"/>
          </a:xfrm>
          <a:prstGeom prst="roundRect">
            <a:avLst/>
          </a:prstGeom>
          <a:solidFill>
            <a:srgbClr val="E5F6F4"/>
          </a:solidFill>
          <a:ln w="12700">
            <a:solidFill>
              <a:srgbClr val="C2A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1F33"/>
                </a:solidFill>
                <a:latin typeface="Aptos"/>
              </a:rPr>
              <a:t>Natural experiments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25596" y="4718304"/>
            <a:ext cx="16459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>
                <a:solidFill>
                  <a:srgbClr val="C2A56B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53612" y="4617720"/>
            <a:ext cx="2272284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A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1F33"/>
                </a:solidFill>
                <a:latin typeface="Aptos"/>
              </a:rPr>
              <a:t>Causal questions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07608" y="4718304"/>
            <a:ext cx="16459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>
                <a:solidFill>
                  <a:srgbClr val="C2A56B"/>
                </a:solidFill>
                <a:latin typeface="Aptos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35624" y="4617720"/>
            <a:ext cx="2272284" cy="530352"/>
          </a:xfrm>
          <a:prstGeom prst="roundRect">
            <a:avLst/>
          </a:prstGeom>
          <a:solidFill>
            <a:srgbClr val="E5F6F4"/>
          </a:solidFill>
          <a:ln w="12700">
            <a:solidFill>
              <a:srgbClr val="C2A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1F33"/>
                </a:solidFill>
                <a:latin typeface="Aptos"/>
              </a:rPr>
              <a:t>Better evidence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9620" y="4718304"/>
            <a:ext cx="16459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>
                <a:solidFill>
                  <a:srgbClr val="C2A56B"/>
                </a:solidFill>
                <a:latin typeface="Apto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17636" y="4617720"/>
            <a:ext cx="2272284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A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1F33"/>
                </a:solidFill>
                <a:latin typeface="Aptos"/>
              </a:rPr>
              <a:t>Better decisions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144768"/>
            <a:ext cx="10698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Source: The Royal Swedish Academy of Sciences, The Prize in Economic Sciences 2021.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9184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Aptos"/>
              </a:rPr>
              <a:t>REAL POLICY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76072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0B1F33"/>
                </a:solidFill>
                <a:latin typeface="Aptos Display"/>
              </a:rPr>
              <a:t>Markaziy banklar ham iqtisodiy model quradi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097280" cy="254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tiu-blu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84048"/>
            <a:ext cx="960120" cy="40901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12064" y="6446520"/>
            <a:ext cx="11201400" cy="15240"/>
          </a:xfrm>
          <a:prstGeom prst="rect">
            <a:avLst/>
          </a:prstGeom>
          <a:solidFill>
            <a:srgbClr val="D9D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6510528"/>
            <a:ext cx="98755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TASHKENT INTERNATIONAL UNIVERSITY • EKONOMETRIKA • BAKALAVRIAT 3-KURS • by Sarvar Komilov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44784" y="6510528"/>
            <a:ext cx="8229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Aptos"/>
              </a:rPr>
              <a:t>37 / 57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69892" y="3397551"/>
            <a:ext cx="4779958" cy="1470717"/>
          </a:xfrm>
          <a:prstGeom prst="roundRect">
            <a:avLst/>
          </a:prstGeom>
          <a:solidFill>
            <a:srgbClr val="E8EFF8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27000" rtlCol="0" anchor="t"/>
          <a:lstStyle/>
          <a:p>
            <a:pPr algn="l"/>
            <a:r>
              <a:rPr sz="2200" b="1" dirty="0">
                <a:solidFill>
                  <a:srgbClr val="0B1F33"/>
                </a:solidFill>
                <a:latin typeface="Aptos"/>
              </a:rPr>
              <a:t>FRB/US MODEL</a:t>
            </a:r>
          </a:p>
          <a:p>
            <a:pPr algn="l">
              <a:spcBef>
                <a:spcPts val="600"/>
              </a:spcBef>
            </a:pPr>
            <a:r>
              <a:rPr sz="1700" dirty="0">
                <a:solidFill>
                  <a:srgbClr val="1F2937"/>
                </a:solidFill>
                <a:latin typeface="Aptos"/>
              </a:rPr>
              <a:t>Federal Reserve Board </a:t>
            </a:r>
            <a:r>
              <a:rPr sz="1700" dirty="0" err="1">
                <a:solidFill>
                  <a:srgbClr val="1F2937"/>
                </a:solidFill>
                <a:latin typeface="Aptos"/>
              </a:rPr>
              <a:t>tomonidan</a:t>
            </a:r>
            <a:r>
              <a:rPr sz="1700" dirty="0">
                <a:solidFill>
                  <a:srgbClr val="1F2937"/>
                </a:solidFill>
                <a:latin typeface="Aptos"/>
              </a:rPr>
              <a:t> </a:t>
            </a:r>
            <a:r>
              <a:rPr sz="1700" dirty="0" err="1">
                <a:solidFill>
                  <a:srgbClr val="1F2937"/>
                </a:solidFill>
                <a:latin typeface="Aptos"/>
              </a:rPr>
              <a:t>makroiqtisodiy</a:t>
            </a:r>
            <a:r>
              <a:rPr sz="1700" dirty="0">
                <a:solidFill>
                  <a:srgbClr val="1F2937"/>
                </a:solidFill>
                <a:latin typeface="Aptos"/>
              </a:rPr>
              <a:t> </a:t>
            </a:r>
            <a:r>
              <a:rPr sz="1700" dirty="0" err="1">
                <a:solidFill>
                  <a:srgbClr val="1F2937"/>
                </a:solidFill>
                <a:latin typeface="Aptos"/>
              </a:rPr>
              <a:t>prognozlash</a:t>
            </a:r>
            <a:r>
              <a:rPr sz="1700" dirty="0">
                <a:solidFill>
                  <a:srgbClr val="1F2937"/>
                </a:solidFill>
                <a:latin typeface="Aptos"/>
              </a:rPr>
              <a:t> </a:t>
            </a:r>
            <a:r>
              <a:rPr sz="1700" dirty="0" err="1">
                <a:solidFill>
                  <a:srgbClr val="1F2937"/>
                </a:solidFill>
                <a:latin typeface="Aptos"/>
              </a:rPr>
              <a:t>va</a:t>
            </a:r>
            <a:r>
              <a:rPr sz="1700" dirty="0">
                <a:solidFill>
                  <a:srgbClr val="1F2937"/>
                </a:solidFill>
                <a:latin typeface="Aptos"/>
              </a:rPr>
              <a:t> </a:t>
            </a:r>
            <a:r>
              <a:rPr sz="1700" dirty="0" err="1">
                <a:solidFill>
                  <a:srgbClr val="1F2937"/>
                </a:solidFill>
                <a:latin typeface="Aptos"/>
              </a:rPr>
              <a:t>siyosat</a:t>
            </a:r>
            <a:r>
              <a:rPr sz="1700" dirty="0">
                <a:solidFill>
                  <a:srgbClr val="1F2937"/>
                </a:solidFill>
                <a:latin typeface="Aptos"/>
              </a:rPr>
              <a:t> </a:t>
            </a:r>
            <a:r>
              <a:rPr sz="1700" dirty="0" err="1">
                <a:solidFill>
                  <a:srgbClr val="1F2937"/>
                </a:solidFill>
                <a:latin typeface="Aptos"/>
              </a:rPr>
              <a:t>tahlilida</a:t>
            </a:r>
            <a:r>
              <a:rPr sz="1700" dirty="0">
                <a:solidFill>
                  <a:srgbClr val="1F2937"/>
                </a:solidFill>
                <a:latin typeface="Aptos"/>
              </a:rPr>
              <a:t> </a:t>
            </a:r>
            <a:r>
              <a:rPr sz="1700" dirty="0" err="1">
                <a:solidFill>
                  <a:srgbClr val="1F2937"/>
                </a:solidFill>
                <a:latin typeface="Aptos"/>
              </a:rPr>
              <a:t>ishlatiladigan</a:t>
            </a:r>
            <a:r>
              <a:rPr sz="1700" dirty="0">
                <a:solidFill>
                  <a:srgbClr val="1F2937"/>
                </a:solidFill>
                <a:latin typeface="Aptos"/>
              </a:rPr>
              <a:t> </a:t>
            </a:r>
            <a:r>
              <a:rPr sz="1700" dirty="0" err="1">
                <a:solidFill>
                  <a:srgbClr val="1F2937"/>
                </a:solidFill>
                <a:latin typeface="Aptos"/>
              </a:rPr>
              <a:t>modellar</a:t>
            </a:r>
            <a:r>
              <a:rPr sz="1700" dirty="0">
                <a:solidFill>
                  <a:srgbClr val="1F2937"/>
                </a:solidFill>
                <a:latin typeface="Aptos"/>
              </a:rPr>
              <a:t> </a:t>
            </a:r>
            <a:r>
              <a:rPr sz="1700" dirty="0" err="1">
                <a:solidFill>
                  <a:srgbClr val="1F2937"/>
                </a:solidFill>
                <a:latin typeface="Aptos"/>
              </a:rPr>
              <a:t>oilasi</a:t>
            </a:r>
            <a:r>
              <a:rPr sz="1700" dirty="0">
                <a:solidFill>
                  <a:srgbClr val="1F2937"/>
                </a:solidFill>
                <a:latin typeface="Aptos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25448" y="3374141"/>
            <a:ext cx="73152" cy="1365912"/>
          </a:xfrm>
          <a:prstGeom prst="roundRect">
            <a:avLst/>
          </a:prstGeom>
          <a:solidFill>
            <a:srgbClr val="12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251960" y="1465068"/>
            <a:ext cx="6583680" cy="12801"/>
          </a:xfrm>
          <a:prstGeom prst="roundRect">
            <a:avLst/>
          </a:prstGeom>
          <a:solidFill>
            <a:srgbClr val="E5F6F4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B1F33"/>
                </a:solidFill>
                <a:latin typeface="Aptos"/>
              </a:rPr>
              <a:t>FOIZ STAVKASI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70648" y="1686153"/>
            <a:ext cx="14630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C2A56B"/>
                </a:solidFill>
                <a:latin typeface="Aptos"/>
              </a:rPr>
              <a:t>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61104" y="1711757"/>
            <a:ext cx="6583680" cy="1280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dirty="0">
                <a:solidFill>
                  <a:srgbClr val="0B1F33"/>
                </a:solidFill>
                <a:latin typeface="Aptos"/>
              </a:rPr>
              <a:t>UY </a:t>
            </a:r>
            <a:r>
              <a:rPr sz="1500" b="1" dirty="0" err="1">
                <a:solidFill>
                  <a:srgbClr val="0B1F33"/>
                </a:solidFill>
                <a:latin typeface="Aptos"/>
              </a:rPr>
              <a:t>XO‘JALIKLARI</a:t>
            </a:r>
            <a:r>
              <a:rPr sz="1500" b="1" dirty="0">
                <a:solidFill>
                  <a:srgbClr val="0B1F33"/>
                </a:solidFill>
                <a:latin typeface="Aptos"/>
              </a:rPr>
              <a:t> VA </a:t>
            </a:r>
            <a:r>
              <a:rPr sz="1500" b="1" dirty="0" err="1">
                <a:solidFill>
                  <a:srgbClr val="0B1F33"/>
                </a:solidFill>
                <a:latin typeface="Aptos"/>
              </a:rPr>
              <a:t>FIRMALAR</a:t>
            </a:r>
            <a:endParaRPr sz="1500" b="1" dirty="0">
              <a:solidFill>
                <a:srgbClr val="0B1F33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470648" y="1808683"/>
            <a:ext cx="14630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C2A56B"/>
                </a:solidFill>
                <a:latin typeface="Aptos"/>
              </a:rPr>
              <a:t>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51960" y="1936699"/>
            <a:ext cx="6583680" cy="12801"/>
          </a:xfrm>
          <a:prstGeom prst="roundRect">
            <a:avLst/>
          </a:prstGeom>
          <a:solidFill>
            <a:srgbClr val="E5F6F4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B1F33"/>
                </a:solidFill>
                <a:latin typeface="Aptos"/>
              </a:rPr>
              <a:t>SARF / INVESTITSIYA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70648" y="1931212"/>
            <a:ext cx="14630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C2A56B"/>
                </a:solidFill>
                <a:latin typeface="Aptos"/>
              </a:rPr>
              <a:t>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51960" y="2139858"/>
            <a:ext cx="6583680" cy="1280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B1F33"/>
                </a:solidFill>
                <a:latin typeface="Aptos"/>
              </a:rPr>
              <a:t>OUTPUT &amp; BANDLIK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70648" y="2053742"/>
            <a:ext cx="14630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C2A56B"/>
                </a:solidFill>
                <a:latin typeface="Aptos"/>
              </a:rPr>
              <a:t>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51960" y="2350367"/>
            <a:ext cx="6583680" cy="12801"/>
          </a:xfrm>
          <a:prstGeom prst="roundRect">
            <a:avLst/>
          </a:prstGeom>
          <a:solidFill>
            <a:srgbClr val="E5F6F4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B1F33"/>
                </a:solidFill>
                <a:latin typeface="Aptos"/>
              </a:rPr>
              <a:t>INFLYATSIYA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58803" y="3383083"/>
            <a:ext cx="4853110" cy="1417320"/>
          </a:xfrm>
          <a:prstGeom prst="roundRect">
            <a:avLst/>
          </a:prstGeom>
          <a:solidFill>
            <a:srgbClr val="F8F3E7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27000" rtlCol="0" anchor="t"/>
          <a:lstStyle/>
          <a:p>
            <a:pPr algn="l"/>
            <a:r>
              <a:rPr sz="2200" b="1" dirty="0">
                <a:solidFill>
                  <a:srgbClr val="0B1F33"/>
                </a:solidFill>
                <a:latin typeface="Aptos"/>
              </a:rPr>
              <a:t>Savol</a:t>
            </a:r>
          </a:p>
          <a:p>
            <a:pPr algn="l">
              <a:spcBef>
                <a:spcPts val="600"/>
              </a:spcBef>
            </a:pPr>
            <a:r>
              <a:rPr sz="2000" dirty="0" err="1">
                <a:solidFill>
                  <a:srgbClr val="1F2937"/>
                </a:solidFill>
                <a:latin typeface="Aptos"/>
              </a:rPr>
              <a:t>Foiz</a:t>
            </a:r>
            <a:r>
              <a:rPr sz="2000" dirty="0">
                <a:solidFill>
                  <a:srgbClr val="1F2937"/>
                </a:solidFill>
                <a:latin typeface="Aptos"/>
              </a:rPr>
              <a:t> </a:t>
            </a:r>
            <a:r>
              <a:rPr sz="2000" dirty="0" err="1">
                <a:solidFill>
                  <a:srgbClr val="1F2937"/>
                </a:solidFill>
                <a:latin typeface="Aptos"/>
              </a:rPr>
              <a:t>stavkasi</a:t>
            </a:r>
            <a:r>
              <a:rPr sz="2000" dirty="0">
                <a:solidFill>
                  <a:srgbClr val="1F2937"/>
                </a:solidFill>
                <a:latin typeface="Aptos"/>
              </a:rPr>
              <a:t> </a:t>
            </a:r>
            <a:r>
              <a:rPr sz="2000" dirty="0" err="1">
                <a:solidFill>
                  <a:srgbClr val="1F2937"/>
                </a:solidFill>
                <a:latin typeface="Aptos"/>
              </a:rPr>
              <a:t>o‘zgarsa</a:t>
            </a:r>
            <a:r>
              <a:rPr sz="2000" dirty="0">
                <a:solidFill>
                  <a:srgbClr val="1F2937"/>
                </a:solidFill>
                <a:latin typeface="Aptos"/>
              </a:rPr>
              <a:t>, </a:t>
            </a:r>
            <a:r>
              <a:rPr sz="2000" dirty="0" err="1">
                <a:solidFill>
                  <a:srgbClr val="1F2937"/>
                </a:solidFill>
                <a:latin typeface="Aptos"/>
              </a:rPr>
              <a:t>iqtisodiyotning</a:t>
            </a:r>
            <a:r>
              <a:rPr sz="2000" dirty="0">
                <a:solidFill>
                  <a:srgbClr val="1F2937"/>
                </a:solidFill>
                <a:latin typeface="Aptos"/>
              </a:rPr>
              <a:t> </a:t>
            </a:r>
            <a:r>
              <a:rPr sz="2000" dirty="0" err="1">
                <a:solidFill>
                  <a:srgbClr val="1F2937"/>
                </a:solidFill>
                <a:latin typeface="Aptos"/>
              </a:rPr>
              <a:t>boshqa</a:t>
            </a:r>
            <a:r>
              <a:rPr sz="2000" dirty="0">
                <a:solidFill>
                  <a:srgbClr val="1F2937"/>
                </a:solidFill>
                <a:latin typeface="Aptos"/>
              </a:rPr>
              <a:t> </a:t>
            </a:r>
            <a:r>
              <a:rPr sz="2000" dirty="0" err="1">
                <a:solidFill>
                  <a:srgbClr val="1F2937"/>
                </a:solidFill>
                <a:latin typeface="Aptos"/>
              </a:rPr>
              <a:t>qismlari</a:t>
            </a:r>
            <a:r>
              <a:rPr sz="2000" dirty="0">
                <a:solidFill>
                  <a:srgbClr val="1F2937"/>
                </a:solidFill>
                <a:latin typeface="Aptos"/>
              </a:rPr>
              <a:t> </a:t>
            </a:r>
            <a:r>
              <a:rPr sz="2000" dirty="0" err="1">
                <a:solidFill>
                  <a:srgbClr val="1F2937"/>
                </a:solidFill>
                <a:latin typeface="Aptos"/>
              </a:rPr>
              <a:t>qanday</a:t>
            </a:r>
            <a:r>
              <a:rPr sz="2000" dirty="0">
                <a:solidFill>
                  <a:srgbClr val="1F2937"/>
                </a:solidFill>
                <a:latin typeface="Aptos"/>
              </a:rPr>
              <a:t> </a:t>
            </a:r>
            <a:r>
              <a:rPr sz="2000" dirty="0" err="1">
                <a:solidFill>
                  <a:srgbClr val="1F2937"/>
                </a:solidFill>
                <a:latin typeface="Aptos"/>
              </a:rPr>
              <a:t>javob</a:t>
            </a:r>
            <a:r>
              <a:rPr sz="2000" dirty="0">
                <a:solidFill>
                  <a:srgbClr val="1F2937"/>
                </a:solidFill>
                <a:latin typeface="Aptos"/>
              </a:rPr>
              <a:t> </a:t>
            </a:r>
            <a:r>
              <a:rPr sz="2000" dirty="0" err="1">
                <a:solidFill>
                  <a:srgbClr val="1F2937"/>
                </a:solidFill>
                <a:latin typeface="Aptos"/>
              </a:rPr>
              <a:t>beradi</a:t>
            </a:r>
            <a:r>
              <a:rPr sz="2000" dirty="0">
                <a:solidFill>
                  <a:srgbClr val="1F2937"/>
                </a:solidFill>
                <a:latin typeface="Aptos"/>
              </a:rPr>
              <a:t>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227" y="3374141"/>
            <a:ext cx="73152" cy="1417320"/>
          </a:xfrm>
          <a:prstGeom prst="roundRect">
            <a:avLst/>
          </a:prstGeom>
          <a:solidFill>
            <a:srgbClr val="C2A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68680" y="5339899"/>
            <a:ext cx="10844784" cy="594360"/>
          </a:xfrm>
          <a:prstGeom prst="roundRect">
            <a:avLst/>
          </a:prstGeom>
          <a:solidFill>
            <a:srgbClr val="E5F6F4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27000" rtlCol="0" anchor="t"/>
          <a:lstStyle/>
          <a:p>
            <a:pPr algn="ctr"/>
            <a:r>
              <a:rPr sz="1900" b="1">
                <a:solidFill>
                  <a:srgbClr val="0B1F33"/>
                </a:solidFill>
                <a:latin typeface="Aptos"/>
              </a:rPr>
              <a:t>Ekonometrik va makroiqtisodiy modellar katta siyosiy qarorlarni tahlil qilishda ham ishlatiladi.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5312664"/>
            <a:ext cx="73152" cy="59436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8368" y="6144768"/>
            <a:ext cx="10698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Source: Federal Reserve Board, “The FRB/US Model: A Tool for Macroeconomic Policy Analysis.”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9184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Aptos"/>
              </a:rPr>
              <a:t>BOSHLANG‘ICH NUQTA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76072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0B1F33"/>
                </a:solidFill>
                <a:latin typeface="Aptos Display"/>
              </a:rPr>
              <a:t>Model kompyuterdan boshlanmaydi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097280" cy="254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tiu-blu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84048"/>
            <a:ext cx="960120" cy="40901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12064" y="6446520"/>
            <a:ext cx="11201400" cy="15240"/>
          </a:xfrm>
          <a:prstGeom prst="rect">
            <a:avLst/>
          </a:prstGeom>
          <a:solidFill>
            <a:srgbClr val="D9D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6510528"/>
            <a:ext cx="98755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TASHKENT INTERNATIONAL UNIVERSITY • EKONOMETRIKA • BAKALAVRIAT 3-KURS • by Sarvar Komilov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44784" y="6510528"/>
            <a:ext cx="8229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Aptos"/>
              </a:rPr>
              <a:t>38 / 57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1554480"/>
            <a:ext cx="1978761" cy="566928"/>
          </a:xfrm>
          <a:prstGeom prst="roundRect">
            <a:avLst/>
          </a:prstGeom>
          <a:solidFill>
            <a:srgbClr val="E5F6F4"/>
          </a:solidFill>
          <a:ln w="12700">
            <a:solidFill>
              <a:srgbClr val="A3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0B1F33"/>
                </a:solidFill>
                <a:latin typeface="Aptos"/>
              </a:rPr>
              <a:t>EVIEWS?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74873" y="1655064"/>
            <a:ext cx="16459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>
                <a:solidFill>
                  <a:srgbClr val="C2A56B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02889" y="1554480"/>
            <a:ext cx="1978761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3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0B1F33"/>
                </a:solidFill>
                <a:latin typeface="Aptos"/>
              </a:rPr>
              <a:t>PYTHON?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63363" y="1655064"/>
            <a:ext cx="16459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>
                <a:solidFill>
                  <a:srgbClr val="C2A56B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91379" y="1554480"/>
            <a:ext cx="1978761" cy="566928"/>
          </a:xfrm>
          <a:prstGeom prst="roundRect">
            <a:avLst/>
          </a:prstGeom>
          <a:solidFill>
            <a:srgbClr val="E5F6F4"/>
          </a:solidFill>
          <a:ln w="12700">
            <a:solidFill>
              <a:srgbClr val="A3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0B1F33"/>
                </a:solidFill>
                <a:latin typeface="Aptos"/>
              </a:rPr>
              <a:t>STATA?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51852" y="1655064"/>
            <a:ext cx="16459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>
                <a:solidFill>
                  <a:srgbClr val="C2A56B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79868" y="1554480"/>
            <a:ext cx="1978761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3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0B1F33"/>
                </a:solidFill>
                <a:latin typeface="Aptos"/>
              </a:rPr>
              <a:t>R?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0342" y="1655064"/>
            <a:ext cx="16459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>
                <a:solidFill>
                  <a:srgbClr val="C2A56B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68358" y="1554480"/>
            <a:ext cx="1978761" cy="566928"/>
          </a:xfrm>
          <a:prstGeom prst="roundRect">
            <a:avLst/>
          </a:prstGeom>
          <a:solidFill>
            <a:srgbClr val="E5F6F4"/>
          </a:solidFill>
          <a:ln w="12700">
            <a:solidFill>
              <a:srgbClr val="A3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0B1F33"/>
                </a:solidFill>
                <a:latin typeface="Aptos"/>
              </a:rPr>
              <a:t>EXCEL?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66360" y="256032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800" b="1">
                <a:solidFill>
                  <a:srgbClr val="A33A3A"/>
                </a:solidFill>
                <a:latin typeface="Aptos Display"/>
              </a:rPr>
              <a:t>YO‘Q.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51560" y="3337560"/>
            <a:ext cx="4526280" cy="1557528"/>
          </a:xfrm>
          <a:prstGeom prst="roundRect">
            <a:avLst/>
          </a:prstGeom>
          <a:solidFill>
            <a:srgbClr val="F8E8E8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27000" rtlCol="0" anchor="t"/>
          <a:lstStyle/>
          <a:p>
            <a:pPr algn="ctr"/>
            <a:r>
              <a:rPr sz="2200" b="1">
                <a:solidFill>
                  <a:srgbClr val="0B1F33"/>
                </a:solidFill>
                <a:latin typeface="Aptos"/>
              </a:rPr>
              <a:t>Juda keng</a:t>
            </a:r>
          </a:p>
          <a:p>
            <a:pPr algn="ctr">
              <a:spcBef>
                <a:spcPts val="600"/>
              </a:spcBef>
            </a:pPr>
            <a:r>
              <a:rPr sz="2200">
                <a:solidFill>
                  <a:srgbClr val="1F2937"/>
                </a:solidFill>
                <a:latin typeface="Aptos"/>
              </a:rPr>
              <a:t>“Inflyatsiyani o‘rganamiz.”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51560" y="3337560"/>
            <a:ext cx="73152" cy="1188720"/>
          </a:xfrm>
          <a:prstGeom prst="roundRect">
            <a:avLst/>
          </a:prstGeom>
          <a:solidFill>
            <a:srgbClr val="A3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400800" y="3337560"/>
            <a:ext cx="4526280" cy="1584960"/>
          </a:xfrm>
          <a:prstGeom prst="roundRect">
            <a:avLst/>
          </a:prstGeom>
          <a:solidFill>
            <a:srgbClr val="E5F6F4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27000" rtlCol="0" anchor="t"/>
          <a:lstStyle/>
          <a:p>
            <a:pPr algn="ctr"/>
            <a:r>
              <a:rPr sz="2200" b="1" dirty="0" err="1">
                <a:solidFill>
                  <a:srgbClr val="0B1F33"/>
                </a:solidFill>
                <a:latin typeface="Aptos"/>
              </a:rPr>
              <a:t>Aniqroq</a:t>
            </a:r>
            <a:endParaRPr sz="2200" b="1" dirty="0">
              <a:solidFill>
                <a:srgbClr val="0B1F33"/>
              </a:solidFill>
              <a:latin typeface="Aptos"/>
            </a:endParaRPr>
          </a:p>
          <a:p>
            <a:pPr algn="ctr">
              <a:spcBef>
                <a:spcPts val="600"/>
              </a:spcBef>
            </a:pPr>
            <a:r>
              <a:rPr sz="1900" dirty="0">
                <a:solidFill>
                  <a:srgbClr val="1F2937"/>
                </a:solidFill>
                <a:latin typeface="Aptos"/>
              </a:rPr>
              <a:t>“</a:t>
            </a:r>
            <a:r>
              <a:rPr sz="1900" dirty="0" err="1">
                <a:solidFill>
                  <a:srgbClr val="1F2937"/>
                </a:solidFill>
                <a:latin typeface="Aptos"/>
              </a:rPr>
              <a:t>Valyuta</a:t>
            </a:r>
            <a:r>
              <a:rPr sz="1900" dirty="0">
                <a:solidFill>
                  <a:srgbClr val="1F2937"/>
                </a:solidFill>
                <a:latin typeface="Aptos"/>
              </a:rPr>
              <a:t> </a:t>
            </a:r>
            <a:r>
              <a:rPr sz="1900" dirty="0" err="1">
                <a:solidFill>
                  <a:srgbClr val="1F2937"/>
                </a:solidFill>
                <a:latin typeface="Aptos"/>
              </a:rPr>
              <a:t>kursidagi</a:t>
            </a:r>
            <a:r>
              <a:rPr sz="1900" dirty="0">
                <a:solidFill>
                  <a:srgbClr val="1F2937"/>
                </a:solidFill>
                <a:latin typeface="Aptos"/>
              </a:rPr>
              <a:t> </a:t>
            </a:r>
            <a:r>
              <a:rPr sz="1900" dirty="0" err="1">
                <a:solidFill>
                  <a:srgbClr val="1F2937"/>
                </a:solidFill>
                <a:latin typeface="Aptos"/>
              </a:rPr>
              <a:t>o‘zgarishlar</a:t>
            </a:r>
            <a:r>
              <a:rPr sz="1900" dirty="0">
                <a:solidFill>
                  <a:srgbClr val="1F2937"/>
                </a:solidFill>
                <a:latin typeface="Aptos"/>
              </a:rPr>
              <a:t> </a:t>
            </a:r>
            <a:r>
              <a:rPr sz="1900" dirty="0" err="1">
                <a:solidFill>
                  <a:srgbClr val="1F2937"/>
                </a:solidFill>
                <a:latin typeface="Aptos"/>
              </a:rPr>
              <a:t>iste’mol</a:t>
            </a:r>
            <a:r>
              <a:rPr sz="1900" dirty="0">
                <a:solidFill>
                  <a:srgbClr val="1F2937"/>
                </a:solidFill>
                <a:latin typeface="Aptos"/>
              </a:rPr>
              <a:t> </a:t>
            </a:r>
            <a:r>
              <a:rPr sz="1900" dirty="0" err="1">
                <a:solidFill>
                  <a:srgbClr val="1F2937"/>
                </a:solidFill>
                <a:latin typeface="Aptos"/>
              </a:rPr>
              <a:t>narxlari</a:t>
            </a:r>
            <a:r>
              <a:rPr sz="1900" dirty="0">
                <a:solidFill>
                  <a:srgbClr val="1F2937"/>
                </a:solidFill>
                <a:latin typeface="Aptos"/>
              </a:rPr>
              <a:t> </a:t>
            </a:r>
            <a:r>
              <a:rPr sz="1900" dirty="0" err="1">
                <a:solidFill>
                  <a:srgbClr val="1F2937"/>
                </a:solidFill>
                <a:latin typeface="Aptos"/>
              </a:rPr>
              <a:t>inflyatsiyasi</a:t>
            </a:r>
            <a:r>
              <a:rPr sz="1900" dirty="0">
                <a:solidFill>
                  <a:srgbClr val="1F2937"/>
                </a:solidFill>
                <a:latin typeface="Aptos"/>
              </a:rPr>
              <a:t> </a:t>
            </a:r>
            <a:r>
              <a:rPr sz="1900" dirty="0" err="1">
                <a:solidFill>
                  <a:srgbClr val="1F2937"/>
                </a:solidFill>
                <a:latin typeface="Aptos"/>
              </a:rPr>
              <a:t>bilan</a:t>
            </a:r>
            <a:r>
              <a:rPr sz="1900" dirty="0">
                <a:solidFill>
                  <a:srgbClr val="1F2937"/>
                </a:solidFill>
                <a:latin typeface="Aptos"/>
              </a:rPr>
              <a:t> </a:t>
            </a:r>
            <a:r>
              <a:rPr sz="1900" dirty="0" err="1">
                <a:solidFill>
                  <a:srgbClr val="1F2937"/>
                </a:solidFill>
                <a:latin typeface="Aptos"/>
              </a:rPr>
              <a:t>qanday</a:t>
            </a:r>
            <a:r>
              <a:rPr sz="1900" dirty="0">
                <a:solidFill>
                  <a:srgbClr val="1F2937"/>
                </a:solidFill>
                <a:latin typeface="Aptos"/>
              </a:rPr>
              <a:t> </a:t>
            </a:r>
            <a:r>
              <a:rPr sz="1900" dirty="0" err="1">
                <a:solidFill>
                  <a:srgbClr val="1F2937"/>
                </a:solidFill>
                <a:latin typeface="Aptos"/>
              </a:rPr>
              <a:t>bog‘langan</a:t>
            </a:r>
            <a:r>
              <a:rPr sz="1900" dirty="0">
                <a:solidFill>
                  <a:srgbClr val="1F2937"/>
                </a:solidFill>
                <a:latin typeface="Aptos"/>
              </a:rPr>
              <a:t>?”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3337560"/>
            <a:ext cx="73152" cy="118872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371600" y="5257800"/>
            <a:ext cx="9418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300" b="1">
                <a:solidFill>
                  <a:srgbClr val="0B1F33"/>
                </a:solidFill>
                <a:latin typeface="Aptos"/>
              </a:rPr>
              <a:t>Dastur — vosita. Tadqiqot savoli — boshlang‘ich nuqta.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9184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Aptos"/>
              </a:rPr>
              <a:t>MODELLASHTIRISH ZANJIRI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76072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0B1F33"/>
                </a:solidFill>
                <a:latin typeface="Aptos Display"/>
              </a:rPr>
              <a:t>Ekonometrik tadqiqotning umumiy mantiqi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097280" cy="254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tiu-blu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84048"/>
            <a:ext cx="960120" cy="40901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12064" y="6446520"/>
            <a:ext cx="11201400" cy="15240"/>
          </a:xfrm>
          <a:prstGeom prst="rect">
            <a:avLst/>
          </a:prstGeom>
          <a:solidFill>
            <a:srgbClr val="D9D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6510528"/>
            <a:ext cx="98755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TASHKENT INTERNATIONAL UNIVERSITY • EKONOMETRIKA • BAKALAVRIAT 3-KURS • by Sarvar Komilov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44784" y="6510528"/>
            <a:ext cx="8229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Aptos"/>
              </a:rPr>
              <a:t>39 / 57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00200"/>
            <a:ext cx="19659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27000" rtlCol="0" anchor="t"/>
          <a:lstStyle/>
          <a:p>
            <a:pPr algn="ctr"/>
            <a:r>
              <a:rPr sz="1400" b="1">
                <a:solidFill>
                  <a:srgbClr val="0F766E"/>
                </a:solidFill>
                <a:latin typeface="Aptos"/>
              </a:rPr>
              <a:t>01</a:t>
            </a:r>
          </a:p>
          <a:p>
            <a:pPr algn="ctr"/>
            <a:r>
              <a:rPr sz="1600" b="1">
                <a:solidFill>
                  <a:srgbClr val="0B1F33"/>
                </a:solidFill>
                <a:latin typeface="Aptos"/>
              </a:rPr>
              <a:t>Iqtisodiy muammo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600200"/>
            <a:ext cx="73152" cy="96012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926080" y="1600200"/>
            <a:ext cx="19659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27000" rtlCol="0" anchor="t"/>
          <a:lstStyle/>
          <a:p>
            <a:pPr algn="ctr"/>
            <a:r>
              <a:rPr sz="1400" b="1">
                <a:solidFill>
                  <a:srgbClr val="C2A56B"/>
                </a:solidFill>
                <a:latin typeface="Aptos"/>
              </a:rPr>
              <a:t>02</a:t>
            </a:r>
          </a:p>
          <a:p>
            <a:pPr algn="ctr"/>
            <a:r>
              <a:rPr sz="1600" b="1">
                <a:solidFill>
                  <a:srgbClr val="0B1F33"/>
                </a:solidFill>
                <a:latin typeface="Aptos"/>
              </a:rPr>
              <a:t>Nazariya va gipoteza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26080" y="1600200"/>
            <a:ext cx="73152" cy="960120"/>
          </a:xfrm>
          <a:prstGeom prst="roundRect">
            <a:avLst/>
          </a:prstGeom>
          <a:solidFill>
            <a:srgbClr val="C2A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166360" y="1600200"/>
            <a:ext cx="19659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27000" rtlCol="0" anchor="t"/>
          <a:lstStyle/>
          <a:p>
            <a:pPr algn="ctr"/>
            <a:r>
              <a:rPr sz="1400" b="1">
                <a:solidFill>
                  <a:srgbClr val="123052"/>
                </a:solidFill>
                <a:latin typeface="Aptos"/>
              </a:rPr>
              <a:t>03</a:t>
            </a:r>
          </a:p>
          <a:p>
            <a:pPr algn="ctr"/>
            <a:r>
              <a:rPr sz="1600" b="1">
                <a:solidFill>
                  <a:srgbClr val="0B1F33"/>
                </a:solidFill>
                <a:latin typeface="Aptos"/>
              </a:rPr>
              <a:t>O‘zgaruvchilar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66360" y="1600200"/>
            <a:ext cx="73152" cy="960120"/>
          </a:xfrm>
          <a:prstGeom prst="roundRect">
            <a:avLst/>
          </a:prstGeom>
          <a:solidFill>
            <a:srgbClr val="12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406640" y="1600200"/>
            <a:ext cx="19659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27000" rtlCol="0" anchor="t"/>
          <a:lstStyle/>
          <a:p>
            <a:pPr algn="ctr"/>
            <a:r>
              <a:rPr sz="1400" b="1">
                <a:solidFill>
                  <a:srgbClr val="A33A3A"/>
                </a:solidFill>
                <a:latin typeface="Aptos"/>
              </a:rPr>
              <a:t>04</a:t>
            </a:r>
          </a:p>
          <a:p>
            <a:pPr algn="ctr"/>
            <a:r>
              <a:rPr sz="1600" b="1">
                <a:solidFill>
                  <a:srgbClr val="0B1F33"/>
                </a:solidFill>
                <a:latin typeface="Aptos"/>
              </a:rPr>
              <a:t>Ma’lumot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06640" y="1600200"/>
            <a:ext cx="73152" cy="960120"/>
          </a:xfrm>
          <a:prstGeom prst="roundRect">
            <a:avLst/>
          </a:prstGeom>
          <a:solidFill>
            <a:srgbClr val="A3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646920" y="1600200"/>
            <a:ext cx="19659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27000" rtlCol="0" anchor="t"/>
          <a:lstStyle/>
          <a:p>
            <a:pPr algn="ctr"/>
            <a:r>
              <a:rPr sz="1400" b="1">
                <a:solidFill>
                  <a:srgbClr val="0F766E"/>
                </a:solidFill>
                <a:latin typeface="Aptos"/>
              </a:rPr>
              <a:t>05</a:t>
            </a:r>
          </a:p>
          <a:p>
            <a:pPr algn="ctr"/>
            <a:r>
              <a:rPr sz="1600" b="1">
                <a:solidFill>
                  <a:srgbClr val="0B1F33"/>
                </a:solidFill>
                <a:latin typeface="Aptos"/>
              </a:rPr>
              <a:t>Model spetsifikatsiyasi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46920" y="1600200"/>
            <a:ext cx="73152" cy="96012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85800" y="3108960"/>
            <a:ext cx="19659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27000" rtlCol="0" anchor="t"/>
          <a:lstStyle/>
          <a:p>
            <a:pPr algn="ctr"/>
            <a:r>
              <a:rPr sz="1400" b="1">
                <a:solidFill>
                  <a:srgbClr val="C2A56B"/>
                </a:solidFill>
                <a:latin typeface="Aptos"/>
              </a:rPr>
              <a:t>06</a:t>
            </a:r>
          </a:p>
          <a:p>
            <a:pPr algn="ctr"/>
            <a:r>
              <a:rPr sz="1600" b="1">
                <a:solidFill>
                  <a:srgbClr val="0B1F33"/>
                </a:solidFill>
                <a:latin typeface="Aptos"/>
              </a:rPr>
              <a:t>Baholash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108960"/>
            <a:ext cx="73152" cy="960120"/>
          </a:xfrm>
          <a:prstGeom prst="roundRect">
            <a:avLst/>
          </a:prstGeom>
          <a:solidFill>
            <a:srgbClr val="C2A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2926080" y="3108960"/>
            <a:ext cx="19659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27000" rtlCol="0" anchor="t"/>
          <a:lstStyle/>
          <a:p>
            <a:pPr algn="ctr"/>
            <a:r>
              <a:rPr sz="1400" b="1">
                <a:solidFill>
                  <a:srgbClr val="123052"/>
                </a:solidFill>
                <a:latin typeface="Aptos"/>
              </a:rPr>
              <a:t>07</a:t>
            </a:r>
          </a:p>
          <a:p>
            <a:pPr algn="ctr"/>
            <a:r>
              <a:rPr sz="1600" b="1">
                <a:solidFill>
                  <a:srgbClr val="0B1F33"/>
                </a:solidFill>
                <a:latin typeface="Aptos"/>
              </a:rPr>
              <a:t>Tekshirish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926080" y="3108960"/>
            <a:ext cx="73152" cy="960120"/>
          </a:xfrm>
          <a:prstGeom prst="roundRect">
            <a:avLst/>
          </a:prstGeom>
          <a:solidFill>
            <a:srgbClr val="12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5166360" y="3108960"/>
            <a:ext cx="19659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27000" rtlCol="0" anchor="t"/>
          <a:lstStyle/>
          <a:p>
            <a:pPr algn="ctr"/>
            <a:r>
              <a:rPr sz="1400" b="1">
                <a:solidFill>
                  <a:srgbClr val="A33A3A"/>
                </a:solidFill>
                <a:latin typeface="Aptos"/>
              </a:rPr>
              <a:t>08</a:t>
            </a:r>
          </a:p>
          <a:p>
            <a:pPr algn="ctr"/>
            <a:r>
              <a:rPr sz="1600" b="1">
                <a:solidFill>
                  <a:srgbClr val="0B1F33"/>
                </a:solidFill>
                <a:latin typeface="Aptos"/>
              </a:rPr>
              <a:t>Iqtisodiy talqin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66360" y="3108960"/>
            <a:ext cx="73152" cy="960120"/>
          </a:xfrm>
          <a:prstGeom prst="roundRect">
            <a:avLst/>
          </a:prstGeom>
          <a:solidFill>
            <a:srgbClr val="A3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7406640" y="3108960"/>
            <a:ext cx="19659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27000" rtlCol="0" anchor="t"/>
          <a:lstStyle/>
          <a:p>
            <a:pPr algn="ctr"/>
            <a:r>
              <a:rPr sz="1400" b="1">
                <a:solidFill>
                  <a:srgbClr val="0F766E"/>
                </a:solidFill>
                <a:latin typeface="Aptos"/>
              </a:rPr>
              <a:t>09</a:t>
            </a:r>
          </a:p>
          <a:p>
            <a:pPr algn="ctr"/>
            <a:r>
              <a:rPr sz="1600" b="1">
                <a:solidFill>
                  <a:srgbClr val="0B1F33"/>
                </a:solidFill>
                <a:latin typeface="Aptos"/>
              </a:rPr>
              <a:t>Prognoz / qaror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06640" y="3108960"/>
            <a:ext cx="73152" cy="96012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9646920" y="3108960"/>
            <a:ext cx="19659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27000" rtlCol="0" anchor="t"/>
          <a:lstStyle/>
          <a:p>
            <a:pPr algn="ctr"/>
            <a:r>
              <a:rPr sz="1400" b="1">
                <a:solidFill>
                  <a:srgbClr val="C2A56B"/>
                </a:solidFill>
                <a:latin typeface="Aptos"/>
              </a:rPr>
              <a:t>10</a:t>
            </a:r>
          </a:p>
          <a:p>
            <a:pPr algn="ctr"/>
            <a:r>
              <a:rPr sz="1600" b="1">
                <a:solidFill>
                  <a:srgbClr val="0B1F33"/>
                </a:solidFill>
                <a:latin typeface="Aptos"/>
              </a:rPr>
              <a:t>Qayta tekshirish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46920" y="3108960"/>
            <a:ext cx="73152" cy="960120"/>
          </a:xfrm>
          <a:prstGeom prst="roundRect">
            <a:avLst/>
          </a:prstGeom>
          <a:solidFill>
            <a:srgbClr val="C2A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1097280" y="5166360"/>
            <a:ext cx="9966960" cy="793686"/>
          </a:xfrm>
          <a:prstGeom prst="roundRect">
            <a:avLst/>
          </a:prstGeom>
          <a:solidFill>
            <a:srgbClr val="F8F3E7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27000" rtlCol="0" anchor="t"/>
          <a:lstStyle/>
          <a:p>
            <a:pPr algn="ctr"/>
            <a:r>
              <a:rPr sz="1800" b="1">
                <a:solidFill>
                  <a:srgbClr val="0B1F33"/>
                </a:solidFill>
                <a:latin typeface="Aptos"/>
              </a:rPr>
              <a:t>Bu jarayon doimo qat’iy bir tomonlama emas. Natijalar oldingi bosqichlarni qayta ko‘rib chiqishni talab qilishi mumkin.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97280" y="5166360"/>
            <a:ext cx="73152" cy="658368"/>
          </a:xfrm>
          <a:prstGeom prst="roundRect">
            <a:avLst/>
          </a:prstGeom>
          <a:solidFill>
            <a:srgbClr val="C2A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9184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Aptos"/>
              </a:rPr>
              <a:t>MODELLASHTIRISH BOSQICHLARI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76072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0B1F33"/>
                </a:solidFill>
                <a:latin typeface="Aptos Display"/>
              </a:rPr>
              <a:t>1-bosqich. Aniq tadqiqot savolini qo‘yish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097280" cy="254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tiu-blu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84048"/>
            <a:ext cx="960120" cy="40901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12064" y="6446520"/>
            <a:ext cx="11201400" cy="15240"/>
          </a:xfrm>
          <a:prstGeom prst="rect">
            <a:avLst/>
          </a:prstGeom>
          <a:solidFill>
            <a:srgbClr val="D9D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6510528"/>
            <a:ext cx="98755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TASHKENT INTERNATIONAL UNIVERSITY • EKONOMETRIKA • BAKALAVRIAT 3-KURS • by Sarvar Komilov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44784" y="6510528"/>
            <a:ext cx="8229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Aptos"/>
              </a:rPr>
              <a:t>40 / 57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1554480"/>
            <a:ext cx="4846320" cy="1371600"/>
          </a:xfrm>
          <a:prstGeom prst="roundRect">
            <a:avLst/>
          </a:prstGeom>
          <a:solidFill>
            <a:srgbClr val="F8E8E8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27000" rtlCol="0" anchor="t"/>
          <a:lstStyle/>
          <a:p>
            <a:pPr algn="ctr"/>
            <a:r>
              <a:rPr sz="2400" b="1">
                <a:solidFill>
                  <a:srgbClr val="0B1F33"/>
                </a:solidFill>
                <a:latin typeface="Aptos"/>
              </a:rPr>
              <a:t>Yomon savol</a:t>
            </a:r>
          </a:p>
          <a:p>
            <a:pPr algn="ctr">
              <a:spcBef>
                <a:spcPts val="600"/>
              </a:spcBef>
            </a:pPr>
            <a:r>
              <a:rPr sz="2300">
                <a:solidFill>
                  <a:srgbClr val="1F2937"/>
                </a:solidFill>
                <a:latin typeface="Aptos"/>
              </a:rPr>
              <a:t>“Ta’limni o‘rganamiz.”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1554480"/>
            <a:ext cx="73152" cy="1371600"/>
          </a:xfrm>
          <a:prstGeom prst="roundRect">
            <a:avLst/>
          </a:prstGeom>
          <a:solidFill>
            <a:srgbClr val="A3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400800" y="1554480"/>
            <a:ext cx="4846320" cy="1371600"/>
          </a:xfrm>
          <a:prstGeom prst="roundRect">
            <a:avLst/>
          </a:prstGeom>
          <a:solidFill>
            <a:srgbClr val="E5F6F4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27000" rtlCol="0" anchor="t"/>
          <a:lstStyle/>
          <a:p>
            <a:pPr algn="ctr"/>
            <a:r>
              <a:rPr sz="2400" b="1">
                <a:solidFill>
                  <a:srgbClr val="0B1F33"/>
                </a:solidFill>
                <a:latin typeface="Aptos"/>
              </a:rPr>
              <a:t>Yaxshi savol</a:t>
            </a:r>
          </a:p>
          <a:p>
            <a:pPr algn="ctr">
              <a:spcBef>
                <a:spcPts val="600"/>
              </a:spcBef>
            </a:pPr>
            <a:r>
              <a:rPr sz="2000">
                <a:solidFill>
                  <a:srgbClr val="1F2937"/>
                </a:solidFill>
                <a:latin typeface="Aptos"/>
              </a:rPr>
              <a:t>“Qo‘shimcha ta’lim yili ish haqi darajasi bilan qanday bog‘langan?”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554480"/>
            <a:ext cx="73152" cy="137160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108960" y="3337560"/>
            <a:ext cx="59436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000" b="0">
                <a:solidFill>
                  <a:srgbClr val="0B1F33"/>
                </a:solidFill>
                <a:latin typeface="Cambria Math"/>
              </a:rPr>
              <a:t>Ta’lim → Ish haqi 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73823" y="4566493"/>
            <a:ext cx="9966960" cy="1016854"/>
          </a:xfrm>
          <a:prstGeom prst="roundRect">
            <a:avLst/>
          </a:prstGeom>
          <a:solidFill>
            <a:srgbClr val="F8F3E7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27000" rtlCol="0" anchor="t"/>
          <a:lstStyle/>
          <a:p>
            <a:pPr algn="l"/>
            <a:r>
              <a:rPr sz="2100" b="1" dirty="0" err="1">
                <a:solidFill>
                  <a:srgbClr val="0B1F33"/>
                </a:solidFill>
                <a:latin typeface="Aptos"/>
              </a:rPr>
              <a:t>Gipoteza</a:t>
            </a:r>
            <a:endParaRPr sz="2100" b="1" dirty="0">
              <a:solidFill>
                <a:srgbClr val="0B1F33"/>
              </a:solidFill>
              <a:latin typeface="Aptos"/>
            </a:endParaRPr>
          </a:p>
          <a:p>
            <a:pPr algn="l">
              <a:spcBef>
                <a:spcPts val="600"/>
              </a:spcBef>
            </a:pPr>
            <a:r>
              <a:rPr sz="2000" dirty="0" err="1">
                <a:solidFill>
                  <a:srgbClr val="1F2937"/>
                </a:solidFill>
                <a:latin typeface="Aptos"/>
              </a:rPr>
              <a:t>Ta’lim</a:t>
            </a:r>
            <a:r>
              <a:rPr sz="2000" dirty="0">
                <a:solidFill>
                  <a:srgbClr val="1F2937"/>
                </a:solidFill>
                <a:latin typeface="Aptos"/>
              </a:rPr>
              <a:t> </a:t>
            </a:r>
            <a:r>
              <a:rPr sz="2000" dirty="0" err="1">
                <a:solidFill>
                  <a:srgbClr val="1F2937"/>
                </a:solidFill>
                <a:latin typeface="Aptos"/>
              </a:rPr>
              <a:t>darajasi</a:t>
            </a:r>
            <a:r>
              <a:rPr sz="2000" dirty="0">
                <a:solidFill>
                  <a:srgbClr val="1F2937"/>
                </a:solidFill>
                <a:latin typeface="Aptos"/>
              </a:rPr>
              <a:t> </a:t>
            </a:r>
            <a:r>
              <a:rPr sz="2000" dirty="0" err="1">
                <a:solidFill>
                  <a:srgbClr val="1F2937"/>
                </a:solidFill>
                <a:latin typeface="Aptos"/>
              </a:rPr>
              <a:t>yuqori</a:t>
            </a:r>
            <a:r>
              <a:rPr sz="2000" dirty="0">
                <a:solidFill>
                  <a:srgbClr val="1F2937"/>
                </a:solidFill>
                <a:latin typeface="Aptos"/>
              </a:rPr>
              <a:t> </a:t>
            </a:r>
            <a:r>
              <a:rPr sz="2000" dirty="0" err="1">
                <a:solidFill>
                  <a:srgbClr val="1F2937"/>
                </a:solidFill>
                <a:latin typeface="Aptos"/>
              </a:rPr>
              <a:t>bo‘lgan</a:t>
            </a:r>
            <a:r>
              <a:rPr sz="2000" dirty="0">
                <a:solidFill>
                  <a:srgbClr val="1F2937"/>
                </a:solidFill>
                <a:latin typeface="Aptos"/>
              </a:rPr>
              <a:t> </a:t>
            </a:r>
            <a:r>
              <a:rPr sz="2000" dirty="0" err="1">
                <a:solidFill>
                  <a:srgbClr val="1F2937"/>
                </a:solidFill>
                <a:latin typeface="Aptos"/>
              </a:rPr>
              <a:t>shaxslarning</a:t>
            </a:r>
            <a:r>
              <a:rPr sz="2000" dirty="0">
                <a:solidFill>
                  <a:srgbClr val="1F2937"/>
                </a:solidFill>
                <a:latin typeface="Aptos"/>
              </a:rPr>
              <a:t> </a:t>
            </a:r>
            <a:r>
              <a:rPr sz="2000" dirty="0" err="1">
                <a:solidFill>
                  <a:srgbClr val="1F2937"/>
                </a:solidFill>
                <a:latin typeface="Aptos"/>
              </a:rPr>
              <a:t>ish</a:t>
            </a:r>
            <a:r>
              <a:rPr sz="2000" dirty="0">
                <a:solidFill>
                  <a:srgbClr val="1F2937"/>
                </a:solidFill>
                <a:latin typeface="Aptos"/>
              </a:rPr>
              <a:t> </a:t>
            </a:r>
            <a:r>
              <a:rPr sz="2000" dirty="0" err="1">
                <a:solidFill>
                  <a:srgbClr val="1F2937"/>
                </a:solidFill>
                <a:latin typeface="Aptos"/>
              </a:rPr>
              <a:t>haqi</a:t>
            </a:r>
            <a:r>
              <a:rPr sz="2000" dirty="0">
                <a:solidFill>
                  <a:srgbClr val="1F2937"/>
                </a:solidFill>
                <a:latin typeface="Aptos"/>
              </a:rPr>
              <a:t> </a:t>
            </a:r>
            <a:r>
              <a:rPr sz="2000" dirty="0" err="1">
                <a:solidFill>
                  <a:srgbClr val="1F2937"/>
                </a:solidFill>
                <a:latin typeface="Aptos"/>
              </a:rPr>
              <a:t>o‘rtacha</a:t>
            </a:r>
            <a:r>
              <a:rPr sz="2000" dirty="0">
                <a:solidFill>
                  <a:srgbClr val="1F2937"/>
                </a:solidFill>
                <a:latin typeface="Aptos"/>
              </a:rPr>
              <a:t> </a:t>
            </a:r>
            <a:r>
              <a:rPr sz="2000" dirty="0" err="1">
                <a:solidFill>
                  <a:srgbClr val="1F2937"/>
                </a:solidFill>
                <a:latin typeface="Aptos"/>
              </a:rPr>
              <a:t>yuqoriroq</a:t>
            </a:r>
            <a:r>
              <a:rPr sz="2000" dirty="0">
                <a:solidFill>
                  <a:srgbClr val="1F2937"/>
                </a:solidFill>
                <a:latin typeface="Aptos"/>
              </a:rPr>
              <a:t> </a:t>
            </a:r>
            <a:r>
              <a:rPr sz="2000" dirty="0" err="1">
                <a:solidFill>
                  <a:srgbClr val="1F2937"/>
                </a:solidFill>
                <a:latin typeface="Aptos"/>
              </a:rPr>
              <a:t>bo‘lishi</a:t>
            </a:r>
            <a:r>
              <a:rPr sz="2000" dirty="0">
                <a:solidFill>
                  <a:srgbClr val="1F2937"/>
                </a:solidFill>
                <a:latin typeface="Aptos"/>
              </a:rPr>
              <a:t> </a:t>
            </a:r>
            <a:r>
              <a:rPr sz="2000" dirty="0" err="1">
                <a:solidFill>
                  <a:srgbClr val="1F2937"/>
                </a:solidFill>
                <a:latin typeface="Aptos"/>
              </a:rPr>
              <a:t>kutiladi</a:t>
            </a:r>
            <a:r>
              <a:rPr sz="2000" dirty="0">
                <a:solidFill>
                  <a:srgbClr val="1F2937"/>
                </a:solidFill>
                <a:latin typeface="Aptos"/>
              </a:rPr>
              <a:t>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97280" y="4572000"/>
            <a:ext cx="73152" cy="822960"/>
          </a:xfrm>
          <a:prstGeom prst="roundRect">
            <a:avLst/>
          </a:prstGeom>
          <a:solidFill>
            <a:srgbClr val="C2A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9184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Aptos"/>
              </a:rPr>
              <a:t>MODELLASHTIRISH BOSQICHLARI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76072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0B1F33"/>
                </a:solidFill>
                <a:latin typeface="Aptos Display"/>
              </a:rPr>
              <a:t>2-bosqich. Nazariya modelga yo‘l ko‘rsatadi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097280" cy="254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tiu-blu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84048"/>
            <a:ext cx="960120" cy="40901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12064" y="6446520"/>
            <a:ext cx="11201400" cy="15240"/>
          </a:xfrm>
          <a:prstGeom prst="rect">
            <a:avLst/>
          </a:prstGeom>
          <a:solidFill>
            <a:srgbClr val="D9D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6510528"/>
            <a:ext cx="98755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TASHKENT INTERNATIONAL UNIVERSITY • EKONOMETRIKA • BAKALAVRIAT 3-KURS • by Sarvar Komilov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44784" y="6510528"/>
            <a:ext cx="8229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Aptos"/>
              </a:rPr>
              <a:t>41 / 57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1417320"/>
            <a:ext cx="102412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000" b="0">
                <a:solidFill>
                  <a:srgbClr val="0B1F33"/>
                </a:solidFill>
                <a:latin typeface="Cambria Math"/>
              </a:rPr>
              <a:t>Qᵈ = f(P, Y, Pₛ, P꜀, T, …)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606040"/>
            <a:ext cx="297180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B1F33"/>
                </a:solidFill>
                <a:latin typeface="Aptos"/>
              </a:rPr>
              <a:t>P — mahsulot narxi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2606040"/>
            <a:ext cx="297180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A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B1F33"/>
                </a:solidFill>
                <a:latin typeface="Aptos"/>
              </a:rPr>
              <a:t>Y — iste’molchi daromadi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2606040"/>
            <a:ext cx="297180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B1F33"/>
                </a:solidFill>
                <a:latin typeface="Aptos"/>
              </a:rPr>
              <a:t>Pₛ — o‘rinbosar mahsulot narxi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264408"/>
            <a:ext cx="297180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B1F33"/>
                </a:solidFill>
                <a:latin typeface="Aptos"/>
              </a:rPr>
              <a:t>P꜀ — to‘ldiruvchi mahsulot narxi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3264408"/>
            <a:ext cx="297180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A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B1F33"/>
                </a:solidFill>
                <a:latin typeface="Aptos"/>
              </a:rPr>
              <a:t>T — did va afzalliklar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07008" y="4489161"/>
            <a:ext cx="10460736" cy="1268510"/>
          </a:xfrm>
          <a:prstGeom prst="roundRect">
            <a:avLst/>
          </a:prstGeom>
          <a:solidFill>
            <a:srgbClr val="E5F6F4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27000" rtlCol="0" anchor="t"/>
          <a:lstStyle/>
          <a:p>
            <a:pPr algn="l"/>
            <a:r>
              <a:rPr sz="2100" b="1" dirty="0" err="1">
                <a:solidFill>
                  <a:srgbClr val="0B1F33"/>
                </a:solidFill>
                <a:latin typeface="Aptos"/>
              </a:rPr>
              <a:t>Nazariya</a:t>
            </a:r>
            <a:r>
              <a:rPr sz="2100" b="1" dirty="0">
                <a:solidFill>
                  <a:srgbClr val="0B1F33"/>
                </a:solidFill>
                <a:latin typeface="Aptos"/>
              </a:rPr>
              <a:t> </a:t>
            </a:r>
            <a:r>
              <a:rPr sz="2100" b="1" dirty="0" err="1">
                <a:solidFill>
                  <a:srgbClr val="0B1F33"/>
                </a:solidFill>
                <a:latin typeface="Aptos"/>
              </a:rPr>
              <a:t>yordam</a:t>
            </a:r>
            <a:r>
              <a:rPr sz="2100" b="1" dirty="0">
                <a:solidFill>
                  <a:srgbClr val="0B1F33"/>
                </a:solidFill>
                <a:latin typeface="Aptos"/>
              </a:rPr>
              <a:t> </a:t>
            </a:r>
            <a:r>
              <a:rPr sz="2100" b="1" dirty="0" err="1">
                <a:solidFill>
                  <a:srgbClr val="0B1F33"/>
                </a:solidFill>
                <a:latin typeface="Aptos"/>
              </a:rPr>
              <a:t>beradi</a:t>
            </a:r>
            <a:endParaRPr sz="2100" b="1" dirty="0">
              <a:solidFill>
                <a:srgbClr val="0B1F33"/>
              </a:solidFill>
              <a:latin typeface="Aptos"/>
            </a:endParaRPr>
          </a:p>
          <a:p>
            <a:pPr algn="l">
              <a:spcBef>
                <a:spcPts val="600"/>
              </a:spcBef>
            </a:pPr>
            <a:r>
              <a:rPr sz="1900" dirty="0" err="1">
                <a:solidFill>
                  <a:srgbClr val="1F2937"/>
                </a:solidFill>
                <a:latin typeface="Aptos"/>
              </a:rPr>
              <a:t>qaysi</a:t>
            </a:r>
            <a:r>
              <a:rPr sz="1900" dirty="0">
                <a:solidFill>
                  <a:srgbClr val="1F2937"/>
                </a:solidFill>
                <a:latin typeface="Aptos"/>
              </a:rPr>
              <a:t> </a:t>
            </a:r>
            <a:r>
              <a:rPr sz="1900" dirty="0" err="1">
                <a:solidFill>
                  <a:srgbClr val="1F2937"/>
                </a:solidFill>
                <a:latin typeface="Aptos"/>
              </a:rPr>
              <a:t>o‘zgaruvchilar</a:t>
            </a:r>
            <a:r>
              <a:rPr sz="1900" dirty="0">
                <a:solidFill>
                  <a:srgbClr val="1F2937"/>
                </a:solidFill>
                <a:latin typeface="Aptos"/>
              </a:rPr>
              <a:t> </a:t>
            </a:r>
            <a:r>
              <a:rPr sz="1900" dirty="0" err="1">
                <a:solidFill>
                  <a:srgbClr val="1F2937"/>
                </a:solidFill>
                <a:latin typeface="Aptos"/>
              </a:rPr>
              <a:t>muhimligini</a:t>
            </a:r>
            <a:r>
              <a:rPr sz="1900" dirty="0">
                <a:solidFill>
                  <a:srgbClr val="1F2937"/>
                </a:solidFill>
                <a:latin typeface="Aptos"/>
              </a:rPr>
              <a:t>, </a:t>
            </a:r>
            <a:r>
              <a:rPr sz="1900" dirty="0" err="1">
                <a:solidFill>
                  <a:srgbClr val="1F2937"/>
                </a:solidFill>
                <a:latin typeface="Aptos"/>
              </a:rPr>
              <a:t>qanday</a:t>
            </a:r>
            <a:r>
              <a:rPr sz="1900" dirty="0">
                <a:solidFill>
                  <a:srgbClr val="1F2937"/>
                </a:solidFill>
                <a:latin typeface="Aptos"/>
              </a:rPr>
              <a:t> </a:t>
            </a:r>
            <a:r>
              <a:rPr sz="1900" dirty="0" err="1">
                <a:solidFill>
                  <a:srgbClr val="1F2937"/>
                </a:solidFill>
                <a:latin typeface="Aptos"/>
              </a:rPr>
              <a:t>yo‘nalishdagi</a:t>
            </a:r>
            <a:r>
              <a:rPr sz="1900" dirty="0">
                <a:solidFill>
                  <a:srgbClr val="1F2937"/>
                </a:solidFill>
                <a:latin typeface="Aptos"/>
              </a:rPr>
              <a:t> </a:t>
            </a:r>
            <a:r>
              <a:rPr sz="1900" dirty="0" err="1">
                <a:solidFill>
                  <a:srgbClr val="1F2937"/>
                </a:solidFill>
                <a:latin typeface="Aptos"/>
              </a:rPr>
              <a:t>munosabat</a:t>
            </a:r>
            <a:r>
              <a:rPr sz="1900" dirty="0">
                <a:solidFill>
                  <a:srgbClr val="1F2937"/>
                </a:solidFill>
                <a:latin typeface="Aptos"/>
              </a:rPr>
              <a:t> </a:t>
            </a:r>
            <a:r>
              <a:rPr sz="1900" dirty="0" err="1">
                <a:solidFill>
                  <a:srgbClr val="1F2937"/>
                </a:solidFill>
                <a:latin typeface="Aptos"/>
              </a:rPr>
              <a:t>kutilishini</a:t>
            </a:r>
            <a:r>
              <a:rPr sz="1900" dirty="0">
                <a:solidFill>
                  <a:srgbClr val="1F2937"/>
                </a:solidFill>
                <a:latin typeface="Aptos"/>
              </a:rPr>
              <a:t> </a:t>
            </a:r>
            <a:r>
              <a:rPr sz="1900" dirty="0" err="1">
                <a:solidFill>
                  <a:srgbClr val="1F2937"/>
                </a:solidFill>
                <a:latin typeface="Aptos"/>
              </a:rPr>
              <a:t>va</a:t>
            </a:r>
            <a:r>
              <a:rPr sz="1900" dirty="0">
                <a:solidFill>
                  <a:srgbClr val="1F2937"/>
                </a:solidFill>
                <a:latin typeface="Aptos"/>
              </a:rPr>
              <a:t> </a:t>
            </a:r>
            <a:r>
              <a:rPr sz="1900" dirty="0" err="1">
                <a:solidFill>
                  <a:srgbClr val="1F2937"/>
                </a:solidFill>
                <a:latin typeface="Aptos"/>
              </a:rPr>
              <a:t>modelning</a:t>
            </a:r>
            <a:r>
              <a:rPr sz="1900" dirty="0">
                <a:solidFill>
                  <a:srgbClr val="1F2937"/>
                </a:solidFill>
                <a:latin typeface="Aptos"/>
              </a:rPr>
              <a:t> </a:t>
            </a:r>
            <a:r>
              <a:rPr sz="1900" dirty="0" err="1">
                <a:solidFill>
                  <a:srgbClr val="1F2937"/>
                </a:solidFill>
                <a:latin typeface="Aptos"/>
              </a:rPr>
              <a:t>iqtisodiy</a:t>
            </a:r>
            <a:r>
              <a:rPr sz="1900" dirty="0">
                <a:solidFill>
                  <a:srgbClr val="1F2937"/>
                </a:solidFill>
                <a:latin typeface="Aptos"/>
              </a:rPr>
              <a:t> </a:t>
            </a:r>
            <a:r>
              <a:rPr sz="1900" dirty="0" err="1">
                <a:solidFill>
                  <a:srgbClr val="1F2937"/>
                </a:solidFill>
                <a:latin typeface="Aptos"/>
              </a:rPr>
              <a:t>mantiqini</a:t>
            </a:r>
            <a:r>
              <a:rPr sz="1900" dirty="0">
                <a:solidFill>
                  <a:srgbClr val="1F2937"/>
                </a:solidFill>
                <a:latin typeface="Aptos"/>
              </a:rPr>
              <a:t> </a:t>
            </a:r>
            <a:r>
              <a:rPr sz="1900" dirty="0" err="1">
                <a:solidFill>
                  <a:srgbClr val="1F2937"/>
                </a:solidFill>
                <a:latin typeface="Aptos"/>
              </a:rPr>
              <a:t>belgilashda</a:t>
            </a:r>
            <a:r>
              <a:rPr sz="1900" dirty="0">
                <a:solidFill>
                  <a:srgbClr val="1F2937"/>
                </a:solidFill>
                <a:latin typeface="Aptos"/>
              </a:rPr>
              <a:t>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70531" y="4711936"/>
            <a:ext cx="73152" cy="82296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9184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Aptos"/>
              </a:rPr>
              <a:t>OPERATSIONALLASHTIRISH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76072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0B1F33"/>
                </a:solidFill>
                <a:latin typeface="Aptos Display"/>
              </a:rPr>
              <a:t>3-bosqich. Nazariy tushunchani o‘lchanadigan o‘zgaruvchiga aylantirish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097280" cy="254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tiu-blu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84048"/>
            <a:ext cx="960120" cy="40901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12064" y="6446520"/>
            <a:ext cx="11201400" cy="15240"/>
          </a:xfrm>
          <a:prstGeom prst="rect">
            <a:avLst/>
          </a:prstGeom>
          <a:solidFill>
            <a:srgbClr val="D9D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6510528"/>
            <a:ext cx="98755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TASHKENT INTERNATIONAL UNIVERSITY • EKONOMETRIKA • BAKALAVRIAT 3-KURS • by Sarvar Komilov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44784" y="6510528"/>
            <a:ext cx="8229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Aptos"/>
              </a:rPr>
              <a:t>42 / 57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7720" y="1692656"/>
            <a:ext cx="5120640" cy="2743200"/>
          </a:xfrm>
          <a:prstGeom prst="roundRect">
            <a:avLst/>
          </a:prstGeom>
          <a:solidFill>
            <a:srgbClr val="E5F6F4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27000" rtlCol="0" anchor="t"/>
          <a:lstStyle/>
          <a:p>
            <a:pPr algn="l"/>
            <a:r>
              <a:rPr sz="2200" b="1">
                <a:solidFill>
                  <a:srgbClr val="0B1F33"/>
                </a:solidFill>
                <a:latin typeface="Aptos"/>
              </a:rPr>
              <a:t>“Uy sifati” qanday o‘lchanadi?</a:t>
            </a:r>
          </a:p>
          <a:p>
            <a:pPr algn="l">
              <a:spcBef>
                <a:spcPts val="600"/>
              </a:spcBef>
            </a:pPr>
            <a:r>
              <a:rPr sz="1900">
                <a:solidFill>
                  <a:srgbClr val="1F2937"/>
                </a:solidFill>
                <a:latin typeface="Aptos"/>
              </a:rPr>
              <a:t>• maydon — m²
• xonalar soni
• bino yoshi — yil
• ta’mirlangan — 1/0
• markazgacha masofa — km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728216"/>
            <a:ext cx="73152" cy="274320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449568" y="1692656"/>
            <a:ext cx="5120640" cy="2743200"/>
          </a:xfrm>
          <a:prstGeom prst="roundRect">
            <a:avLst/>
          </a:prstGeom>
          <a:solidFill>
            <a:srgbClr val="F8F3E7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27000" rtlCol="0" anchor="t"/>
          <a:lstStyle/>
          <a:p>
            <a:pPr algn="l"/>
            <a:r>
              <a:rPr sz="2200" b="1" dirty="0">
                <a:solidFill>
                  <a:srgbClr val="0B1F33"/>
                </a:solidFill>
                <a:latin typeface="Aptos"/>
              </a:rPr>
              <a:t>“</a:t>
            </a:r>
            <a:r>
              <a:rPr sz="2200" b="1" dirty="0" err="1">
                <a:solidFill>
                  <a:srgbClr val="0B1F33"/>
                </a:solidFill>
                <a:latin typeface="Aptos"/>
              </a:rPr>
              <a:t>Ta’lim</a:t>
            </a:r>
            <a:r>
              <a:rPr sz="2200" b="1" dirty="0">
                <a:solidFill>
                  <a:srgbClr val="0B1F33"/>
                </a:solidFill>
                <a:latin typeface="Aptos"/>
              </a:rPr>
              <a:t>” </a:t>
            </a:r>
            <a:r>
              <a:rPr sz="2200" b="1" dirty="0" err="1">
                <a:solidFill>
                  <a:srgbClr val="0B1F33"/>
                </a:solidFill>
                <a:latin typeface="Aptos"/>
              </a:rPr>
              <a:t>qanday</a:t>
            </a:r>
            <a:r>
              <a:rPr sz="2200" b="1" dirty="0">
                <a:solidFill>
                  <a:srgbClr val="0B1F33"/>
                </a:solidFill>
                <a:latin typeface="Aptos"/>
              </a:rPr>
              <a:t> </a:t>
            </a:r>
            <a:r>
              <a:rPr sz="2200" b="1" dirty="0" err="1">
                <a:solidFill>
                  <a:srgbClr val="0B1F33"/>
                </a:solidFill>
                <a:latin typeface="Aptos"/>
              </a:rPr>
              <a:t>o‘lchanadi</a:t>
            </a:r>
            <a:r>
              <a:rPr sz="2200" b="1" dirty="0">
                <a:solidFill>
                  <a:srgbClr val="0B1F33"/>
                </a:solidFill>
                <a:latin typeface="Aptos"/>
              </a:rPr>
              <a:t>?</a:t>
            </a:r>
          </a:p>
          <a:p>
            <a:pPr algn="l">
              <a:spcBef>
                <a:spcPts val="600"/>
              </a:spcBef>
            </a:pPr>
            <a:r>
              <a:rPr sz="2000" dirty="0">
                <a:solidFill>
                  <a:srgbClr val="1F2937"/>
                </a:solidFill>
                <a:latin typeface="Aptos"/>
              </a:rPr>
              <a:t>• </a:t>
            </a:r>
            <a:r>
              <a:rPr sz="2000" dirty="0" err="1">
                <a:solidFill>
                  <a:srgbClr val="1F2937"/>
                </a:solidFill>
                <a:latin typeface="Aptos"/>
              </a:rPr>
              <a:t>ta’lim</a:t>
            </a:r>
            <a:r>
              <a:rPr sz="2000" dirty="0">
                <a:solidFill>
                  <a:srgbClr val="1F2937"/>
                </a:solidFill>
                <a:latin typeface="Aptos"/>
              </a:rPr>
              <a:t> </a:t>
            </a:r>
            <a:r>
              <a:rPr sz="2000" dirty="0" err="1">
                <a:solidFill>
                  <a:srgbClr val="1F2937"/>
                </a:solidFill>
                <a:latin typeface="Aptos"/>
              </a:rPr>
              <a:t>yillari</a:t>
            </a:r>
            <a:r>
              <a:rPr sz="2000" dirty="0">
                <a:solidFill>
                  <a:srgbClr val="1F2937"/>
                </a:solidFill>
                <a:latin typeface="Aptos"/>
              </a:rPr>
              <a:t>
• </a:t>
            </a:r>
            <a:r>
              <a:rPr sz="2000" dirty="0" err="1">
                <a:solidFill>
                  <a:srgbClr val="1F2937"/>
                </a:solidFill>
                <a:latin typeface="Aptos"/>
              </a:rPr>
              <a:t>diplom</a:t>
            </a:r>
            <a:r>
              <a:rPr sz="2000" dirty="0">
                <a:solidFill>
                  <a:srgbClr val="1F2937"/>
                </a:solidFill>
                <a:latin typeface="Aptos"/>
              </a:rPr>
              <a:t> </a:t>
            </a:r>
            <a:r>
              <a:rPr sz="2000" dirty="0" err="1">
                <a:solidFill>
                  <a:srgbClr val="1F2937"/>
                </a:solidFill>
                <a:latin typeface="Aptos"/>
              </a:rPr>
              <a:t>darajasi</a:t>
            </a:r>
            <a:r>
              <a:rPr sz="2000" dirty="0">
                <a:solidFill>
                  <a:srgbClr val="1F2937"/>
                </a:solidFill>
                <a:latin typeface="Aptos"/>
              </a:rPr>
              <a:t>
• test </a:t>
            </a:r>
            <a:r>
              <a:rPr sz="2000" dirty="0" err="1">
                <a:solidFill>
                  <a:srgbClr val="1F2937"/>
                </a:solidFill>
                <a:latin typeface="Aptos"/>
              </a:rPr>
              <a:t>natijasi</a:t>
            </a:r>
            <a:endParaRPr sz="2000" dirty="0">
              <a:solidFill>
                <a:srgbClr val="1F2937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227064" y="1728216"/>
            <a:ext cx="73152" cy="2743200"/>
          </a:xfrm>
          <a:prstGeom prst="roundRect">
            <a:avLst/>
          </a:prstGeom>
          <a:solidFill>
            <a:srgbClr val="C2A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71600" y="5074920"/>
            <a:ext cx="9418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300" b="1">
                <a:solidFill>
                  <a:srgbClr val="0B1F33"/>
                </a:solidFill>
                <a:latin typeface="Aptos"/>
              </a:rPr>
              <a:t>Ekonometrik modelda nazariy tushuncha o‘lchanadigan ma’lumotga aylantirilishi kerak.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9184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Aptos"/>
              </a:rPr>
              <a:t>MA’LUMOT SIFATI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76072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0B1F33"/>
                </a:solidFill>
                <a:latin typeface="Aptos Display"/>
              </a:rPr>
              <a:t>4-bosqich. Ma’lumot qayerdan va qanday olinadi?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097280" cy="254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tiu-blu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84048"/>
            <a:ext cx="960120" cy="40901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12064" y="6446520"/>
            <a:ext cx="11201400" cy="15240"/>
          </a:xfrm>
          <a:prstGeom prst="rect">
            <a:avLst/>
          </a:prstGeom>
          <a:solidFill>
            <a:srgbClr val="D9D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6510528"/>
            <a:ext cx="98755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TASHKENT INTERNATIONAL UNIVERSITY • EKONOMETRIKA • BAKALAVRIAT 3-KURS • by Sarvar Komilov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44784" y="6510528"/>
            <a:ext cx="8229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Aptos"/>
              </a:rPr>
              <a:t>43 / 57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408176"/>
            <a:ext cx="4754880" cy="7152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27000" rtlCol="0" anchor="t"/>
          <a:lstStyle/>
          <a:p>
            <a:pPr algn="l"/>
            <a:r>
              <a:rPr sz="1400" b="1">
                <a:solidFill>
                  <a:srgbClr val="0F766E"/>
                </a:solidFill>
                <a:latin typeface="Aptos"/>
              </a:rPr>
              <a:t>01</a:t>
            </a:r>
          </a:p>
          <a:p>
            <a:pPr algn="l"/>
            <a:r>
              <a:rPr sz="1600" b="1">
                <a:solidFill>
                  <a:srgbClr val="0B1F33"/>
                </a:solidFill>
                <a:latin typeface="Aptos"/>
              </a:rPr>
              <a:t>Manba ishonchlimi?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523655"/>
            <a:ext cx="73152" cy="50292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286500" y="1304544"/>
            <a:ext cx="4754880" cy="728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27000" rtlCol="0" anchor="t"/>
          <a:lstStyle/>
          <a:p>
            <a:pPr algn="l"/>
            <a:r>
              <a:rPr sz="1400" b="1" dirty="0">
                <a:solidFill>
                  <a:srgbClr val="C2A56B"/>
                </a:solidFill>
                <a:latin typeface="Aptos"/>
              </a:rPr>
              <a:t>02</a:t>
            </a:r>
          </a:p>
          <a:p>
            <a:pPr algn="l"/>
            <a:r>
              <a:rPr sz="1600" b="1" dirty="0" err="1">
                <a:solidFill>
                  <a:srgbClr val="0B1F33"/>
                </a:solidFill>
                <a:latin typeface="Aptos"/>
              </a:rPr>
              <a:t>Kuzatuvlar</a:t>
            </a:r>
            <a:r>
              <a:rPr sz="1600" b="1" dirty="0">
                <a:solidFill>
                  <a:srgbClr val="0B1F33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0B1F33"/>
                </a:solidFill>
                <a:latin typeface="Aptos"/>
              </a:rPr>
              <a:t>soni</a:t>
            </a:r>
            <a:r>
              <a:rPr sz="1600" b="1" dirty="0">
                <a:solidFill>
                  <a:srgbClr val="0B1F33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0B1F33"/>
                </a:solidFill>
                <a:latin typeface="Aptos"/>
              </a:rPr>
              <a:t>yetarlimi</a:t>
            </a:r>
            <a:r>
              <a:rPr sz="1600" b="1" dirty="0">
                <a:solidFill>
                  <a:srgbClr val="0B1F33"/>
                </a:solidFill>
                <a:latin typeface="Aptos"/>
              </a:rPr>
              <a:t>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1417320"/>
            <a:ext cx="73152" cy="502920"/>
          </a:xfrm>
          <a:prstGeom prst="roundRect">
            <a:avLst/>
          </a:prstGeom>
          <a:solidFill>
            <a:srgbClr val="C2A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22960" y="2194560"/>
            <a:ext cx="4754880" cy="6954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27000" rtlCol="0" anchor="t"/>
          <a:lstStyle/>
          <a:p>
            <a:pPr algn="l"/>
            <a:r>
              <a:rPr sz="1400" b="1" dirty="0">
                <a:solidFill>
                  <a:srgbClr val="123052"/>
                </a:solidFill>
                <a:latin typeface="Aptos"/>
              </a:rPr>
              <a:t>03</a:t>
            </a:r>
          </a:p>
          <a:p>
            <a:pPr algn="l"/>
            <a:r>
              <a:rPr sz="1600" b="1" dirty="0">
                <a:solidFill>
                  <a:srgbClr val="0B1F33"/>
                </a:solidFill>
                <a:latin typeface="Aptos"/>
              </a:rPr>
              <a:t>Qaysi </a:t>
            </a:r>
            <a:r>
              <a:rPr sz="1600" b="1" dirty="0" err="1">
                <a:solidFill>
                  <a:srgbClr val="0B1F33"/>
                </a:solidFill>
                <a:latin typeface="Aptos"/>
              </a:rPr>
              <a:t>davrni</a:t>
            </a:r>
            <a:r>
              <a:rPr sz="1600" b="1" dirty="0">
                <a:solidFill>
                  <a:srgbClr val="0B1F33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0B1F33"/>
                </a:solidFill>
                <a:latin typeface="Aptos"/>
              </a:rPr>
              <a:t>qamrab</a:t>
            </a:r>
            <a:r>
              <a:rPr sz="1600" b="1" dirty="0">
                <a:solidFill>
                  <a:srgbClr val="0B1F33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0B1F33"/>
                </a:solidFill>
                <a:latin typeface="Aptos"/>
              </a:rPr>
              <a:t>oladi</a:t>
            </a:r>
            <a:r>
              <a:rPr sz="1600" b="1" dirty="0">
                <a:solidFill>
                  <a:srgbClr val="0B1F33"/>
                </a:solidFill>
                <a:latin typeface="Aptos"/>
              </a:rPr>
              <a:t>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2689" y="2284730"/>
            <a:ext cx="73152" cy="502920"/>
          </a:xfrm>
          <a:prstGeom prst="roundRect">
            <a:avLst/>
          </a:prstGeom>
          <a:solidFill>
            <a:srgbClr val="12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286500" y="2135604"/>
            <a:ext cx="47548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27000" rtlCol="0" anchor="t"/>
          <a:lstStyle/>
          <a:p>
            <a:pPr algn="l"/>
            <a:r>
              <a:rPr sz="1400" b="1" dirty="0">
                <a:solidFill>
                  <a:srgbClr val="A33A3A"/>
                </a:solidFill>
                <a:latin typeface="Aptos"/>
              </a:rPr>
              <a:t>04</a:t>
            </a:r>
          </a:p>
          <a:p>
            <a:pPr algn="l"/>
            <a:r>
              <a:rPr sz="1600" b="1" dirty="0" err="1">
                <a:solidFill>
                  <a:srgbClr val="0B1F33"/>
                </a:solidFill>
                <a:latin typeface="Aptos"/>
              </a:rPr>
              <a:t>Ma’lumot</a:t>
            </a:r>
            <a:r>
              <a:rPr sz="1600" b="1" dirty="0">
                <a:solidFill>
                  <a:srgbClr val="0B1F33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0B1F33"/>
                </a:solidFill>
                <a:latin typeface="Aptos"/>
              </a:rPr>
              <a:t>chastotasi</a:t>
            </a:r>
            <a:r>
              <a:rPr sz="1600" b="1" dirty="0">
                <a:solidFill>
                  <a:srgbClr val="0B1F33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0B1F33"/>
                </a:solidFill>
                <a:latin typeface="Aptos"/>
              </a:rPr>
              <a:t>qanday</a:t>
            </a:r>
            <a:r>
              <a:rPr sz="1600" b="1" dirty="0">
                <a:solidFill>
                  <a:srgbClr val="0B1F33"/>
                </a:solidFill>
                <a:latin typeface="Aptos"/>
              </a:rPr>
              <a:t>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80760" y="2194560"/>
            <a:ext cx="73152" cy="502920"/>
          </a:xfrm>
          <a:prstGeom prst="roundRect">
            <a:avLst/>
          </a:prstGeom>
          <a:solidFill>
            <a:srgbClr val="A3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22960" y="2971800"/>
            <a:ext cx="4754880" cy="6954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27000" rtlCol="0" anchor="t"/>
          <a:lstStyle/>
          <a:p>
            <a:pPr algn="l"/>
            <a:r>
              <a:rPr sz="1400" b="1">
                <a:solidFill>
                  <a:srgbClr val="0F766E"/>
                </a:solidFill>
                <a:latin typeface="Aptos"/>
              </a:rPr>
              <a:t>05</a:t>
            </a:r>
          </a:p>
          <a:p>
            <a:pPr algn="l"/>
            <a:r>
              <a:rPr sz="1600" b="1">
                <a:solidFill>
                  <a:srgbClr val="0B1F33"/>
                </a:solidFill>
                <a:latin typeface="Aptos"/>
              </a:rPr>
              <a:t>Yetishmayotgan qiymatlar bormi?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0697" y="3045805"/>
            <a:ext cx="73152" cy="50292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286500" y="2908475"/>
            <a:ext cx="47548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27000" rtlCol="0" anchor="t"/>
          <a:lstStyle/>
          <a:p>
            <a:pPr algn="l"/>
            <a:r>
              <a:rPr sz="1400" b="1" dirty="0">
                <a:solidFill>
                  <a:srgbClr val="C2A56B"/>
                </a:solidFill>
                <a:latin typeface="Aptos"/>
              </a:rPr>
              <a:t>06</a:t>
            </a:r>
          </a:p>
          <a:p>
            <a:pPr algn="l"/>
            <a:r>
              <a:rPr sz="1600" b="1" dirty="0">
                <a:solidFill>
                  <a:srgbClr val="0B1F33"/>
                </a:solidFill>
                <a:latin typeface="Aptos"/>
              </a:rPr>
              <a:t>Nominal </a:t>
            </a:r>
            <a:r>
              <a:rPr sz="1600" b="1" dirty="0" err="1">
                <a:solidFill>
                  <a:srgbClr val="0B1F33"/>
                </a:solidFill>
                <a:latin typeface="Aptos"/>
              </a:rPr>
              <a:t>va</a:t>
            </a:r>
            <a:r>
              <a:rPr sz="1600" b="1" dirty="0">
                <a:solidFill>
                  <a:srgbClr val="0B1F33"/>
                </a:solidFill>
                <a:latin typeface="Aptos"/>
              </a:rPr>
              <a:t> real </a:t>
            </a:r>
            <a:r>
              <a:rPr sz="1600" b="1" dirty="0" err="1">
                <a:solidFill>
                  <a:srgbClr val="0B1F33"/>
                </a:solidFill>
                <a:latin typeface="Aptos"/>
              </a:rPr>
              <a:t>ko‘rsatkichlar</a:t>
            </a:r>
            <a:r>
              <a:rPr sz="1600" b="1" dirty="0">
                <a:solidFill>
                  <a:srgbClr val="0B1F33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0B1F33"/>
                </a:solidFill>
                <a:latin typeface="Aptos"/>
              </a:rPr>
              <a:t>farqlanganmi</a:t>
            </a:r>
            <a:r>
              <a:rPr sz="1600" b="1" dirty="0">
                <a:solidFill>
                  <a:srgbClr val="0B1F33"/>
                </a:solidFill>
                <a:latin typeface="Aptos"/>
              </a:rPr>
              <a:t>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80760" y="2971800"/>
            <a:ext cx="73152" cy="502920"/>
          </a:xfrm>
          <a:prstGeom prst="roundRect">
            <a:avLst/>
          </a:prstGeom>
          <a:solidFill>
            <a:srgbClr val="C2A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22960" y="3749038"/>
            <a:ext cx="4754880" cy="69545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27000" rtlCol="0" anchor="t"/>
          <a:lstStyle/>
          <a:p>
            <a:pPr algn="l"/>
            <a:r>
              <a:rPr sz="1400" b="1" dirty="0">
                <a:solidFill>
                  <a:srgbClr val="123052"/>
                </a:solidFill>
                <a:latin typeface="Aptos"/>
              </a:rPr>
              <a:t>07</a:t>
            </a:r>
          </a:p>
          <a:p>
            <a:pPr algn="l"/>
            <a:r>
              <a:rPr sz="1600" b="1" dirty="0" err="1">
                <a:solidFill>
                  <a:srgbClr val="0B1F33"/>
                </a:solidFill>
                <a:latin typeface="Aptos"/>
              </a:rPr>
              <a:t>O‘lchov</a:t>
            </a:r>
            <a:r>
              <a:rPr sz="1600" b="1" dirty="0">
                <a:solidFill>
                  <a:srgbClr val="0B1F33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0B1F33"/>
                </a:solidFill>
                <a:latin typeface="Aptos"/>
              </a:rPr>
              <a:t>birliklari</a:t>
            </a:r>
            <a:r>
              <a:rPr sz="1600" b="1" dirty="0">
                <a:solidFill>
                  <a:srgbClr val="0B1F33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0B1F33"/>
                </a:solidFill>
                <a:latin typeface="Aptos"/>
              </a:rPr>
              <a:t>bir</a:t>
            </a:r>
            <a:r>
              <a:rPr sz="1600" b="1" dirty="0">
                <a:solidFill>
                  <a:srgbClr val="0B1F33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0B1F33"/>
                </a:solidFill>
                <a:latin typeface="Aptos"/>
              </a:rPr>
              <a:t>xilmi</a:t>
            </a:r>
            <a:r>
              <a:rPr sz="1600" b="1" dirty="0">
                <a:solidFill>
                  <a:srgbClr val="0B1F33"/>
                </a:solidFill>
                <a:latin typeface="Aptos"/>
              </a:rPr>
              <a:t>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2187" y="3842167"/>
            <a:ext cx="73152" cy="502920"/>
          </a:xfrm>
          <a:prstGeom prst="roundRect">
            <a:avLst/>
          </a:prstGeom>
          <a:solidFill>
            <a:srgbClr val="12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5074920"/>
            <a:ext cx="10332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800" b="1">
                <a:solidFill>
                  <a:srgbClr val="A33A3A"/>
                </a:solidFill>
                <a:latin typeface="Aptos Display"/>
              </a:rPr>
              <a:t>MODEL SIFATI MA’LUMOT SIFATIDAN YUQORI BO‘LA OLMAYDI.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9184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Aptos"/>
              </a:rPr>
              <a:t>MA’LUMOTDAGI XATO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76072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0B1F33"/>
                </a:solidFill>
                <a:latin typeface="Aptos Display"/>
              </a:rPr>
              <a:t>“Garbage in → Garbage out”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097280" cy="254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tiu-blu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84048"/>
            <a:ext cx="960120" cy="40901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12064" y="6446520"/>
            <a:ext cx="11201400" cy="15240"/>
          </a:xfrm>
          <a:prstGeom prst="rect">
            <a:avLst/>
          </a:prstGeom>
          <a:solidFill>
            <a:srgbClr val="D9D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6510528"/>
            <a:ext cx="98755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TASHKENT INTERNATIONAL UNIVERSITY • EKONOMETRIKA • BAKALAVRIAT 3-KURS • by Sarvar Komilov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44784" y="6510528"/>
            <a:ext cx="8229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Aptos"/>
              </a:rPr>
              <a:t>44 / 57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19556" y="1253604"/>
            <a:ext cx="4937760" cy="2843784"/>
          </a:xfrm>
          <a:prstGeom prst="roundRect">
            <a:avLst/>
          </a:prstGeom>
          <a:solidFill>
            <a:srgbClr val="F8E8E8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27000" rtlCol="0" anchor="t"/>
          <a:lstStyle/>
          <a:p>
            <a:pPr algn="l"/>
            <a:r>
              <a:rPr sz="2200" b="1" dirty="0">
                <a:solidFill>
                  <a:srgbClr val="0B1F33"/>
                </a:solidFill>
                <a:latin typeface="Aptos"/>
              </a:rPr>
              <a:t>DATA ERROR</a:t>
            </a:r>
          </a:p>
          <a:p>
            <a:pPr algn="l">
              <a:spcBef>
                <a:spcPts val="600"/>
              </a:spcBef>
            </a:pPr>
            <a:r>
              <a:rPr sz="1900" dirty="0">
                <a:solidFill>
                  <a:srgbClr val="1F2937"/>
                </a:solidFill>
                <a:latin typeface="Aptos"/>
              </a:rPr>
              <a:t>Salary:
5 000 000
6 500 000
70 000 000
6 200 000
70 000 000 real </a:t>
            </a:r>
            <a:r>
              <a:rPr sz="1900" dirty="0" err="1">
                <a:solidFill>
                  <a:srgbClr val="1F2937"/>
                </a:solidFill>
                <a:latin typeface="Aptos"/>
              </a:rPr>
              <a:t>qiymatmi</a:t>
            </a:r>
            <a:r>
              <a:rPr sz="1900" dirty="0">
                <a:solidFill>
                  <a:srgbClr val="1F2937"/>
                </a:solidFill>
                <a:latin typeface="Aptos"/>
              </a:rPr>
              <a:t> </a:t>
            </a:r>
            <a:r>
              <a:rPr sz="1900" dirty="0" err="1">
                <a:solidFill>
                  <a:srgbClr val="1F2937"/>
                </a:solidFill>
                <a:latin typeface="Aptos"/>
              </a:rPr>
              <a:t>yoki</a:t>
            </a:r>
            <a:r>
              <a:rPr sz="1900" dirty="0">
                <a:solidFill>
                  <a:srgbClr val="1F2937"/>
                </a:solidFill>
                <a:latin typeface="Aptos"/>
              </a:rPr>
              <a:t> </a:t>
            </a:r>
            <a:r>
              <a:rPr sz="1900" dirty="0" err="1">
                <a:solidFill>
                  <a:srgbClr val="1F2937"/>
                </a:solidFill>
                <a:latin typeface="Aptos"/>
              </a:rPr>
              <a:t>kiritish</a:t>
            </a:r>
            <a:r>
              <a:rPr sz="1900" dirty="0">
                <a:solidFill>
                  <a:srgbClr val="1F2937"/>
                </a:solidFill>
                <a:latin typeface="Aptos"/>
              </a:rPr>
              <a:t> </a:t>
            </a:r>
            <a:r>
              <a:rPr sz="1900" dirty="0" err="1">
                <a:solidFill>
                  <a:srgbClr val="1F2937"/>
                </a:solidFill>
                <a:latin typeface="Aptos"/>
              </a:rPr>
              <a:t>xatosimi</a:t>
            </a:r>
            <a:r>
              <a:rPr sz="1900" dirty="0">
                <a:solidFill>
                  <a:srgbClr val="1F2937"/>
                </a:solidFill>
                <a:latin typeface="Aptos"/>
              </a:rPr>
              <a:t>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417320"/>
            <a:ext cx="73152" cy="2377440"/>
          </a:xfrm>
          <a:prstGeom prst="roundRect">
            <a:avLst/>
          </a:prstGeom>
          <a:solidFill>
            <a:srgbClr val="A3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583680" y="1253604"/>
            <a:ext cx="4937760" cy="2906916"/>
          </a:xfrm>
          <a:prstGeom prst="roundRect">
            <a:avLst/>
          </a:prstGeom>
          <a:solidFill>
            <a:srgbClr val="E5F6F4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27000" rtlCol="0" anchor="t"/>
          <a:lstStyle/>
          <a:p>
            <a:pPr algn="l"/>
            <a:r>
              <a:rPr sz="2200" b="1" dirty="0">
                <a:solidFill>
                  <a:srgbClr val="0B1F33"/>
                </a:solidFill>
                <a:latin typeface="Aptos"/>
              </a:rPr>
              <a:t>Before estimation</a:t>
            </a:r>
          </a:p>
          <a:p>
            <a:pPr algn="l">
              <a:spcBef>
                <a:spcPts val="600"/>
              </a:spcBef>
            </a:pPr>
            <a:r>
              <a:rPr sz="1900" dirty="0">
                <a:solidFill>
                  <a:srgbClr val="1F2937"/>
                </a:solidFill>
                <a:latin typeface="Aptos"/>
              </a:rPr>
              <a:t>• descriptive statistics
• missing values
• outliers
• coding
• unit consistency
• date consistency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417320"/>
            <a:ext cx="73152" cy="237744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71600" y="4800600"/>
            <a:ext cx="9418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300" b="1">
                <a:solidFill>
                  <a:srgbClr val="0B1F33"/>
                </a:solidFill>
                <a:latin typeface="Aptos"/>
              </a:rPr>
              <a:t>Model qurishdan oldin ma’lumotni tushunish va tekshirish shart.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9184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Aptos"/>
              </a:rPr>
              <a:t>MODEL SPETSIFIKATSIYASI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76072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0B1F33"/>
                </a:solidFill>
                <a:latin typeface="Aptos Display"/>
              </a:rPr>
              <a:t>5-bosqich. Iqtisodiy g‘oyani aniq tenglamaga aylantirish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097280" cy="254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tiu-blu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84048"/>
            <a:ext cx="960120" cy="40901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12064" y="6446520"/>
            <a:ext cx="11201400" cy="15240"/>
          </a:xfrm>
          <a:prstGeom prst="rect">
            <a:avLst/>
          </a:prstGeom>
          <a:solidFill>
            <a:srgbClr val="D9D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6510528"/>
            <a:ext cx="98755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TASHKENT INTERNATIONAL UNIVERSITY • EKONOMETRIKA • BAKALAVRIAT 3-KURS • by Sarvar Komilov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44784" y="6510528"/>
            <a:ext cx="8229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Aptos"/>
              </a:rPr>
              <a:t>45 / 57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37160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123052"/>
                </a:solidFill>
                <a:latin typeface="Aptos"/>
              </a:rPr>
              <a:t>Theory: Demand = f(Price, Income)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1920240"/>
            <a:ext cx="1033272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500" b="0">
                <a:solidFill>
                  <a:srgbClr val="0B1F33"/>
                </a:solidFill>
                <a:latin typeface="Cambria Math"/>
              </a:rPr>
              <a:t>Qᵢ = β₀ + β₁Priceᵢ + β₂Incomeᵢ + uᵢ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34640"/>
            <a:ext cx="4754880" cy="192024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0">
                <a:solidFill>
                  <a:srgbClr val="1F2937"/>
                </a:solidFill>
                <a:latin typeface="Aptos"/>
              </a:rPr>
              <a:t>• qaysi Y?</a:t>
            </a:r>
          </a:p>
          <a:p>
            <a:pPr algn="l">
              <a:spcAft>
                <a:spcPts val="500"/>
              </a:spcAft>
            </a:pPr>
            <a:r>
              <a:rPr sz="2000" b="0">
                <a:solidFill>
                  <a:srgbClr val="1F2937"/>
                </a:solidFill>
                <a:latin typeface="Aptos"/>
              </a:rPr>
              <a:t>• qaysi X?</a:t>
            </a:r>
          </a:p>
          <a:p>
            <a:pPr algn="l">
              <a:spcAft>
                <a:spcPts val="500"/>
              </a:spcAft>
            </a:pPr>
            <a:r>
              <a:rPr sz="2000" b="0">
                <a:solidFill>
                  <a:srgbClr val="1F2937"/>
                </a:solidFill>
                <a:latin typeface="Aptos"/>
              </a:rPr>
              <a:t>• qanday funksional shakl?</a:t>
            </a:r>
          </a:p>
          <a:p>
            <a:pPr algn="l">
              <a:spcAft>
                <a:spcPts val="500"/>
              </a:spcAft>
            </a:pPr>
            <a:r>
              <a:rPr sz="2000" b="0">
                <a:solidFill>
                  <a:srgbClr val="1F2937"/>
                </a:solidFill>
                <a:latin typeface="Aptos"/>
              </a:rPr>
              <a:t>• qanday nazorat o‘zgaruvchilari?</a:t>
            </a:r>
          </a:p>
          <a:p>
            <a:pPr algn="l">
              <a:spcAft>
                <a:spcPts val="500"/>
              </a:spcAft>
            </a:pPr>
            <a:r>
              <a:rPr sz="2000" b="0">
                <a:solidFill>
                  <a:srgbClr val="1F2937"/>
                </a:solidFill>
                <a:latin typeface="Aptos"/>
              </a:rPr>
              <a:t>• lag kerakmi?</a:t>
            </a:r>
          </a:p>
          <a:p>
            <a:pPr algn="l">
              <a:spcAft>
                <a:spcPts val="500"/>
              </a:spcAft>
            </a:pPr>
            <a:r>
              <a:rPr sz="2000" b="0">
                <a:solidFill>
                  <a:srgbClr val="1F2937"/>
                </a:solidFill>
                <a:latin typeface="Aptos"/>
              </a:rPr>
              <a:t>• qaysi vaqt oralig‘i?</a:t>
            </a:r>
          </a:p>
          <a:p>
            <a:pPr algn="l">
              <a:spcAft>
                <a:spcPts val="500"/>
              </a:spcAft>
            </a:pPr>
            <a:r>
              <a:rPr sz="2000" b="0">
                <a:solidFill>
                  <a:srgbClr val="1F2937"/>
                </a:solidFill>
                <a:latin typeface="Aptos"/>
              </a:rPr>
              <a:t>• qaysi tanlanma?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22722" y="2896179"/>
            <a:ext cx="4846320" cy="1722120"/>
          </a:xfrm>
          <a:prstGeom prst="roundRect">
            <a:avLst/>
          </a:prstGeom>
          <a:solidFill>
            <a:srgbClr val="E5F6F4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27000" rtlCol="0" anchor="t"/>
          <a:lstStyle/>
          <a:p>
            <a:pPr algn="l"/>
            <a:r>
              <a:rPr sz="2100" b="1" dirty="0" err="1">
                <a:solidFill>
                  <a:srgbClr val="0B1F33"/>
                </a:solidFill>
                <a:latin typeface="Aptos"/>
              </a:rPr>
              <a:t>Ta’rif</a:t>
            </a:r>
            <a:endParaRPr sz="2100" b="1" dirty="0">
              <a:solidFill>
                <a:srgbClr val="0B1F33"/>
              </a:solidFill>
              <a:latin typeface="Aptos"/>
            </a:endParaRPr>
          </a:p>
          <a:p>
            <a:pPr algn="l">
              <a:spcBef>
                <a:spcPts val="600"/>
              </a:spcBef>
            </a:pPr>
            <a:r>
              <a:rPr sz="1900" dirty="0">
                <a:solidFill>
                  <a:srgbClr val="1F2937"/>
                </a:solidFill>
                <a:latin typeface="Aptos"/>
              </a:rPr>
              <a:t>Model </a:t>
            </a:r>
            <a:r>
              <a:rPr sz="1900" dirty="0" err="1">
                <a:solidFill>
                  <a:srgbClr val="1F2937"/>
                </a:solidFill>
                <a:latin typeface="Aptos"/>
              </a:rPr>
              <a:t>spetsifikatsiyasi</a:t>
            </a:r>
            <a:r>
              <a:rPr sz="1900" dirty="0">
                <a:solidFill>
                  <a:srgbClr val="1F2937"/>
                </a:solidFill>
                <a:latin typeface="Aptos"/>
              </a:rPr>
              <a:t> — </a:t>
            </a:r>
            <a:r>
              <a:rPr sz="1900" dirty="0" err="1">
                <a:solidFill>
                  <a:srgbClr val="1F2937"/>
                </a:solidFill>
                <a:latin typeface="Aptos"/>
              </a:rPr>
              <a:t>iqtisodiy</a:t>
            </a:r>
            <a:r>
              <a:rPr sz="1900" dirty="0">
                <a:solidFill>
                  <a:srgbClr val="1F2937"/>
                </a:solidFill>
                <a:latin typeface="Aptos"/>
              </a:rPr>
              <a:t> </a:t>
            </a:r>
            <a:r>
              <a:rPr sz="1900" dirty="0" err="1">
                <a:solidFill>
                  <a:srgbClr val="1F2937"/>
                </a:solidFill>
                <a:latin typeface="Aptos"/>
              </a:rPr>
              <a:t>munosabatning</a:t>
            </a:r>
            <a:r>
              <a:rPr sz="1900" dirty="0">
                <a:solidFill>
                  <a:srgbClr val="1F2937"/>
                </a:solidFill>
                <a:latin typeface="Aptos"/>
              </a:rPr>
              <a:t> </a:t>
            </a:r>
            <a:r>
              <a:rPr sz="1900" dirty="0" err="1">
                <a:solidFill>
                  <a:srgbClr val="1F2937"/>
                </a:solidFill>
                <a:latin typeface="Aptos"/>
              </a:rPr>
              <a:t>ekonometrik</a:t>
            </a:r>
            <a:r>
              <a:rPr sz="1900" dirty="0">
                <a:solidFill>
                  <a:srgbClr val="1F2937"/>
                </a:solidFill>
                <a:latin typeface="Aptos"/>
              </a:rPr>
              <a:t> </a:t>
            </a:r>
            <a:r>
              <a:rPr sz="1900" dirty="0" err="1">
                <a:solidFill>
                  <a:srgbClr val="1F2937"/>
                </a:solidFill>
                <a:latin typeface="Aptos"/>
              </a:rPr>
              <a:t>shaklini</a:t>
            </a:r>
            <a:r>
              <a:rPr sz="1900" dirty="0">
                <a:solidFill>
                  <a:srgbClr val="1F2937"/>
                </a:solidFill>
                <a:latin typeface="Aptos"/>
              </a:rPr>
              <a:t> </a:t>
            </a:r>
            <a:r>
              <a:rPr sz="1900" dirty="0" err="1">
                <a:solidFill>
                  <a:srgbClr val="1F2937"/>
                </a:solidFill>
                <a:latin typeface="Aptos"/>
              </a:rPr>
              <a:t>aniq</a:t>
            </a:r>
            <a:r>
              <a:rPr sz="1900" dirty="0">
                <a:solidFill>
                  <a:srgbClr val="1F2937"/>
                </a:solidFill>
                <a:latin typeface="Aptos"/>
              </a:rPr>
              <a:t> </a:t>
            </a:r>
            <a:r>
              <a:rPr sz="1900" dirty="0" err="1">
                <a:solidFill>
                  <a:srgbClr val="1F2937"/>
                </a:solidFill>
                <a:latin typeface="Aptos"/>
              </a:rPr>
              <a:t>belgilash</a:t>
            </a:r>
            <a:r>
              <a:rPr sz="1900" dirty="0">
                <a:solidFill>
                  <a:srgbClr val="1F2937"/>
                </a:solidFill>
                <a:latin typeface="Aptos"/>
              </a:rPr>
              <a:t> </a:t>
            </a:r>
            <a:r>
              <a:rPr sz="1900" dirty="0" err="1">
                <a:solidFill>
                  <a:srgbClr val="1F2937"/>
                </a:solidFill>
                <a:latin typeface="Aptos"/>
              </a:rPr>
              <a:t>jarayoni</a:t>
            </a:r>
            <a:r>
              <a:rPr sz="1900" dirty="0">
                <a:solidFill>
                  <a:srgbClr val="1F2937"/>
                </a:solidFill>
                <a:latin typeface="Aptos"/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2926080"/>
            <a:ext cx="73152" cy="141732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9184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Aptos"/>
              </a:rPr>
              <a:t>SPETSIFIKATSIYA TANLOVI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76072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0B1F33"/>
                </a:solidFill>
                <a:latin typeface="Aptos Display"/>
              </a:rPr>
              <a:t>Modelga imkon qadar ko‘p o‘zgaruvchi qo‘shish kerakmi?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097280" cy="254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tiu-blu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84048"/>
            <a:ext cx="960120" cy="40901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12064" y="6446520"/>
            <a:ext cx="11201400" cy="15240"/>
          </a:xfrm>
          <a:prstGeom prst="rect">
            <a:avLst/>
          </a:prstGeom>
          <a:solidFill>
            <a:srgbClr val="D9D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6510528"/>
            <a:ext cx="98755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TASHKENT INTERNATIONAL UNIVERSITY • EKONOMETRIKA • BAKALAVRIAT 3-KURS • by Sarvar Komilov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44784" y="6510528"/>
            <a:ext cx="8229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Aptos"/>
              </a:rPr>
              <a:t>46 / 57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417320"/>
            <a:ext cx="5029200" cy="1051560"/>
          </a:xfrm>
          <a:prstGeom prst="roundRect">
            <a:avLst/>
          </a:prstGeom>
          <a:solidFill>
            <a:srgbClr val="E8EFF8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200" b="0">
                <a:solidFill>
                  <a:srgbClr val="0B1F33"/>
                </a:solidFill>
                <a:latin typeface="Cambria Math"/>
              </a:rPr>
              <a:t>Model A:
Sotuv = β₀ + β₁Reklama + 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029200" cy="1051560"/>
          </a:xfrm>
          <a:prstGeom prst="roundRect">
            <a:avLst/>
          </a:prstGeom>
          <a:solidFill>
            <a:srgbClr val="E5F6F4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0">
                <a:solidFill>
                  <a:srgbClr val="0B1F33"/>
                </a:solidFill>
                <a:latin typeface="Cambria Math"/>
              </a:rPr>
              <a:t>Model B:
Sotuv = β₀ + β₁Reklama + β₂Narx + β₃Mavsum + β₄Harorat + … + 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92354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800" b="1">
                <a:solidFill>
                  <a:srgbClr val="0B1F33"/>
                </a:solidFill>
                <a:latin typeface="Aptos"/>
              </a:rPr>
              <a:t>Model B avtomatik ravishda yaxshiroqmi?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6360" y="365760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600" b="1">
                <a:solidFill>
                  <a:srgbClr val="A33A3A"/>
                </a:solidFill>
                <a:latin typeface="Aptos"/>
              </a:rPr>
              <a:t>YO‘Q.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434840"/>
            <a:ext cx="9875520" cy="822960"/>
          </a:xfrm>
          <a:prstGeom prst="roundRect">
            <a:avLst/>
          </a:prstGeom>
          <a:solidFill>
            <a:srgbClr val="E5F6F4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27000" rtlCol="0" anchor="t"/>
          <a:lstStyle/>
          <a:p>
            <a:pPr algn="ctr"/>
            <a:r>
              <a:rPr sz="2000" b="1">
                <a:solidFill>
                  <a:srgbClr val="0B1F33"/>
                </a:solidFill>
                <a:latin typeface="Aptos"/>
              </a:rPr>
              <a:t>O‘zgaruvchi modelga iqtisodiy nazariya, tadqiqot savoli va statistik asos bo‘yicha kiritilishi kerak.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4434840"/>
            <a:ext cx="73152" cy="82296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828800" y="5440680"/>
            <a:ext cx="8503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>
                <a:solidFill>
                  <a:srgbClr val="C2A56B"/>
                </a:solidFill>
                <a:latin typeface="Aptos"/>
              </a:rPr>
              <a:t>Murakkablikning o‘zi sifat belgisi emas.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9184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Aptos"/>
              </a:rPr>
              <a:t>BAHOLASH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76072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0B1F33"/>
                </a:solidFill>
                <a:latin typeface="Aptos Display"/>
              </a:rPr>
              <a:t>6-bosqich. Noma’lum β larni ma’lumot yordamida baholash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097280" cy="254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tiu-blu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84048"/>
            <a:ext cx="960120" cy="40901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12064" y="6446520"/>
            <a:ext cx="11201400" cy="15240"/>
          </a:xfrm>
          <a:prstGeom prst="rect">
            <a:avLst/>
          </a:prstGeom>
          <a:solidFill>
            <a:srgbClr val="D9D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6510528"/>
            <a:ext cx="98755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TASHKENT INTERNATIONAL UNIVERSITY • EKONOMETRIKA • BAKALAVRIAT 3-KURS • by Sarvar Komilov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44784" y="6510528"/>
            <a:ext cx="8229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Aptos"/>
              </a:rPr>
              <a:t>47 / 57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1417320"/>
            <a:ext cx="99669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0">
                <a:solidFill>
                  <a:srgbClr val="0B1F33"/>
                </a:solidFill>
                <a:latin typeface="Cambria Math"/>
              </a:rPr>
              <a:t>Population model:  Yᵢ = β₀ + β₁Xᵢ + uᵢ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0" y="224028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600" b="1">
                <a:solidFill>
                  <a:srgbClr val="C2A56B"/>
                </a:solidFill>
                <a:latin typeface="Aptos"/>
              </a:rPr>
              <a:t>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2834640"/>
            <a:ext cx="9966960" cy="640080"/>
          </a:xfrm>
          <a:prstGeom prst="roundRect">
            <a:avLst/>
          </a:prstGeom>
          <a:solidFill>
            <a:srgbClr val="E5F6F4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0">
                <a:solidFill>
                  <a:srgbClr val="0B1F33"/>
                </a:solidFill>
                <a:latin typeface="Cambria Math"/>
              </a:rPr>
              <a:t>After estimation:  Ŷᵢ = β̂₀ + β̂₁Xᵢ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527048" y="3794760"/>
            <a:ext cx="4480560" cy="1389888"/>
          </a:xfrm>
          <a:prstGeom prst="roundRect">
            <a:avLst/>
          </a:prstGeom>
          <a:solidFill>
            <a:srgbClr val="F8F3E7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27000" rtlCol="0" anchor="t"/>
          <a:lstStyle/>
          <a:p>
            <a:pPr algn="ctr"/>
            <a:r>
              <a:rPr sz="2300" b="1" dirty="0">
                <a:solidFill>
                  <a:srgbClr val="0B1F33"/>
                </a:solidFill>
                <a:latin typeface="Aptos"/>
              </a:rPr>
              <a:t>β₀ </a:t>
            </a:r>
            <a:r>
              <a:rPr sz="2300" b="1" dirty="0" err="1">
                <a:solidFill>
                  <a:srgbClr val="0B1F33"/>
                </a:solidFill>
                <a:latin typeface="Aptos"/>
              </a:rPr>
              <a:t>va</a:t>
            </a:r>
            <a:r>
              <a:rPr sz="2300" b="1" dirty="0">
                <a:solidFill>
                  <a:srgbClr val="0B1F33"/>
                </a:solidFill>
                <a:latin typeface="Aptos"/>
              </a:rPr>
              <a:t> β₁</a:t>
            </a:r>
          </a:p>
          <a:p>
            <a:pPr algn="ctr">
              <a:spcBef>
                <a:spcPts val="600"/>
              </a:spcBef>
            </a:pPr>
            <a:r>
              <a:rPr sz="2000" dirty="0" err="1">
                <a:solidFill>
                  <a:srgbClr val="1F2937"/>
                </a:solidFill>
                <a:latin typeface="Aptos"/>
              </a:rPr>
              <a:t>noma’lum</a:t>
            </a:r>
            <a:r>
              <a:rPr sz="2000" dirty="0">
                <a:solidFill>
                  <a:srgbClr val="1F2937"/>
                </a:solidFill>
                <a:latin typeface="Aptos"/>
              </a:rPr>
              <a:t> </a:t>
            </a:r>
            <a:r>
              <a:rPr sz="2000" dirty="0" err="1">
                <a:solidFill>
                  <a:srgbClr val="1F2937"/>
                </a:solidFill>
                <a:latin typeface="Aptos"/>
              </a:rPr>
              <a:t>nazariy</a:t>
            </a:r>
            <a:r>
              <a:rPr sz="2000" dirty="0">
                <a:solidFill>
                  <a:srgbClr val="1F2937"/>
                </a:solidFill>
                <a:latin typeface="Aptos"/>
              </a:rPr>
              <a:t> </a:t>
            </a:r>
            <a:r>
              <a:rPr sz="2000" dirty="0" err="1">
                <a:solidFill>
                  <a:srgbClr val="1F2937"/>
                </a:solidFill>
                <a:latin typeface="Aptos"/>
              </a:rPr>
              <a:t>parametrlar</a:t>
            </a:r>
            <a:endParaRPr sz="2000" dirty="0">
              <a:solidFill>
                <a:srgbClr val="1F2937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1280160" y="3977639"/>
            <a:ext cx="73152" cy="960120"/>
          </a:xfrm>
          <a:prstGeom prst="roundRect">
            <a:avLst/>
          </a:prstGeom>
          <a:solidFill>
            <a:srgbClr val="C2A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583680" y="3822191"/>
            <a:ext cx="4480560" cy="1389889"/>
          </a:xfrm>
          <a:prstGeom prst="roundRect">
            <a:avLst/>
          </a:prstGeom>
          <a:solidFill>
            <a:srgbClr val="E5F6F4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27000" rtlCol="0" anchor="t"/>
          <a:lstStyle/>
          <a:p>
            <a:pPr algn="ctr"/>
            <a:r>
              <a:rPr sz="2300" b="1" dirty="0">
                <a:solidFill>
                  <a:srgbClr val="0B1F33"/>
                </a:solidFill>
                <a:latin typeface="Aptos"/>
              </a:rPr>
              <a:t>β̂₀ </a:t>
            </a:r>
            <a:r>
              <a:rPr sz="2300" b="1" dirty="0" err="1">
                <a:solidFill>
                  <a:srgbClr val="0B1F33"/>
                </a:solidFill>
                <a:latin typeface="Aptos"/>
              </a:rPr>
              <a:t>va</a:t>
            </a:r>
            <a:r>
              <a:rPr sz="2300" b="1" dirty="0">
                <a:solidFill>
                  <a:srgbClr val="0B1F33"/>
                </a:solidFill>
                <a:latin typeface="Aptos"/>
              </a:rPr>
              <a:t> β̂₁</a:t>
            </a:r>
          </a:p>
          <a:p>
            <a:pPr algn="ctr">
              <a:spcBef>
                <a:spcPts val="600"/>
              </a:spcBef>
            </a:pPr>
            <a:r>
              <a:rPr sz="1900" dirty="0" err="1">
                <a:solidFill>
                  <a:srgbClr val="1F2937"/>
                </a:solidFill>
                <a:latin typeface="Aptos"/>
              </a:rPr>
              <a:t>tanlanma</a:t>
            </a:r>
            <a:r>
              <a:rPr sz="1900" dirty="0">
                <a:solidFill>
                  <a:srgbClr val="1F2937"/>
                </a:solidFill>
                <a:latin typeface="Aptos"/>
              </a:rPr>
              <a:t> </a:t>
            </a:r>
            <a:r>
              <a:rPr sz="1900" dirty="0" err="1">
                <a:solidFill>
                  <a:srgbClr val="1F2937"/>
                </a:solidFill>
                <a:latin typeface="Aptos"/>
              </a:rPr>
              <a:t>ma’lumotlari</a:t>
            </a:r>
            <a:r>
              <a:rPr sz="1900" dirty="0">
                <a:solidFill>
                  <a:srgbClr val="1F2937"/>
                </a:solidFill>
                <a:latin typeface="Aptos"/>
              </a:rPr>
              <a:t> </a:t>
            </a:r>
            <a:r>
              <a:rPr sz="1900" dirty="0" err="1">
                <a:solidFill>
                  <a:srgbClr val="1F2937"/>
                </a:solidFill>
                <a:latin typeface="Aptos"/>
              </a:rPr>
              <a:t>asosida</a:t>
            </a:r>
            <a:r>
              <a:rPr sz="1900" dirty="0">
                <a:solidFill>
                  <a:srgbClr val="1F2937"/>
                </a:solidFill>
                <a:latin typeface="Aptos"/>
              </a:rPr>
              <a:t> </a:t>
            </a:r>
            <a:r>
              <a:rPr sz="1900" dirty="0" err="1">
                <a:solidFill>
                  <a:srgbClr val="1F2937"/>
                </a:solidFill>
                <a:latin typeface="Aptos"/>
              </a:rPr>
              <a:t>olingan</a:t>
            </a:r>
            <a:r>
              <a:rPr sz="1900" dirty="0">
                <a:solidFill>
                  <a:srgbClr val="1F2937"/>
                </a:solidFill>
                <a:latin typeface="Aptos"/>
              </a:rPr>
              <a:t> </a:t>
            </a:r>
            <a:r>
              <a:rPr sz="1900" dirty="0" err="1">
                <a:solidFill>
                  <a:srgbClr val="1F2937"/>
                </a:solidFill>
                <a:latin typeface="Aptos"/>
              </a:rPr>
              <a:t>parametr</a:t>
            </a:r>
            <a:r>
              <a:rPr sz="1900" dirty="0">
                <a:solidFill>
                  <a:srgbClr val="1F2937"/>
                </a:solidFill>
                <a:latin typeface="Aptos"/>
              </a:rPr>
              <a:t> </a:t>
            </a:r>
            <a:r>
              <a:rPr sz="1900" dirty="0" err="1">
                <a:solidFill>
                  <a:srgbClr val="1F2937"/>
                </a:solidFill>
                <a:latin typeface="Aptos"/>
              </a:rPr>
              <a:t>baholari</a:t>
            </a:r>
            <a:endParaRPr sz="1900" dirty="0">
              <a:solidFill>
                <a:srgbClr val="1F2937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400800" y="3977639"/>
            <a:ext cx="73152" cy="96012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" y="6144768"/>
            <a:ext cx="10698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Keyingi mavzu: eng kichik kvadratlar usuli (OLS) va koeffitsiyentlarni baholash.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9184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Aptos"/>
              </a:rPr>
              <a:t>MODELNI TEKSHIRISH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76072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0B1F33"/>
                </a:solidFill>
                <a:latin typeface="Aptos Display"/>
              </a:rPr>
              <a:t>7-bosqich. Regression natijasi — tadqiqotning oxiri emas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097280" cy="254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tiu-blu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84048"/>
            <a:ext cx="960120" cy="40901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12064" y="6446520"/>
            <a:ext cx="11201400" cy="15240"/>
          </a:xfrm>
          <a:prstGeom prst="rect">
            <a:avLst/>
          </a:prstGeom>
          <a:solidFill>
            <a:srgbClr val="D9D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6510528"/>
            <a:ext cx="98755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TASHKENT INTERNATIONAL UNIVERSITY • EKONOMETRIKA • BAKALAVRIAT 3-KURS • by Sarvar Komilov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44784" y="6510528"/>
            <a:ext cx="8229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Aptos"/>
              </a:rPr>
              <a:t>48 / 57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508760"/>
            <a:ext cx="4892040" cy="1143000"/>
          </a:xfrm>
          <a:prstGeom prst="roundRect">
            <a:avLst/>
          </a:prstGeom>
          <a:solidFill>
            <a:srgbClr val="E5F6F4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27000" rtlCol="0" anchor="t"/>
          <a:lstStyle/>
          <a:p>
            <a:pPr algn="l"/>
            <a:r>
              <a:rPr sz="1900" b="1">
                <a:solidFill>
                  <a:srgbClr val="0B1F33"/>
                </a:solidFill>
                <a:latin typeface="Aptos"/>
              </a:rPr>
              <a:t>IQTISODIY MANTIQ</a:t>
            </a:r>
          </a:p>
          <a:p>
            <a:pPr algn="l">
              <a:spcBef>
                <a:spcPts val="600"/>
              </a:spcBef>
            </a:pPr>
            <a:r>
              <a:rPr sz="1800">
                <a:solidFill>
                  <a:srgbClr val="1F2937"/>
                </a:solidFill>
                <a:latin typeface="Aptos"/>
              </a:rPr>
              <a:t>Koeffitsiyent belgisi nazariyaga mosmi?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508760"/>
            <a:ext cx="73152" cy="114300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355080" y="1508760"/>
            <a:ext cx="4892040" cy="1143000"/>
          </a:xfrm>
          <a:prstGeom prst="roundRect">
            <a:avLst/>
          </a:prstGeom>
          <a:solidFill>
            <a:srgbClr val="F8F3E7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27000" rtlCol="0" anchor="t"/>
          <a:lstStyle/>
          <a:p>
            <a:pPr algn="l"/>
            <a:r>
              <a:rPr sz="1900" b="1">
                <a:solidFill>
                  <a:srgbClr val="0B1F33"/>
                </a:solidFill>
                <a:latin typeface="Aptos"/>
              </a:rPr>
              <a:t>STATISTIK ISHONCHLILIK</a:t>
            </a:r>
          </a:p>
          <a:p>
            <a:pPr algn="l">
              <a:spcBef>
                <a:spcPts val="600"/>
              </a:spcBef>
            </a:pPr>
            <a:r>
              <a:rPr sz="1800">
                <a:solidFill>
                  <a:srgbClr val="1F2937"/>
                </a:solidFill>
                <a:latin typeface="Aptos"/>
              </a:rPr>
              <a:t>Natija tasodifiy tebranish bilan tushuntirilishi mumkinmi?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1508760"/>
            <a:ext cx="73152" cy="1143000"/>
          </a:xfrm>
          <a:prstGeom prst="roundRect">
            <a:avLst/>
          </a:prstGeom>
          <a:solidFill>
            <a:srgbClr val="C2A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68680" y="3108960"/>
            <a:ext cx="4892040" cy="1143000"/>
          </a:xfrm>
          <a:prstGeom prst="roundRect">
            <a:avLst/>
          </a:prstGeom>
          <a:solidFill>
            <a:srgbClr val="E8EFF8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27000" rtlCol="0" anchor="t"/>
          <a:lstStyle/>
          <a:p>
            <a:pPr algn="l"/>
            <a:r>
              <a:rPr sz="1900" b="1">
                <a:solidFill>
                  <a:srgbClr val="0B1F33"/>
                </a:solidFill>
                <a:latin typeface="Aptos"/>
              </a:rPr>
              <a:t>MODEL DIAGNOSTIKASI</a:t>
            </a:r>
          </a:p>
          <a:p>
            <a:pPr algn="l">
              <a:spcBef>
                <a:spcPts val="600"/>
              </a:spcBef>
            </a:pPr>
            <a:r>
              <a:rPr sz="1800">
                <a:solidFill>
                  <a:srgbClr val="1F2937"/>
                </a:solidFill>
                <a:latin typeface="Aptos"/>
              </a:rPr>
              <a:t>Modelning statistik shartlari qay darajada bajarilgan?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3108960"/>
            <a:ext cx="73152" cy="1143000"/>
          </a:xfrm>
          <a:prstGeom prst="roundRect">
            <a:avLst/>
          </a:prstGeom>
          <a:solidFill>
            <a:srgbClr val="12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355080" y="3108960"/>
            <a:ext cx="4892040" cy="1143000"/>
          </a:xfrm>
          <a:prstGeom prst="roundRect">
            <a:avLst/>
          </a:prstGeom>
          <a:solidFill>
            <a:srgbClr val="F8E8E8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27000" rtlCol="0" anchor="t"/>
          <a:lstStyle/>
          <a:p>
            <a:pPr algn="l"/>
            <a:r>
              <a:rPr sz="1900" b="1">
                <a:solidFill>
                  <a:srgbClr val="0B1F33"/>
                </a:solidFill>
                <a:latin typeface="Aptos"/>
              </a:rPr>
              <a:t>BARQARORLIK</a:t>
            </a:r>
          </a:p>
          <a:p>
            <a:pPr algn="l">
              <a:spcBef>
                <a:spcPts val="600"/>
              </a:spcBef>
            </a:pPr>
            <a:r>
              <a:rPr sz="1800">
                <a:solidFill>
                  <a:srgbClr val="1F2937"/>
                </a:solidFill>
                <a:latin typeface="Aptos"/>
              </a:rPr>
              <a:t>Natija boshqa mantiqiy spetsifikatsiyalarda ham saqlanadimi?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3108960"/>
            <a:ext cx="73152" cy="1143000"/>
          </a:xfrm>
          <a:prstGeom prst="roundRect">
            <a:avLst/>
          </a:prstGeom>
          <a:solidFill>
            <a:srgbClr val="A3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554480" y="5166360"/>
            <a:ext cx="9052560" cy="594360"/>
          </a:xfrm>
          <a:prstGeom prst="roundRect">
            <a:avLst/>
          </a:prstGeom>
          <a:solidFill>
            <a:srgbClr val="F8E8E8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27000" rtlCol="0" anchor="t"/>
          <a:lstStyle/>
          <a:p>
            <a:pPr algn="ctr"/>
            <a:r>
              <a:rPr sz="2000" b="1">
                <a:solidFill>
                  <a:srgbClr val="0B1F33"/>
                </a:solidFill>
                <a:latin typeface="Aptos"/>
              </a:rPr>
              <a:t>Ekonometrik natija tekshirilmasdan qaror uchun ishlatilmasligi kerak.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554480" y="5166360"/>
            <a:ext cx="73152" cy="594360"/>
          </a:xfrm>
          <a:prstGeom prst="roundRect">
            <a:avLst/>
          </a:prstGeom>
          <a:solidFill>
            <a:srgbClr val="A3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9184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Aptos"/>
              </a:rPr>
              <a:t>IQTISODIY TALQIN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76072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0B1F33"/>
                </a:solidFill>
                <a:latin typeface="Aptos Display"/>
              </a:rPr>
              <a:t>8-bosqich. Sonni iqtisodiy ma’noga aylantirish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097280" cy="254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tiu-blu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84048"/>
            <a:ext cx="960120" cy="40901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12064" y="6446520"/>
            <a:ext cx="11201400" cy="15240"/>
          </a:xfrm>
          <a:prstGeom prst="rect">
            <a:avLst/>
          </a:prstGeom>
          <a:solidFill>
            <a:srgbClr val="D9D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6510528"/>
            <a:ext cx="98755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TASHKENT INTERNATIONAL UNIVERSITY • EKONOMETRIKA • BAKALAVRIAT 3-KURS • by Sarvar Komilov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44784" y="6510528"/>
            <a:ext cx="8229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Aptos"/>
              </a:rPr>
              <a:t>49 / 57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1417320"/>
            <a:ext cx="1033272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0">
                <a:solidFill>
                  <a:srgbClr val="0B1F33"/>
                </a:solidFill>
                <a:latin typeface="Cambria Math"/>
              </a:rPr>
              <a:t>Ŝotuv = 120 − 4.2Narx + 2.7Reklama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33856" y="2389632"/>
            <a:ext cx="4846320" cy="1889760"/>
          </a:xfrm>
          <a:prstGeom prst="roundRect">
            <a:avLst/>
          </a:prstGeom>
          <a:solidFill>
            <a:srgbClr val="F8E8E8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27000" rtlCol="0" anchor="t"/>
          <a:lstStyle/>
          <a:p>
            <a:pPr algn="ctr"/>
            <a:r>
              <a:rPr sz="2300" b="1">
                <a:solidFill>
                  <a:srgbClr val="0B1F33"/>
                </a:solidFill>
                <a:latin typeface="Aptos"/>
              </a:rPr>
              <a:t>NOTO‘G‘RI TALQIN</a:t>
            </a:r>
          </a:p>
          <a:p>
            <a:pPr algn="ctr">
              <a:spcBef>
                <a:spcPts val="600"/>
              </a:spcBef>
            </a:pPr>
            <a:r>
              <a:rPr sz="2400">
                <a:solidFill>
                  <a:srgbClr val="1F2937"/>
                </a:solidFill>
                <a:latin typeface="Aptos"/>
              </a:rPr>
              <a:t>“β₁ = −4.2.”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606040"/>
            <a:ext cx="73152" cy="1371600"/>
          </a:xfrm>
          <a:prstGeom prst="roundRect">
            <a:avLst/>
          </a:prstGeom>
          <a:solidFill>
            <a:srgbClr val="A3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675120" y="2359152"/>
            <a:ext cx="4846320" cy="1920240"/>
          </a:xfrm>
          <a:prstGeom prst="roundRect">
            <a:avLst/>
          </a:prstGeom>
          <a:solidFill>
            <a:srgbClr val="E5F6F4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27000" rtlCol="0" anchor="t"/>
          <a:lstStyle/>
          <a:p>
            <a:pPr algn="ctr"/>
            <a:r>
              <a:rPr sz="2200" b="1" dirty="0" err="1">
                <a:solidFill>
                  <a:srgbClr val="0B1F33"/>
                </a:solidFill>
                <a:latin typeface="Aptos"/>
              </a:rPr>
              <a:t>TO‘G‘RI</a:t>
            </a:r>
            <a:r>
              <a:rPr sz="2200" b="1" dirty="0">
                <a:solidFill>
                  <a:srgbClr val="0B1F33"/>
                </a:solidFill>
                <a:latin typeface="Aptos"/>
              </a:rPr>
              <a:t> </a:t>
            </a:r>
            <a:r>
              <a:rPr sz="2200" b="1" dirty="0" err="1">
                <a:solidFill>
                  <a:srgbClr val="0B1F33"/>
                </a:solidFill>
                <a:latin typeface="Aptos"/>
              </a:rPr>
              <a:t>TALQIN</a:t>
            </a:r>
            <a:endParaRPr sz="2200" b="1" dirty="0">
              <a:solidFill>
                <a:srgbClr val="0B1F33"/>
              </a:solidFill>
              <a:latin typeface="Aptos"/>
            </a:endParaRPr>
          </a:p>
          <a:p>
            <a:pPr algn="ctr">
              <a:spcBef>
                <a:spcPts val="600"/>
              </a:spcBef>
            </a:pPr>
            <a:r>
              <a:rPr sz="1800" dirty="0" err="1">
                <a:solidFill>
                  <a:srgbClr val="1F2937"/>
                </a:solidFill>
                <a:latin typeface="Aptos"/>
              </a:rPr>
              <a:t>Boshqa</a:t>
            </a:r>
            <a:r>
              <a:rPr sz="1800" dirty="0">
                <a:solidFill>
                  <a:srgbClr val="1F2937"/>
                </a:solidFill>
                <a:latin typeface="Aptos"/>
              </a:rPr>
              <a:t> </a:t>
            </a:r>
            <a:r>
              <a:rPr sz="1800" dirty="0" err="1">
                <a:solidFill>
                  <a:srgbClr val="1F2937"/>
                </a:solidFill>
                <a:latin typeface="Aptos"/>
              </a:rPr>
              <a:t>kiritilgan</a:t>
            </a:r>
            <a:r>
              <a:rPr sz="1800" dirty="0">
                <a:solidFill>
                  <a:srgbClr val="1F2937"/>
                </a:solidFill>
                <a:latin typeface="Aptos"/>
              </a:rPr>
              <a:t> </a:t>
            </a:r>
            <a:r>
              <a:rPr sz="1800" dirty="0" err="1">
                <a:solidFill>
                  <a:srgbClr val="1F2937"/>
                </a:solidFill>
                <a:latin typeface="Aptos"/>
              </a:rPr>
              <a:t>omillar</a:t>
            </a:r>
            <a:r>
              <a:rPr sz="1800" dirty="0">
                <a:solidFill>
                  <a:srgbClr val="1F2937"/>
                </a:solidFill>
                <a:latin typeface="Aptos"/>
              </a:rPr>
              <a:t> </a:t>
            </a:r>
            <a:r>
              <a:rPr sz="1800" dirty="0" err="1">
                <a:solidFill>
                  <a:srgbClr val="1F2937"/>
                </a:solidFill>
                <a:latin typeface="Aptos"/>
              </a:rPr>
              <a:t>o‘zgarmagan</a:t>
            </a:r>
            <a:r>
              <a:rPr sz="1800" dirty="0">
                <a:solidFill>
                  <a:srgbClr val="1F2937"/>
                </a:solidFill>
                <a:latin typeface="Aptos"/>
              </a:rPr>
              <a:t> deb </a:t>
            </a:r>
            <a:r>
              <a:rPr sz="1800" dirty="0" err="1">
                <a:solidFill>
                  <a:srgbClr val="1F2937"/>
                </a:solidFill>
                <a:latin typeface="Aptos"/>
              </a:rPr>
              <a:t>qaralganda</a:t>
            </a:r>
            <a:r>
              <a:rPr sz="1800" dirty="0">
                <a:solidFill>
                  <a:srgbClr val="1F2937"/>
                </a:solidFill>
                <a:latin typeface="Aptos"/>
              </a:rPr>
              <a:t>, </a:t>
            </a:r>
            <a:r>
              <a:rPr sz="1800" dirty="0" err="1">
                <a:solidFill>
                  <a:srgbClr val="1F2937"/>
                </a:solidFill>
                <a:latin typeface="Aptos"/>
              </a:rPr>
              <a:t>narx</a:t>
            </a:r>
            <a:r>
              <a:rPr sz="1800" dirty="0">
                <a:solidFill>
                  <a:srgbClr val="1F2937"/>
                </a:solidFill>
                <a:latin typeface="Aptos"/>
              </a:rPr>
              <a:t> </a:t>
            </a:r>
            <a:r>
              <a:rPr sz="1800" dirty="0" err="1">
                <a:solidFill>
                  <a:srgbClr val="1F2937"/>
                </a:solidFill>
                <a:latin typeface="Aptos"/>
              </a:rPr>
              <a:t>bir</a:t>
            </a:r>
            <a:r>
              <a:rPr sz="1800" dirty="0">
                <a:solidFill>
                  <a:srgbClr val="1F2937"/>
                </a:solidFill>
                <a:latin typeface="Aptos"/>
              </a:rPr>
              <a:t> </a:t>
            </a:r>
            <a:r>
              <a:rPr sz="1800" dirty="0" err="1">
                <a:solidFill>
                  <a:srgbClr val="1F2937"/>
                </a:solidFill>
                <a:latin typeface="Aptos"/>
              </a:rPr>
              <a:t>birlik</a:t>
            </a:r>
            <a:r>
              <a:rPr sz="1800" dirty="0">
                <a:solidFill>
                  <a:srgbClr val="1F2937"/>
                </a:solidFill>
                <a:latin typeface="Aptos"/>
              </a:rPr>
              <a:t> </a:t>
            </a:r>
            <a:r>
              <a:rPr sz="1800" dirty="0" err="1">
                <a:solidFill>
                  <a:srgbClr val="1F2937"/>
                </a:solidFill>
                <a:latin typeface="Aptos"/>
              </a:rPr>
              <a:t>yuqori</a:t>
            </a:r>
            <a:r>
              <a:rPr sz="1800" dirty="0">
                <a:solidFill>
                  <a:srgbClr val="1F2937"/>
                </a:solidFill>
                <a:latin typeface="Aptos"/>
              </a:rPr>
              <a:t> </a:t>
            </a:r>
            <a:r>
              <a:rPr sz="1800" dirty="0" err="1">
                <a:solidFill>
                  <a:srgbClr val="1F2937"/>
                </a:solidFill>
                <a:latin typeface="Aptos"/>
              </a:rPr>
              <a:t>bo‘lishi</a:t>
            </a:r>
            <a:r>
              <a:rPr sz="1800" dirty="0">
                <a:solidFill>
                  <a:srgbClr val="1F2937"/>
                </a:solidFill>
                <a:latin typeface="Aptos"/>
              </a:rPr>
              <a:t> </a:t>
            </a:r>
            <a:r>
              <a:rPr sz="1800" dirty="0" err="1">
                <a:solidFill>
                  <a:srgbClr val="1F2937"/>
                </a:solidFill>
                <a:latin typeface="Aptos"/>
              </a:rPr>
              <a:t>sotuvning</a:t>
            </a:r>
            <a:r>
              <a:rPr sz="1800" dirty="0">
                <a:solidFill>
                  <a:srgbClr val="1F2937"/>
                </a:solidFill>
                <a:latin typeface="Aptos"/>
              </a:rPr>
              <a:t> </a:t>
            </a:r>
            <a:r>
              <a:rPr sz="1800" dirty="0" err="1">
                <a:solidFill>
                  <a:srgbClr val="1F2937"/>
                </a:solidFill>
                <a:latin typeface="Aptos"/>
              </a:rPr>
              <a:t>o‘rtacha</a:t>
            </a:r>
            <a:r>
              <a:rPr sz="1800" dirty="0">
                <a:solidFill>
                  <a:srgbClr val="1F2937"/>
                </a:solidFill>
                <a:latin typeface="Aptos"/>
              </a:rPr>
              <a:t> 4.2 </a:t>
            </a:r>
            <a:r>
              <a:rPr sz="1800" dirty="0" err="1">
                <a:solidFill>
                  <a:srgbClr val="1F2937"/>
                </a:solidFill>
                <a:latin typeface="Aptos"/>
              </a:rPr>
              <a:t>birlik</a:t>
            </a:r>
            <a:r>
              <a:rPr sz="1800" dirty="0">
                <a:solidFill>
                  <a:srgbClr val="1F2937"/>
                </a:solidFill>
                <a:latin typeface="Aptos"/>
              </a:rPr>
              <a:t> past </a:t>
            </a:r>
            <a:r>
              <a:rPr sz="1800" dirty="0" err="1">
                <a:solidFill>
                  <a:srgbClr val="1F2937"/>
                </a:solidFill>
                <a:latin typeface="Aptos"/>
              </a:rPr>
              <a:t>bo‘lishi</a:t>
            </a:r>
            <a:r>
              <a:rPr sz="1800" dirty="0">
                <a:solidFill>
                  <a:srgbClr val="1F2937"/>
                </a:solidFill>
                <a:latin typeface="Aptos"/>
              </a:rPr>
              <a:t> </a:t>
            </a:r>
            <a:r>
              <a:rPr sz="1800" dirty="0" err="1">
                <a:solidFill>
                  <a:srgbClr val="1F2937"/>
                </a:solidFill>
                <a:latin typeface="Aptos"/>
              </a:rPr>
              <a:t>bilan</a:t>
            </a:r>
            <a:r>
              <a:rPr sz="1800" dirty="0">
                <a:solidFill>
                  <a:srgbClr val="1F2937"/>
                </a:solidFill>
                <a:latin typeface="Aptos"/>
              </a:rPr>
              <a:t> </a:t>
            </a:r>
            <a:r>
              <a:rPr sz="1800" dirty="0" err="1">
                <a:solidFill>
                  <a:srgbClr val="1F2937"/>
                </a:solidFill>
                <a:latin typeface="Aptos"/>
              </a:rPr>
              <a:t>bog‘langan</a:t>
            </a:r>
            <a:r>
              <a:rPr sz="1800" dirty="0">
                <a:solidFill>
                  <a:srgbClr val="1F2937"/>
                </a:solidFill>
                <a:latin typeface="Aptos"/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606040"/>
            <a:ext cx="73152" cy="137160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80160" y="4983480"/>
            <a:ext cx="96012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>
                <a:solidFill>
                  <a:srgbClr val="0B1F33"/>
                </a:solidFill>
                <a:latin typeface="Aptos"/>
              </a:rPr>
              <a:t>Ekonometrik natijaning qiymati uning iqtisodiy jihatdan to‘g‘ri talqin qilinishiga bog‘liq.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9184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Aptos"/>
              </a:rPr>
              <a:t>AHAMIYAT FARQI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76072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0B1F33"/>
                </a:solidFill>
                <a:latin typeface="Aptos Display"/>
              </a:rPr>
              <a:t>Statistik jihatdan muhim — iqtisodiy jihatdan ham muhimmi?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097280" cy="254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tiu-blu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84048"/>
            <a:ext cx="960120" cy="40901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12064" y="6446520"/>
            <a:ext cx="11201400" cy="15240"/>
          </a:xfrm>
          <a:prstGeom prst="rect">
            <a:avLst/>
          </a:prstGeom>
          <a:solidFill>
            <a:srgbClr val="D9D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6510528"/>
            <a:ext cx="98755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TASHKENT INTERNATIONAL UNIVERSITY • EKONOMETRIKA • BAKALAVRIAT 3-KURS • by Sarvar Komilov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44784" y="6510528"/>
            <a:ext cx="8229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Aptos"/>
              </a:rPr>
              <a:t>50 / 57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0" y="1417320"/>
            <a:ext cx="4480560" cy="685800"/>
          </a:xfrm>
          <a:prstGeom prst="roundRect">
            <a:avLst/>
          </a:prstGeom>
          <a:solidFill>
            <a:srgbClr val="F8F3E7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400" b="0">
                <a:solidFill>
                  <a:srgbClr val="0B1F33"/>
                </a:solidFill>
                <a:latin typeface="Cambria Math"/>
              </a:rPr>
              <a:t>β̂ = 0.00001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606040"/>
            <a:ext cx="4846320" cy="1508760"/>
          </a:xfrm>
          <a:prstGeom prst="roundRect">
            <a:avLst/>
          </a:prstGeom>
          <a:solidFill>
            <a:srgbClr val="E5F6F4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27000" rtlCol="0" anchor="t"/>
          <a:lstStyle/>
          <a:p>
            <a:pPr algn="l"/>
            <a:r>
              <a:rPr sz="2200" b="1">
                <a:solidFill>
                  <a:srgbClr val="0B1F33"/>
                </a:solidFill>
                <a:latin typeface="Aptos"/>
              </a:rPr>
              <a:t>STATISTIK AHAMIYAT</a:t>
            </a:r>
          </a:p>
          <a:p>
            <a:pPr algn="l">
              <a:spcBef>
                <a:spcPts val="600"/>
              </a:spcBef>
            </a:pPr>
            <a:r>
              <a:rPr sz="1900">
                <a:solidFill>
                  <a:srgbClr val="1F2937"/>
                </a:solidFill>
                <a:latin typeface="Aptos"/>
              </a:rPr>
              <a:t>Natijaning tasodifiy xatolik bilan tushuntirilish ehtimolini baholashga yordam beradi.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606040"/>
            <a:ext cx="73152" cy="150876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400800" y="2606040"/>
            <a:ext cx="4846320" cy="1508760"/>
          </a:xfrm>
          <a:prstGeom prst="roundRect">
            <a:avLst/>
          </a:prstGeom>
          <a:solidFill>
            <a:srgbClr val="F8F3E7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27000" rtlCol="0" anchor="t"/>
          <a:lstStyle/>
          <a:p>
            <a:pPr algn="l"/>
            <a:r>
              <a:rPr sz="2200" b="1">
                <a:solidFill>
                  <a:srgbClr val="0B1F33"/>
                </a:solidFill>
                <a:latin typeface="Aptos"/>
              </a:rPr>
              <a:t>IQTISODIY AHAMIYAT</a:t>
            </a:r>
          </a:p>
          <a:p>
            <a:pPr algn="l">
              <a:spcBef>
                <a:spcPts val="600"/>
              </a:spcBef>
            </a:pPr>
            <a:r>
              <a:rPr sz="1900">
                <a:solidFill>
                  <a:srgbClr val="1F2937"/>
                </a:solidFill>
                <a:latin typeface="Aptos"/>
              </a:rPr>
              <a:t>Ta’sir yoki bog‘liqlik miqdori real qaror uchun yetarlicha katta va mazmunlimi?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606040"/>
            <a:ext cx="73152" cy="1508760"/>
          </a:xfrm>
          <a:prstGeom prst="roundRect">
            <a:avLst/>
          </a:prstGeom>
          <a:solidFill>
            <a:srgbClr val="C2A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755648" y="4821604"/>
            <a:ext cx="9052560" cy="865964"/>
          </a:xfrm>
          <a:prstGeom prst="roundRect">
            <a:avLst/>
          </a:prstGeom>
          <a:solidFill>
            <a:srgbClr val="F8E8E8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27000" rtlCol="0" anchor="t"/>
          <a:lstStyle/>
          <a:p>
            <a:pPr algn="ctr"/>
            <a:r>
              <a:rPr sz="2000" b="1">
                <a:solidFill>
                  <a:srgbClr val="0B1F33"/>
                </a:solidFill>
                <a:latin typeface="Aptos"/>
              </a:rPr>
              <a:t>“Statistically significant” va “economically important” bir xil tushuncha emas.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554480" y="4892040"/>
            <a:ext cx="73152" cy="658368"/>
          </a:xfrm>
          <a:prstGeom prst="roundRect">
            <a:avLst/>
          </a:prstGeom>
          <a:solidFill>
            <a:srgbClr val="A3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9184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Aptos"/>
              </a:rPr>
              <a:t>PROGNOZ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76072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0B1F33"/>
                </a:solidFill>
                <a:latin typeface="Aptos Display"/>
              </a:rPr>
              <a:t>9-bosqich. Model yordamida kelajak qiymatini baholash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097280" cy="254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tiu-blu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84048"/>
            <a:ext cx="960120" cy="40901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12064" y="6446520"/>
            <a:ext cx="11201400" cy="15240"/>
          </a:xfrm>
          <a:prstGeom prst="rect">
            <a:avLst/>
          </a:prstGeom>
          <a:solidFill>
            <a:srgbClr val="D9D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6510528"/>
            <a:ext cx="98755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TASHKENT INTERNATIONAL UNIVERSITY • EKONOMETRIKA • BAKALAVRIAT 3-KURS • by Sarvar Komilov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44784" y="6510528"/>
            <a:ext cx="8229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Aptos"/>
              </a:rPr>
              <a:t>51 / 57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1417320"/>
            <a:ext cx="1033272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0">
                <a:solidFill>
                  <a:srgbClr val="0B1F33"/>
                </a:solidFill>
                <a:latin typeface="Cambria Math"/>
              </a:rPr>
              <a:t>Sotuvₜ = f(Narxₜ, Reklamaₜ, Daromadₜ, …)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63040" y="2444436"/>
            <a:ext cx="4023360" cy="393252"/>
          </a:xfrm>
          <a:prstGeom prst="roundRect">
            <a:avLst/>
          </a:prstGeom>
          <a:solidFill>
            <a:srgbClr val="E5F6F4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1F33"/>
                </a:solidFill>
                <a:latin typeface="Aptos"/>
              </a:rPr>
              <a:t>Narxₜ₊₁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1568" y="2819400"/>
            <a:ext cx="14630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C2A56B"/>
                </a:solidFill>
                <a:latin typeface="Aptos"/>
              </a:rPr>
              <a:t>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63040" y="2947416"/>
            <a:ext cx="4023360" cy="3932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dirty="0" err="1">
                <a:solidFill>
                  <a:srgbClr val="0B1F33"/>
                </a:solidFill>
                <a:latin typeface="Aptos"/>
              </a:rPr>
              <a:t>Reklama</a:t>
            </a:r>
            <a:r>
              <a:rPr sz="1600" b="1" dirty="0">
                <a:solidFill>
                  <a:srgbClr val="0B1F33"/>
                </a:solidFill>
                <a:latin typeface="Aptos"/>
              </a:rPr>
              <a:t>ₜ₊₁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01568" y="3023616"/>
            <a:ext cx="14630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C2A56B"/>
                </a:solidFill>
                <a:latin typeface="Aptos"/>
              </a:rPr>
              <a:t>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81328" y="3413760"/>
            <a:ext cx="4023360" cy="524256"/>
          </a:xfrm>
          <a:prstGeom prst="roundRect">
            <a:avLst/>
          </a:prstGeom>
          <a:solidFill>
            <a:srgbClr val="E5F6F4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1F33"/>
                </a:solidFill>
                <a:latin typeface="Aptos"/>
              </a:rPr>
              <a:t>Daromadₜ₊₁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347472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400" b="1">
                <a:solidFill>
                  <a:srgbClr val="C2A56B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29400" y="3063240"/>
            <a:ext cx="3200400" cy="822960"/>
          </a:xfrm>
          <a:prstGeom prst="roundRect">
            <a:avLst/>
          </a:prstGeom>
          <a:solidFill>
            <a:srgbClr val="F8F3E7"/>
          </a:solidFill>
          <a:ln w="12700">
            <a:solidFill>
              <a:srgbClr val="C2A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0B1F33"/>
                </a:solidFill>
                <a:latin typeface="Aptos"/>
              </a:rPr>
              <a:t>Ŝotuvₜ₊₁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40180" y="4678680"/>
            <a:ext cx="9601200" cy="929640"/>
          </a:xfrm>
          <a:prstGeom prst="roundRect">
            <a:avLst/>
          </a:prstGeom>
          <a:solidFill>
            <a:srgbClr val="F8E8E8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27000" rtlCol="0" anchor="t"/>
          <a:lstStyle/>
          <a:p>
            <a:pPr algn="ctr"/>
            <a:r>
              <a:rPr sz="2000" b="1">
                <a:solidFill>
                  <a:srgbClr val="0B1F33"/>
                </a:solidFill>
                <a:latin typeface="Aptos"/>
              </a:rPr>
              <a:t>Prognoz — kelajakning aniq qiymati emas; u model, ma’lumot va taxminlarga asoslangan bahodir.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80160" y="4800600"/>
            <a:ext cx="73152" cy="731520"/>
          </a:xfrm>
          <a:prstGeom prst="roundRect">
            <a:avLst/>
          </a:prstGeom>
          <a:solidFill>
            <a:srgbClr val="A3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9184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Aptos"/>
              </a:rPr>
              <a:t>SSENARIY TAHLILI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76072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0B1F33"/>
                </a:solidFill>
                <a:latin typeface="Aptos Display"/>
              </a:rPr>
              <a:t>“Agar siyosatni o‘zgartirsak, nima bo‘lishi mumkin?”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097280" cy="254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tiu-blu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84048"/>
            <a:ext cx="960120" cy="40901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12064" y="6446520"/>
            <a:ext cx="11201400" cy="15240"/>
          </a:xfrm>
          <a:prstGeom prst="rect">
            <a:avLst/>
          </a:prstGeom>
          <a:solidFill>
            <a:srgbClr val="D9D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6510528"/>
            <a:ext cx="98755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TASHKENT INTERNATIONAL UNIVERSITY • EKONOMETRIKA • BAKALAVRIAT 3-KURS • by Sarvar Komilov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44784" y="6510528"/>
            <a:ext cx="8229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Aptos"/>
              </a:rPr>
              <a:t>52 / 57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1207009"/>
            <a:ext cx="10332720" cy="356615"/>
          </a:xfrm>
          <a:prstGeom prst="roundRect">
            <a:avLst/>
          </a:prstGeom>
          <a:solidFill>
            <a:srgbClr val="E5F6F4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1F33"/>
                </a:solidFill>
                <a:latin typeface="Aptos"/>
              </a:rPr>
              <a:t>SIYOSIY FOIZ STAVKASI 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07608" y="1411833"/>
            <a:ext cx="14630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C2A56B"/>
                </a:solidFill>
                <a:latin typeface="Aptos"/>
              </a:rPr>
              <a:t>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1680667"/>
            <a:ext cx="10332720" cy="38066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1F33"/>
                </a:solidFill>
                <a:latin typeface="Aptos"/>
              </a:rPr>
              <a:t>KREDIT SHAROITLARI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07608" y="1534363"/>
            <a:ext cx="14630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C2A56B"/>
                </a:solidFill>
                <a:latin typeface="Aptos"/>
              </a:rPr>
              <a:t>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9640" y="2185518"/>
            <a:ext cx="10332720" cy="412773"/>
          </a:xfrm>
          <a:prstGeom prst="roundRect">
            <a:avLst/>
          </a:prstGeom>
          <a:solidFill>
            <a:srgbClr val="E5F6F4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dirty="0" err="1">
                <a:solidFill>
                  <a:srgbClr val="0B1F33"/>
                </a:solidFill>
                <a:latin typeface="Aptos"/>
              </a:rPr>
              <a:t>ISTE’MOL</a:t>
            </a:r>
            <a:r>
              <a:rPr sz="1600" b="1" dirty="0">
                <a:solidFill>
                  <a:srgbClr val="0B1F33"/>
                </a:solidFill>
                <a:latin typeface="Aptos"/>
              </a:rPr>
              <a:t> VA </a:t>
            </a:r>
            <a:r>
              <a:rPr sz="1600" b="1" dirty="0" err="1">
                <a:solidFill>
                  <a:srgbClr val="0B1F33"/>
                </a:solidFill>
                <a:latin typeface="Aptos"/>
              </a:rPr>
              <a:t>INVESTITSIYA</a:t>
            </a:r>
            <a:endParaRPr sz="1600" b="1" dirty="0">
              <a:solidFill>
                <a:srgbClr val="0B1F33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007608" y="1656892"/>
            <a:ext cx="14630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C2A56B"/>
                </a:solidFill>
                <a:latin typeface="Aptos"/>
              </a:rPr>
              <a:t>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9640" y="2676632"/>
            <a:ext cx="10332720" cy="44321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dirty="0" err="1">
                <a:solidFill>
                  <a:srgbClr val="0B1F33"/>
                </a:solidFill>
                <a:latin typeface="Aptos"/>
              </a:rPr>
              <a:t>YALPI</a:t>
            </a:r>
            <a:r>
              <a:rPr sz="1600" b="1" dirty="0">
                <a:solidFill>
                  <a:srgbClr val="0B1F33"/>
                </a:solidFill>
                <a:latin typeface="Aptos"/>
              </a:rPr>
              <a:t> TALAB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07608" y="1779422"/>
            <a:ext cx="14630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C2A56B"/>
                </a:solidFill>
                <a:latin typeface="Aptos"/>
              </a:rPr>
              <a:t>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" y="3247717"/>
            <a:ext cx="10332720" cy="443211"/>
          </a:xfrm>
          <a:prstGeom prst="roundRect">
            <a:avLst/>
          </a:prstGeom>
          <a:solidFill>
            <a:srgbClr val="E5F6F4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dirty="0" err="1">
                <a:solidFill>
                  <a:srgbClr val="0B1F33"/>
                </a:solidFill>
                <a:latin typeface="Aptos"/>
              </a:rPr>
              <a:t>INFLYATSIYA</a:t>
            </a:r>
            <a:endParaRPr sz="1600" b="1" dirty="0">
              <a:solidFill>
                <a:srgbClr val="0B1F33"/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1161288" y="4482491"/>
            <a:ext cx="4846320" cy="1302671"/>
          </a:xfrm>
          <a:prstGeom prst="roundRect">
            <a:avLst/>
          </a:prstGeom>
          <a:solidFill>
            <a:srgbClr val="F8F3E7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27000" rtlCol="0" anchor="t"/>
          <a:lstStyle/>
          <a:p>
            <a:pPr algn="ctr"/>
            <a:r>
              <a:rPr sz="2200" b="1">
                <a:solidFill>
                  <a:srgbClr val="0B1F33"/>
                </a:solidFill>
                <a:latin typeface="Aptos"/>
              </a:rPr>
              <a:t>PROGNOZ</a:t>
            </a:r>
          </a:p>
          <a:p>
            <a:pPr algn="ctr">
              <a:spcBef>
                <a:spcPts val="600"/>
              </a:spcBef>
            </a:pPr>
            <a:r>
              <a:rPr sz="2000">
                <a:solidFill>
                  <a:srgbClr val="1F2937"/>
                </a:solidFill>
                <a:latin typeface="Aptos"/>
              </a:rPr>
              <a:t>“Nima bo‘lishi kutilmoqda?”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4663440"/>
            <a:ext cx="73152" cy="777240"/>
          </a:xfrm>
          <a:prstGeom prst="roundRect">
            <a:avLst/>
          </a:prstGeom>
          <a:solidFill>
            <a:srgbClr val="C2A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675120" y="4501680"/>
            <a:ext cx="4846320" cy="1283483"/>
          </a:xfrm>
          <a:prstGeom prst="roundRect">
            <a:avLst/>
          </a:prstGeom>
          <a:solidFill>
            <a:srgbClr val="E5F6F4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27000" rtlCol="0" anchor="t"/>
          <a:lstStyle/>
          <a:p>
            <a:pPr algn="ctr"/>
            <a:r>
              <a:rPr sz="2200" b="1" dirty="0" err="1">
                <a:solidFill>
                  <a:srgbClr val="0B1F33"/>
                </a:solidFill>
                <a:latin typeface="Aptos"/>
              </a:rPr>
              <a:t>SSENARIY</a:t>
            </a:r>
            <a:r>
              <a:rPr sz="2200" b="1" dirty="0">
                <a:solidFill>
                  <a:srgbClr val="0B1F33"/>
                </a:solidFill>
                <a:latin typeface="Aptos"/>
              </a:rPr>
              <a:t> </a:t>
            </a:r>
            <a:r>
              <a:rPr sz="2200" b="1" dirty="0" err="1">
                <a:solidFill>
                  <a:srgbClr val="0B1F33"/>
                </a:solidFill>
                <a:latin typeface="Aptos"/>
              </a:rPr>
              <a:t>TAHLILI</a:t>
            </a:r>
            <a:endParaRPr sz="2200" b="1" dirty="0">
              <a:solidFill>
                <a:srgbClr val="0B1F33"/>
              </a:solidFill>
              <a:latin typeface="Aptos"/>
            </a:endParaRPr>
          </a:p>
          <a:p>
            <a:pPr algn="ctr">
              <a:spcBef>
                <a:spcPts val="600"/>
              </a:spcBef>
            </a:pPr>
            <a:r>
              <a:rPr sz="2000" dirty="0">
                <a:solidFill>
                  <a:srgbClr val="1F2937"/>
                </a:solidFill>
                <a:latin typeface="Aptos"/>
              </a:rPr>
              <a:t>“Agar X </a:t>
            </a:r>
            <a:r>
              <a:rPr sz="2000" dirty="0" err="1">
                <a:solidFill>
                  <a:srgbClr val="1F2937"/>
                </a:solidFill>
                <a:latin typeface="Aptos"/>
              </a:rPr>
              <a:t>o‘zgarsa</a:t>
            </a:r>
            <a:r>
              <a:rPr sz="2000" dirty="0">
                <a:solidFill>
                  <a:srgbClr val="1F2937"/>
                </a:solidFill>
                <a:latin typeface="Aptos"/>
              </a:rPr>
              <a:t>, model </a:t>
            </a:r>
            <a:r>
              <a:rPr sz="2000" dirty="0" err="1">
                <a:solidFill>
                  <a:srgbClr val="1F2937"/>
                </a:solidFill>
                <a:latin typeface="Aptos"/>
              </a:rPr>
              <a:t>nima</a:t>
            </a:r>
            <a:r>
              <a:rPr sz="2000" dirty="0">
                <a:solidFill>
                  <a:srgbClr val="1F2937"/>
                </a:solidFill>
                <a:latin typeface="Aptos"/>
              </a:rPr>
              <a:t> </a:t>
            </a:r>
            <a:r>
              <a:rPr sz="2000" dirty="0" err="1">
                <a:solidFill>
                  <a:srgbClr val="1F2937"/>
                </a:solidFill>
                <a:latin typeface="Aptos"/>
              </a:rPr>
              <a:t>ko‘rsatadi</a:t>
            </a:r>
            <a:r>
              <a:rPr sz="2000" dirty="0">
                <a:solidFill>
                  <a:srgbClr val="1F2937"/>
                </a:solidFill>
                <a:latin typeface="Aptos"/>
              </a:rPr>
              <a:t>?”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4663440"/>
            <a:ext cx="73152" cy="77724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9184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Aptos"/>
              </a:rPr>
              <a:t>REAL POLICY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76072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0B1F33"/>
                </a:solidFill>
                <a:latin typeface="Aptos Display"/>
              </a:rPr>
              <a:t>IMF Quarterly Projection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097280" cy="254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tiu-blu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84048"/>
            <a:ext cx="960120" cy="40901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12064" y="6446520"/>
            <a:ext cx="11201400" cy="15240"/>
          </a:xfrm>
          <a:prstGeom prst="rect">
            <a:avLst/>
          </a:prstGeom>
          <a:solidFill>
            <a:srgbClr val="D9D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6510528"/>
            <a:ext cx="98755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TASHKENT INTERNATIONAL UNIVERSITY • EKONOMETRIKA • BAKALAVRIAT 3-KURS • by Sarvar Komilov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44784" y="6510528"/>
            <a:ext cx="8229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Aptos"/>
              </a:rPr>
              <a:t>53 / 57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078992"/>
            <a:ext cx="6858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64748B"/>
                </a:solidFill>
                <a:latin typeface="Aptos"/>
              </a:rPr>
              <a:t>modeldan policy analysisgacha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417320"/>
            <a:ext cx="52120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27000" rtlCol="0" anchor="t"/>
          <a:lstStyle/>
          <a:p>
            <a:pPr algn="l"/>
            <a:r>
              <a:rPr sz="2000" b="1">
                <a:solidFill>
                  <a:srgbClr val="0B1F33"/>
                </a:solidFill>
                <a:latin typeface="Aptos"/>
              </a:rPr>
              <a:t>Quarterly Projection Model</a:t>
            </a:r>
          </a:p>
          <a:p>
            <a:pPr algn="l">
              <a:spcBef>
                <a:spcPts val="600"/>
              </a:spcBef>
            </a:pPr>
            <a:r>
              <a:rPr sz="1800">
                <a:solidFill>
                  <a:srgbClr val="1F2937"/>
                </a:solidFill>
                <a:latin typeface="Aptos"/>
              </a:rPr>
              <a:t>IMF tomonidan monetary policy analysis doirasida qo‘llanadigan standart ramkalardan biri va forward-looking Forecasting and Policy Analysis System tarkibidagi muhim vosita.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1417320"/>
            <a:ext cx="73152" cy="182880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583680" y="1417320"/>
            <a:ext cx="3566160" cy="592074"/>
          </a:xfrm>
          <a:prstGeom prst="roundRect">
            <a:avLst/>
          </a:prstGeom>
          <a:solidFill>
            <a:srgbClr val="E5F6F4"/>
          </a:solidFill>
          <a:ln w="12700">
            <a:solidFill>
              <a:srgbClr val="C2A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1F33"/>
                </a:solidFill>
                <a:latin typeface="Aptos"/>
              </a:rPr>
              <a:t>INFLATION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93608" y="1991106"/>
            <a:ext cx="14630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C2A56B"/>
                </a:solidFill>
                <a:latin typeface="Aptos"/>
              </a:rPr>
              <a:t>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2119122"/>
            <a:ext cx="3566160" cy="59207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A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1F33"/>
                </a:solidFill>
                <a:latin typeface="Aptos"/>
              </a:rPr>
              <a:t>OUTPUT GAP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3608" y="2692908"/>
            <a:ext cx="14630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C2A56B"/>
                </a:solidFill>
                <a:latin typeface="Aptos"/>
              </a:rPr>
              <a:t>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2820924"/>
            <a:ext cx="3566160" cy="592074"/>
          </a:xfrm>
          <a:prstGeom prst="roundRect">
            <a:avLst/>
          </a:prstGeom>
          <a:solidFill>
            <a:srgbClr val="E5F6F4"/>
          </a:solidFill>
          <a:ln w="12700">
            <a:solidFill>
              <a:srgbClr val="C2A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1F33"/>
                </a:solidFill>
                <a:latin typeface="Aptos"/>
              </a:rPr>
              <a:t>INTEREST 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3394710"/>
            <a:ext cx="14630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C2A56B"/>
                </a:solidFill>
                <a:latin typeface="Aptos"/>
              </a:rPr>
              <a:t>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0" y="3522726"/>
            <a:ext cx="3566160" cy="59207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A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1F33"/>
                </a:solidFill>
                <a:latin typeface="Aptos"/>
              </a:rPr>
              <a:t>EXCHANGE RATE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4480560"/>
            <a:ext cx="3931920" cy="822960"/>
          </a:xfrm>
          <a:prstGeom prst="roundRect">
            <a:avLst/>
          </a:prstGeom>
          <a:solidFill>
            <a:srgbClr val="E5F6F4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B1F33"/>
                </a:solidFill>
                <a:latin typeface="Aptos"/>
              </a:rPr>
              <a:t>BASELINE FORECAST
+
ALTERNATIVE SCENARIOS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983480"/>
            <a:ext cx="5212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0B1F33"/>
                </a:solidFill>
                <a:latin typeface="Aptos"/>
              </a:rPr>
              <a:t>Model siyosatchiga turli qarorlarda iqtisodiyot qanday yo‘l tutishi mumkinligini tahlil qilishga yordam beradi.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144768"/>
            <a:ext cx="10698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Source: IMF, Ouliaris &amp; Rochon, “Solving the Canonical Quarterly Projection Model Using EViews,” Technical Notes and Manuals, 2026.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9184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Aptos"/>
              </a:rPr>
              <a:t>NATIJANING BARQARORLIGI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76072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0B1F33"/>
                </a:solidFill>
                <a:latin typeface="Aptos Display"/>
              </a:rPr>
              <a:t>Bir marta olingan natija yetarlimi?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097280" cy="254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tiu-blu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84048"/>
            <a:ext cx="960120" cy="40901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12064" y="6446520"/>
            <a:ext cx="11201400" cy="15240"/>
          </a:xfrm>
          <a:prstGeom prst="rect">
            <a:avLst/>
          </a:prstGeom>
          <a:solidFill>
            <a:srgbClr val="D9D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6510528"/>
            <a:ext cx="98755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TASHKENT INTERNATIONAL UNIVERSITY • EKONOMETRIKA • BAKALAVRIAT 3-KURS • by Sarvar Komilov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44784" y="6510528"/>
            <a:ext cx="8229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Aptos"/>
              </a:rPr>
              <a:t>54 / 57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74920" y="1417320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400" b="1">
                <a:solidFill>
                  <a:srgbClr val="A33A3A"/>
                </a:solidFill>
                <a:latin typeface="Aptos Display"/>
              </a:rPr>
              <a:t>YO‘Q.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51560" y="2423160"/>
            <a:ext cx="292608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0B1F33"/>
                </a:solidFill>
                <a:latin typeface="Aptos"/>
              </a:rPr>
              <a:t>boshqa davr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2423160"/>
            <a:ext cx="292608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A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0B1F33"/>
                </a:solidFill>
                <a:latin typeface="Aptos"/>
              </a:rPr>
              <a:t>boshqa tanlanma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9560" y="2423160"/>
            <a:ext cx="292608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0B1F33"/>
                </a:solidFill>
                <a:latin typeface="Aptos"/>
              </a:rPr>
              <a:t>boshqa nazorat o‘zgaruvchilari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" y="3246120"/>
            <a:ext cx="292608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0B1F33"/>
                </a:solidFill>
                <a:latin typeface="Aptos"/>
              </a:rPr>
              <a:t>boshqa mantiqiy spetsifikatsiya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60" y="3246120"/>
            <a:ext cx="292608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A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0B1F33"/>
                </a:solidFill>
                <a:latin typeface="Aptos"/>
              </a:rPr>
              <a:t>yangi ma’lumot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09560" y="3246120"/>
            <a:ext cx="292608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0B1F33"/>
                </a:solidFill>
                <a:latin typeface="Aptos"/>
              </a:rPr>
              <a:t>muqobil o‘lchov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057400" y="4224528"/>
            <a:ext cx="8503920" cy="1097280"/>
          </a:xfrm>
          <a:prstGeom prst="roundRect">
            <a:avLst/>
          </a:prstGeom>
          <a:solidFill>
            <a:srgbClr val="E5F6F4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27000" rtlCol="0" anchor="t"/>
          <a:lstStyle/>
          <a:p>
            <a:pPr algn="ctr"/>
            <a:r>
              <a:rPr sz="2200" b="1">
                <a:solidFill>
                  <a:srgbClr val="0B1F33"/>
                </a:solidFill>
                <a:latin typeface="Aptos"/>
              </a:rPr>
              <a:t>Natijaning barqarorligi (robustness)</a:t>
            </a:r>
          </a:p>
          <a:p>
            <a:pPr algn="ctr">
              <a:spcBef>
                <a:spcPts val="600"/>
              </a:spcBef>
            </a:pPr>
            <a:r>
              <a:rPr sz="1900">
                <a:solidFill>
                  <a:srgbClr val="1F2937"/>
                </a:solidFill>
                <a:latin typeface="Aptos"/>
              </a:rPr>
              <a:t>Ishonchli empirik xulosa turli asosli tekshiruvlarda ham saqlanishi kerak.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74519" y="4343400"/>
            <a:ext cx="73152" cy="73152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9184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Aptos"/>
              </a:rPr>
              <a:t>YAKUNIY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76072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0B1F33"/>
                </a:solidFill>
                <a:latin typeface="Aptos Display"/>
              </a:rPr>
              <a:t>Barcha bosqichlarni bitta real vaziyatda birlashtiramiz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097280" cy="254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tiu-blu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84048"/>
            <a:ext cx="960120" cy="40901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12064" y="6446520"/>
            <a:ext cx="11201400" cy="15240"/>
          </a:xfrm>
          <a:prstGeom prst="rect">
            <a:avLst/>
          </a:prstGeom>
          <a:solidFill>
            <a:srgbClr val="D9D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6510528"/>
            <a:ext cx="98755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TASHKENT INTERNATIONAL UNIVERSITY • EKONOMETRIKA • BAKALAVRIAT 3-KURS • by Sarvar Komilov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44784" y="6510528"/>
            <a:ext cx="8229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Aptos"/>
              </a:rPr>
              <a:t>55 / 57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1227836"/>
            <a:ext cx="10515600" cy="1026160"/>
          </a:xfrm>
          <a:prstGeom prst="roundRect">
            <a:avLst/>
          </a:prstGeom>
          <a:solidFill>
            <a:srgbClr val="F8F3E7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27000" rtlCol="0" anchor="t"/>
          <a:lstStyle/>
          <a:p>
            <a:pPr algn="l"/>
            <a:r>
              <a:rPr sz="2000" b="1" dirty="0">
                <a:solidFill>
                  <a:srgbClr val="0B1F33"/>
                </a:solidFill>
                <a:latin typeface="Aptos"/>
              </a:rPr>
              <a:t>Business question</a:t>
            </a:r>
          </a:p>
          <a:p>
            <a:pPr algn="l">
              <a:spcBef>
                <a:spcPts val="600"/>
              </a:spcBef>
            </a:pPr>
            <a:r>
              <a:rPr sz="2000" dirty="0">
                <a:solidFill>
                  <a:srgbClr val="1F2937"/>
                </a:solidFill>
                <a:latin typeface="Aptos"/>
              </a:rPr>
              <a:t>“Kafe </a:t>
            </a:r>
            <a:r>
              <a:rPr sz="2000" dirty="0" err="1">
                <a:solidFill>
                  <a:srgbClr val="1F2937"/>
                </a:solidFill>
                <a:latin typeface="Aptos"/>
              </a:rPr>
              <a:t>yetkazib</a:t>
            </a:r>
            <a:r>
              <a:rPr sz="2000" dirty="0">
                <a:solidFill>
                  <a:srgbClr val="1F2937"/>
                </a:solidFill>
                <a:latin typeface="Aptos"/>
              </a:rPr>
              <a:t> </a:t>
            </a:r>
            <a:r>
              <a:rPr sz="2000" dirty="0" err="1">
                <a:solidFill>
                  <a:srgbClr val="1F2937"/>
                </a:solidFill>
                <a:latin typeface="Aptos"/>
              </a:rPr>
              <a:t>berish</a:t>
            </a:r>
            <a:r>
              <a:rPr sz="2000" dirty="0">
                <a:solidFill>
                  <a:srgbClr val="1F2937"/>
                </a:solidFill>
                <a:latin typeface="Aptos"/>
              </a:rPr>
              <a:t> </a:t>
            </a:r>
            <a:r>
              <a:rPr sz="2000" dirty="0" err="1">
                <a:solidFill>
                  <a:srgbClr val="1F2937"/>
                </a:solidFill>
                <a:latin typeface="Aptos"/>
              </a:rPr>
              <a:t>xizmatiga</a:t>
            </a:r>
            <a:r>
              <a:rPr sz="2000" dirty="0">
                <a:solidFill>
                  <a:srgbClr val="1F2937"/>
                </a:solidFill>
                <a:latin typeface="Aptos"/>
              </a:rPr>
              <a:t> </a:t>
            </a:r>
            <a:r>
              <a:rPr sz="2000" dirty="0" err="1">
                <a:solidFill>
                  <a:srgbClr val="1F2937"/>
                </a:solidFill>
                <a:latin typeface="Aptos"/>
              </a:rPr>
              <a:t>qo‘shilsa</a:t>
            </a:r>
            <a:r>
              <a:rPr sz="2000" dirty="0">
                <a:solidFill>
                  <a:srgbClr val="1F2937"/>
                </a:solidFill>
                <a:latin typeface="Aptos"/>
              </a:rPr>
              <a:t>, </a:t>
            </a:r>
            <a:r>
              <a:rPr sz="2000" dirty="0" err="1">
                <a:solidFill>
                  <a:srgbClr val="1F2937"/>
                </a:solidFill>
                <a:latin typeface="Aptos"/>
              </a:rPr>
              <a:t>kunlik</a:t>
            </a:r>
            <a:r>
              <a:rPr sz="2000" dirty="0">
                <a:solidFill>
                  <a:srgbClr val="1F2937"/>
                </a:solidFill>
                <a:latin typeface="Aptos"/>
              </a:rPr>
              <a:t> </a:t>
            </a:r>
            <a:r>
              <a:rPr sz="2000" dirty="0" err="1">
                <a:solidFill>
                  <a:srgbClr val="1F2937"/>
                </a:solidFill>
                <a:latin typeface="Aptos"/>
              </a:rPr>
              <a:t>sotuv</a:t>
            </a:r>
            <a:r>
              <a:rPr sz="2000" dirty="0">
                <a:solidFill>
                  <a:srgbClr val="1F2937"/>
                </a:solidFill>
                <a:latin typeface="Aptos"/>
              </a:rPr>
              <a:t> </a:t>
            </a:r>
            <a:r>
              <a:rPr sz="2000" dirty="0" err="1">
                <a:solidFill>
                  <a:srgbClr val="1F2937"/>
                </a:solidFill>
                <a:latin typeface="Aptos"/>
              </a:rPr>
              <a:t>hajmi</a:t>
            </a:r>
            <a:r>
              <a:rPr sz="2000" dirty="0">
                <a:solidFill>
                  <a:srgbClr val="1F2937"/>
                </a:solidFill>
                <a:latin typeface="Aptos"/>
              </a:rPr>
              <a:t> </a:t>
            </a:r>
            <a:r>
              <a:rPr sz="2000" dirty="0" err="1">
                <a:solidFill>
                  <a:srgbClr val="1F2937"/>
                </a:solidFill>
                <a:latin typeface="Aptos"/>
              </a:rPr>
              <a:t>yuqoriroq</a:t>
            </a:r>
            <a:r>
              <a:rPr sz="2000" dirty="0">
                <a:solidFill>
                  <a:srgbClr val="1F2937"/>
                </a:solidFill>
                <a:latin typeface="Aptos"/>
              </a:rPr>
              <a:t> </a:t>
            </a:r>
            <a:r>
              <a:rPr sz="2000" dirty="0" err="1">
                <a:solidFill>
                  <a:srgbClr val="1F2937"/>
                </a:solidFill>
                <a:latin typeface="Aptos"/>
              </a:rPr>
              <a:t>bo‘ladimi</a:t>
            </a:r>
            <a:r>
              <a:rPr sz="2000" dirty="0">
                <a:solidFill>
                  <a:srgbClr val="1F2937"/>
                </a:solidFill>
                <a:latin typeface="Aptos"/>
              </a:rPr>
              <a:t>?”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325880"/>
            <a:ext cx="73152" cy="685800"/>
          </a:xfrm>
          <a:prstGeom prst="roundRect">
            <a:avLst/>
          </a:prstGeom>
          <a:solidFill>
            <a:srgbClr val="C2A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22960" y="2423160"/>
            <a:ext cx="105156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300" b="0">
                <a:solidFill>
                  <a:srgbClr val="0B1F33"/>
                </a:solidFill>
                <a:latin typeface="Cambria Math"/>
              </a:rPr>
              <a:t>Sotuvₜ = β₀ + β₁Deliveryₜ + β₂Weekendₜ + β₃Reklamaₜ + uₜ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429000"/>
            <a:ext cx="3931920" cy="164592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0">
                <a:solidFill>
                  <a:srgbClr val="1F2937"/>
                </a:solidFill>
                <a:latin typeface="Aptos"/>
              </a:rPr>
              <a:t>• Delivery</a:t>
            </a:r>
          </a:p>
          <a:p>
            <a:pPr algn="l">
              <a:spcAft>
                <a:spcPts val="500"/>
              </a:spcAft>
            </a:pPr>
            <a:r>
              <a:rPr sz="2000" b="0">
                <a:solidFill>
                  <a:srgbClr val="1F2937"/>
                </a:solidFill>
                <a:latin typeface="Aptos"/>
              </a:rPr>
              <a:t>• Narx</a:t>
            </a:r>
          </a:p>
          <a:p>
            <a:pPr algn="l">
              <a:spcAft>
                <a:spcPts val="500"/>
              </a:spcAft>
            </a:pPr>
            <a:r>
              <a:rPr sz="2000" b="0">
                <a:solidFill>
                  <a:srgbClr val="1F2937"/>
                </a:solidFill>
                <a:latin typeface="Aptos"/>
              </a:rPr>
              <a:t>• Weekend</a:t>
            </a:r>
          </a:p>
          <a:p>
            <a:pPr algn="l">
              <a:spcAft>
                <a:spcPts val="500"/>
              </a:spcAft>
            </a:pPr>
            <a:r>
              <a:rPr sz="2000" b="0">
                <a:solidFill>
                  <a:srgbClr val="1F2937"/>
                </a:solidFill>
                <a:latin typeface="Aptos"/>
              </a:rPr>
              <a:t>• Reklama</a:t>
            </a:r>
          </a:p>
          <a:p>
            <a:pPr algn="l">
              <a:spcAft>
                <a:spcPts val="500"/>
              </a:spcAft>
            </a:pPr>
            <a:r>
              <a:rPr sz="2000" b="0">
                <a:solidFill>
                  <a:srgbClr val="1F2937"/>
                </a:solidFill>
                <a:latin typeface="Aptos"/>
              </a:rPr>
              <a:t>• Ob-havo</a:t>
            </a:r>
          </a:p>
          <a:p>
            <a:pPr algn="l">
              <a:spcAft>
                <a:spcPts val="500"/>
              </a:spcAft>
            </a:pPr>
            <a:r>
              <a:rPr sz="2000" b="0">
                <a:solidFill>
                  <a:srgbClr val="1F2937"/>
                </a:solidFill>
                <a:latin typeface="Aptos"/>
              </a:rPr>
              <a:t>• Mahalliy tadbirlar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52744" y="3278124"/>
            <a:ext cx="5303520" cy="2201164"/>
          </a:xfrm>
          <a:prstGeom prst="roundRect">
            <a:avLst/>
          </a:prstGeom>
          <a:solidFill>
            <a:srgbClr val="E5F6F4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27000" rtlCol="0" anchor="t"/>
          <a:lstStyle/>
          <a:p>
            <a:pPr algn="l"/>
            <a:r>
              <a:rPr sz="2100" b="1" dirty="0" err="1">
                <a:solidFill>
                  <a:srgbClr val="0B1F33"/>
                </a:solidFill>
                <a:latin typeface="Aptos"/>
              </a:rPr>
              <a:t>Auditoriya</a:t>
            </a:r>
            <a:r>
              <a:rPr sz="2100" b="1" dirty="0">
                <a:solidFill>
                  <a:srgbClr val="0B1F33"/>
                </a:solidFill>
                <a:latin typeface="Aptos"/>
              </a:rPr>
              <a:t> </a:t>
            </a:r>
            <a:r>
              <a:rPr sz="2100" b="1" dirty="0" err="1">
                <a:solidFill>
                  <a:srgbClr val="0B1F33"/>
                </a:solidFill>
                <a:latin typeface="Aptos"/>
              </a:rPr>
              <a:t>savollari</a:t>
            </a:r>
            <a:endParaRPr sz="2100" b="1" dirty="0">
              <a:solidFill>
                <a:srgbClr val="0B1F33"/>
              </a:solidFill>
              <a:latin typeface="Aptos"/>
            </a:endParaRPr>
          </a:p>
          <a:p>
            <a:pPr algn="l">
              <a:spcBef>
                <a:spcPts val="600"/>
              </a:spcBef>
            </a:pPr>
            <a:r>
              <a:rPr sz="1800" dirty="0">
                <a:solidFill>
                  <a:srgbClr val="1F2937"/>
                </a:solidFill>
                <a:latin typeface="Aptos"/>
              </a:rPr>
              <a:t>Y </a:t>
            </a:r>
            <a:r>
              <a:rPr sz="1800" dirty="0" err="1">
                <a:solidFill>
                  <a:srgbClr val="1F2937"/>
                </a:solidFill>
                <a:latin typeface="Aptos"/>
              </a:rPr>
              <a:t>qaysi</a:t>
            </a:r>
            <a:r>
              <a:rPr sz="1800" dirty="0">
                <a:solidFill>
                  <a:srgbClr val="1F2937"/>
                </a:solidFill>
                <a:latin typeface="Aptos"/>
              </a:rPr>
              <a:t>?
</a:t>
            </a:r>
            <a:r>
              <a:rPr sz="1800" dirty="0" err="1">
                <a:solidFill>
                  <a:srgbClr val="1F2937"/>
                </a:solidFill>
                <a:latin typeface="Aptos"/>
              </a:rPr>
              <a:t>Asosiy</a:t>
            </a:r>
            <a:r>
              <a:rPr sz="1800" dirty="0">
                <a:solidFill>
                  <a:srgbClr val="1F2937"/>
                </a:solidFill>
                <a:latin typeface="Aptos"/>
              </a:rPr>
              <a:t> X </a:t>
            </a:r>
            <a:r>
              <a:rPr sz="1800" dirty="0" err="1">
                <a:solidFill>
                  <a:srgbClr val="1F2937"/>
                </a:solidFill>
                <a:latin typeface="Aptos"/>
              </a:rPr>
              <a:t>qaysi</a:t>
            </a:r>
            <a:r>
              <a:rPr sz="1800" dirty="0">
                <a:solidFill>
                  <a:srgbClr val="1F2937"/>
                </a:solidFill>
                <a:latin typeface="Aptos"/>
              </a:rPr>
              <a:t>?
Qaysi </a:t>
            </a:r>
            <a:r>
              <a:rPr sz="1800" dirty="0" err="1">
                <a:solidFill>
                  <a:srgbClr val="1F2937"/>
                </a:solidFill>
                <a:latin typeface="Aptos"/>
              </a:rPr>
              <a:t>o‘zgaruvchi</a:t>
            </a:r>
            <a:r>
              <a:rPr sz="1800" dirty="0">
                <a:solidFill>
                  <a:srgbClr val="1F2937"/>
                </a:solidFill>
                <a:latin typeface="Aptos"/>
              </a:rPr>
              <a:t> dummy?
u </a:t>
            </a:r>
            <a:r>
              <a:rPr sz="1800" dirty="0" err="1">
                <a:solidFill>
                  <a:srgbClr val="1F2937"/>
                </a:solidFill>
                <a:latin typeface="Aptos"/>
              </a:rPr>
              <a:t>tarkibida</a:t>
            </a:r>
            <a:r>
              <a:rPr sz="1800" dirty="0">
                <a:solidFill>
                  <a:srgbClr val="1F2937"/>
                </a:solidFill>
                <a:latin typeface="Aptos"/>
              </a:rPr>
              <a:t> </a:t>
            </a:r>
            <a:r>
              <a:rPr sz="1800" dirty="0" err="1">
                <a:solidFill>
                  <a:srgbClr val="1F2937"/>
                </a:solidFill>
                <a:latin typeface="Aptos"/>
              </a:rPr>
              <a:t>nima</a:t>
            </a:r>
            <a:r>
              <a:rPr sz="1800" dirty="0">
                <a:solidFill>
                  <a:srgbClr val="1F2937"/>
                </a:solidFill>
                <a:latin typeface="Aptos"/>
              </a:rPr>
              <a:t> </a:t>
            </a:r>
            <a:r>
              <a:rPr sz="1800" dirty="0" err="1">
                <a:solidFill>
                  <a:srgbClr val="1F2937"/>
                </a:solidFill>
                <a:latin typeface="Aptos"/>
              </a:rPr>
              <a:t>qolishi</a:t>
            </a:r>
            <a:r>
              <a:rPr sz="1800" dirty="0">
                <a:solidFill>
                  <a:srgbClr val="1F2937"/>
                </a:solidFill>
                <a:latin typeface="Aptos"/>
              </a:rPr>
              <a:t> </a:t>
            </a:r>
            <a:r>
              <a:rPr sz="1800" dirty="0" err="1">
                <a:solidFill>
                  <a:srgbClr val="1F2937"/>
                </a:solidFill>
                <a:latin typeface="Aptos"/>
              </a:rPr>
              <a:t>mumkin</a:t>
            </a:r>
            <a:r>
              <a:rPr sz="1800" dirty="0">
                <a:solidFill>
                  <a:srgbClr val="1F2937"/>
                </a:solidFill>
                <a:latin typeface="Aptos"/>
              </a:rPr>
              <a:t>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60720" y="3429000"/>
            <a:ext cx="73152" cy="164592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9184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Aptos"/>
              </a:rPr>
              <a:t>CASE TALQINI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76072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0B1F33"/>
                </a:solidFill>
                <a:latin typeface="Aptos Display"/>
              </a:rPr>
              <a:t>Natijani qanday aytamiz?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097280" cy="254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tiu-blu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84048"/>
            <a:ext cx="960120" cy="40901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12064" y="6446520"/>
            <a:ext cx="11201400" cy="15240"/>
          </a:xfrm>
          <a:prstGeom prst="rect">
            <a:avLst/>
          </a:prstGeom>
          <a:solidFill>
            <a:srgbClr val="D9D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6510528"/>
            <a:ext cx="98755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TASHKENT INTERNATIONAL UNIVERSITY • EKONOMETRIKA • BAKALAVRIAT 3-KURS • by Sarvar Komilov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44784" y="6510528"/>
            <a:ext cx="8229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Aptos"/>
              </a:rPr>
              <a:t>56 / 57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1325880"/>
            <a:ext cx="4846320" cy="548640"/>
          </a:xfrm>
          <a:prstGeom prst="roundRect">
            <a:avLst/>
          </a:prstGeom>
          <a:solidFill>
            <a:srgbClr val="F8F3E7"/>
          </a:solidFill>
          <a:ln w="12700">
            <a:solidFill>
              <a:srgbClr val="C2A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0B1F33"/>
                </a:solidFill>
                <a:latin typeface="Aptos"/>
              </a:rPr>
              <a:t>Shartli misol: β̂₁ = 350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21080" y="2148840"/>
            <a:ext cx="5074920" cy="1584960"/>
          </a:xfrm>
          <a:prstGeom prst="roundRect">
            <a:avLst/>
          </a:prstGeom>
          <a:solidFill>
            <a:srgbClr val="F8E8E8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27000" rtlCol="0" anchor="t"/>
          <a:lstStyle/>
          <a:p>
            <a:pPr algn="ctr"/>
            <a:r>
              <a:rPr sz="2400" b="1" dirty="0" err="1">
                <a:solidFill>
                  <a:srgbClr val="0B1F33"/>
                </a:solidFill>
                <a:latin typeface="Aptos"/>
              </a:rPr>
              <a:t>NOTO‘G‘RI</a:t>
            </a:r>
            <a:endParaRPr sz="2400" b="1" dirty="0">
              <a:solidFill>
                <a:srgbClr val="0B1F33"/>
              </a:solidFill>
              <a:latin typeface="Aptos"/>
            </a:endParaRPr>
          </a:p>
          <a:p>
            <a:pPr algn="ctr">
              <a:spcBef>
                <a:spcPts val="600"/>
              </a:spcBef>
            </a:pPr>
            <a:r>
              <a:rPr sz="2200" dirty="0">
                <a:solidFill>
                  <a:srgbClr val="1F2937"/>
                </a:solidFill>
                <a:latin typeface="Aptos"/>
              </a:rPr>
              <a:t>“Delivery </a:t>
            </a:r>
            <a:r>
              <a:rPr sz="2200" dirty="0" err="1">
                <a:solidFill>
                  <a:srgbClr val="1F2937"/>
                </a:solidFill>
                <a:latin typeface="Aptos"/>
              </a:rPr>
              <a:t>sotuvni</a:t>
            </a:r>
            <a:r>
              <a:rPr sz="2200" dirty="0">
                <a:solidFill>
                  <a:srgbClr val="1F2937"/>
                </a:solidFill>
                <a:latin typeface="Aptos"/>
              </a:rPr>
              <a:t> 350 </a:t>
            </a:r>
            <a:r>
              <a:rPr sz="2200" dirty="0" err="1">
                <a:solidFill>
                  <a:srgbClr val="1F2937"/>
                </a:solidFill>
                <a:latin typeface="Aptos"/>
              </a:rPr>
              <a:t>birlikka</a:t>
            </a:r>
            <a:r>
              <a:rPr sz="2200" dirty="0">
                <a:solidFill>
                  <a:srgbClr val="1F2937"/>
                </a:solidFill>
                <a:latin typeface="Aptos"/>
              </a:rPr>
              <a:t> </a:t>
            </a:r>
            <a:r>
              <a:rPr sz="2200" dirty="0" err="1">
                <a:solidFill>
                  <a:srgbClr val="1F2937"/>
                </a:solidFill>
                <a:latin typeface="Aptos"/>
              </a:rPr>
              <a:t>oshiradi</a:t>
            </a:r>
            <a:r>
              <a:rPr sz="2200" dirty="0">
                <a:solidFill>
                  <a:srgbClr val="1F2937"/>
                </a:solidFill>
                <a:latin typeface="Aptos"/>
              </a:rPr>
              <a:t>.”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2240280"/>
            <a:ext cx="73152" cy="1188720"/>
          </a:xfrm>
          <a:prstGeom prst="roundRect">
            <a:avLst/>
          </a:prstGeom>
          <a:solidFill>
            <a:srgbClr val="A3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446520" y="2148840"/>
            <a:ext cx="5074920" cy="1600200"/>
          </a:xfrm>
          <a:prstGeom prst="roundRect">
            <a:avLst/>
          </a:prstGeom>
          <a:solidFill>
            <a:srgbClr val="E5F6F4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27000" rtlCol="0" anchor="t"/>
          <a:lstStyle/>
          <a:p>
            <a:pPr algn="ctr"/>
            <a:r>
              <a:rPr sz="2400" b="1" dirty="0" err="1">
                <a:solidFill>
                  <a:srgbClr val="0B1F33"/>
                </a:solidFill>
                <a:latin typeface="Aptos"/>
              </a:rPr>
              <a:t>TO‘G‘RI</a:t>
            </a:r>
            <a:endParaRPr sz="2400" b="1" dirty="0">
              <a:solidFill>
                <a:srgbClr val="0B1F33"/>
              </a:solidFill>
              <a:latin typeface="Aptos"/>
            </a:endParaRPr>
          </a:p>
          <a:p>
            <a:pPr algn="ctr">
              <a:spcBef>
                <a:spcPts val="600"/>
              </a:spcBef>
            </a:pPr>
            <a:r>
              <a:rPr sz="1800" dirty="0">
                <a:solidFill>
                  <a:srgbClr val="1F2937"/>
                </a:solidFill>
                <a:latin typeface="Aptos"/>
              </a:rPr>
              <a:t>“</a:t>
            </a:r>
            <a:r>
              <a:rPr sz="1800" dirty="0" err="1">
                <a:solidFill>
                  <a:srgbClr val="1F2937"/>
                </a:solidFill>
                <a:latin typeface="Aptos"/>
              </a:rPr>
              <a:t>Boshqa</a:t>
            </a:r>
            <a:r>
              <a:rPr sz="1800" dirty="0">
                <a:solidFill>
                  <a:srgbClr val="1F2937"/>
                </a:solidFill>
                <a:latin typeface="Aptos"/>
              </a:rPr>
              <a:t> </a:t>
            </a:r>
            <a:r>
              <a:rPr sz="1800" dirty="0" err="1">
                <a:solidFill>
                  <a:srgbClr val="1F2937"/>
                </a:solidFill>
                <a:latin typeface="Aptos"/>
              </a:rPr>
              <a:t>kiritilgan</a:t>
            </a:r>
            <a:r>
              <a:rPr sz="1800" dirty="0">
                <a:solidFill>
                  <a:srgbClr val="1F2937"/>
                </a:solidFill>
                <a:latin typeface="Aptos"/>
              </a:rPr>
              <a:t> </a:t>
            </a:r>
            <a:r>
              <a:rPr sz="1800" dirty="0" err="1">
                <a:solidFill>
                  <a:srgbClr val="1F2937"/>
                </a:solidFill>
                <a:latin typeface="Aptos"/>
              </a:rPr>
              <a:t>omillar</a:t>
            </a:r>
            <a:r>
              <a:rPr sz="1800" dirty="0">
                <a:solidFill>
                  <a:srgbClr val="1F2937"/>
                </a:solidFill>
                <a:latin typeface="Aptos"/>
              </a:rPr>
              <a:t> </a:t>
            </a:r>
            <a:r>
              <a:rPr sz="1800" dirty="0" err="1">
                <a:solidFill>
                  <a:srgbClr val="1F2937"/>
                </a:solidFill>
                <a:latin typeface="Aptos"/>
              </a:rPr>
              <a:t>nazorat</a:t>
            </a:r>
            <a:r>
              <a:rPr sz="1800" dirty="0">
                <a:solidFill>
                  <a:srgbClr val="1F2937"/>
                </a:solidFill>
                <a:latin typeface="Aptos"/>
              </a:rPr>
              <a:t> </a:t>
            </a:r>
            <a:r>
              <a:rPr sz="1800" dirty="0" err="1">
                <a:solidFill>
                  <a:srgbClr val="1F2937"/>
                </a:solidFill>
                <a:latin typeface="Aptos"/>
              </a:rPr>
              <a:t>qilinganda</a:t>
            </a:r>
            <a:r>
              <a:rPr sz="1800" dirty="0">
                <a:solidFill>
                  <a:srgbClr val="1F2937"/>
                </a:solidFill>
                <a:latin typeface="Aptos"/>
              </a:rPr>
              <a:t>, delivery </a:t>
            </a:r>
            <a:r>
              <a:rPr sz="1800" dirty="0" err="1">
                <a:solidFill>
                  <a:srgbClr val="1F2937"/>
                </a:solidFill>
                <a:latin typeface="Aptos"/>
              </a:rPr>
              <a:t>mavjud</a:t>
            </a:r>
            <a:r>
              <a:rPr sz="1800" dirty="0">
                <a:solidFill>
                  <a:srgbClr val="1F2937"/>
                </a:solidFill>
                <a:latin typeface="Aptos"/>
              </a:rPr>
              <a:t> </a:t>
            </a:r>
            <a:r>
              <a:rPr sz="1800" dirty="0" err="1">
                <a:solidFill>
                  <a:srgbClr val="1F2937"/>
                </a:solidFill>
                <a:latin typeface="Aptos"/>
              </a:rPr>
              <a:t>kunlarda</a:t>
            </a:r>
            <a:r>
              <a:rPr sz="1800" dirty="0">
                <a:solidFill>
                  <a:srgbClr val="1F2937"/>
                </a:solidFill>
                <a:latin typeface="Aptos"/>
              </a:rPr>
              <a:t> </a:t>
            </a:r>
            <a:r>
              <a:rPr sz="1800" dirty="0" err="1">
                <a:solidFill>
                  <a:srgbClr val="1F2937"/>
                </a:solidFill>
                <a:latin typeface="Aptos"/>
              </a:rPr>
              <a:t>sotuv</a:t>
            </a:r>
            <a:r>
              <a:rPr sz="1800" dirty="0">
                <a:solidFill>
                  <a:srgbClr val="1F2937"/>
                </a:solidFill>
                <a:latin typeface="Aptos"/>
              </a:rPr>
              <a:t> </a:t>
            </a:r>
            <a:r>
              <a:rPr sz="1800" dirty="0" err="1">
                <a:solidFill>
                  <a:srgbClr val="1F2937"/>
                </a:solidFill>
                <a:latin typeface="Aptos"/>
              </a:rPr>
              <a:t>o‘rtacha</a:t>
            </a:r>
            <a:r>
              <a:rPr sz="1800" dirty="0">
                <a:solidFill>
                  <a:srgbClr val="1F2937"/>
                </a:solidFill>
                <a:latin typeface="Aptos"/>
              </a:rPr>
              <a:t> 350 </a:t>
            </a:r>
            <a:r>
              <a:rPr sz="1800" dirty="0" err="1">
                <a:solidFill>
                  <a:srgbClr val="1F2937"/>
                </a:solidFill>
                <a:latin typeface="Aptos"/>
              </a:rPr>
              <a:t>birlik</a:t>
            </a:r>
            <a:r>
              <a:rPr sz="1800" dirty="0">
                <a:solidFill>
                  <a:srgbClr val="1F2937"/>
                </a:solidFill>
                <a:latin typeface="Aptos"/>
              </a:rPr>
              <a:t> </a:t>
            </a:r>
            <a:r>
              <a:rPr sz="1800" dirty="0" err="1">
                <a:solidFill>
                  <a:srgbClr val="1F2937"/>
                </a:solidFill>
                <a:latin typeface="Aptos"/>
              </a:rPr>
              <a:t>yuqori</a:t>
            </a:r>
            <a:r>
              <a:rPr sz="1800" dirty="0">
                <a:solidFill>
                  <a:srgbClr val="1F2937"/>
                </a:solidFill>
                <a:latin typeface="Aptos"/>
              </a:rPr>
              <a:t> </a:t>
            </a:r>
            <a:r>
              <a:rPr sz="1800" dirty="0" err="1">
                <a:solidFill>
                  <a:srgbClr val="1F2937"/>
                </a:solidFill>
                <a:latin typeface="Aptos"/>
              </a:rPr>
              <a:t>bo‘lgan</a:t>
            </a:r>
            <a:r>
              <a:rPr sz="1800" dirty="0">
                <a:solidFill>
                  <a:srgbClr val="1F2937"/>
                </a:solidFill>
                <a:latin typeface="Aptos"/>
              </a:rPr>
              <a:t>.”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240280"/>
            <a:ext cx="73152" cy="118872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97280" y="4023360"/>
            <a:ext cx="9509760" cy="9144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0">
                <a:solidFill>
                  <a:srgbClr val="1F2937"/>
                </a:solidFill>
                <a:latin typeface="Aptos"/>
              </a:rPr>
              <a:t>• delivery aynan talab yuqori kunlarda yoqilgan bo‘lishi mumkin</a:t>
            </a:r>
          </a:p>
          <a:p>
            <a:pPr algn="l">
              <a:spcAft>
                <a:spcPts val="500"/>
              </a:spcAft>
            </a:pPr>
            <a:r>
              <a:rPr sz="2000" b="0">
                <a:solidFill>
                  <a:srgbClr val="1F2937"/>
                </a:solidFill>
                <a:latin typeface="Aptos"/>
              </a:rPr>
              <a:t>• aksiyalar bilan birga ishga tushirilgan bo‘lishi mumkin</a:t>
            </a:r>
          </a:p>
          <a:p>
            <a:pPr algn="l">
              <a:spcAft>
                <a:spcPts val="500"/>
              </a:spcAft>
            </a:pPr>
            <a:r>
              <a:rPr sz="2000" b="0">
                <a:solidFill>
                  <a:srgbClr val="1F2937"/>
                </a:solidFill>
                <a:latin typeface="Aptos"/>
              </a:rPr>
              <a:t>• mavsumiy omillar mavjud bo‘lishi mumkin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99032" y="5227320"/>
            <a:ext cx="9784080" cy="831667"/>
          </a:xfrm>
          <a:prstGeom prst="roundRect">
            <a:avLst/>
          </a:prstGeom>
          <a:solidFill>
            <a:srgbClr val="F8E8E8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27000" rtlCol="0" anchor="t"/>
          <a:lstStyle/>
          <a:p>
            <a:pPr algn="ctr"/>
            <a:r>
              <a:rPr sz="1800" b="1" dirty="0" err="1">
                <a:solidFill>
                  <a:srgbClr val="0B1F33"/>
                </a:solidFill>
                <a:latin typeface="Aptos"/>
              </a:rPr>
              <a:t>To‘g‘ri</a:t>
            </a:r>
            <a:r>
              <a:rPr sz="1800" b="1" dirty="0">
                <a:solidFill>
                  <a:srgbClr val="0B1F33"/>
                </a:solidFill>
                <a:latin typeface="Aptos"/>
              </a:rPr>
              <a:t> econometric interpretation </a:t>
            </a:r>
            <a:r>
              <a:rPr sz="1800" b="1" dirty="0" err="1">
                <a:solidFill>
                  <a:srgbClr val="0B1F33"/>
                </a:solidFill>
                <a:latin typeface="Aptos"/>
              </a:rPr>
              <a:t>koeffitsiyentdan</a:t>
            </a:r>
            <a:r>
              <a:rPr sz="1800" b="1" dirty="0">
                <a:solidFill>
                  <a:srgbClr val="0B1F33"/>
                </a:solidFill>
                <a:latin typeface="Aptos"/>
              </a:rPr>
              <a:t> </a:t>
            </a:r>
            <a:r>
              <a:rPr sz="1800" b="1" dirty="0" err="1">
                <a:solidFill>
                  <a:srgbClr val="0B1F33"/>
                </a:solidFill>
                <a:latin typeface="Aptos"/>
              </a:rPr>
              <a:t>boshlanadi</a:t>
            </a:r>
            <a:r>
              <a:rPr sz="1800" b="1" dirty="0">
                <a:solidFill>
                  <a:srgbClr val="0B1F33"/>
                </a:solidFill>
                <a:latin typeface="Aptos"/>
              </a:rPr>
              <a:t>, </a:t>
            </a:r>
            <a:r>
              <a:rPr sz="1800" b="1" dirty="0" err="1">
                <a:solidFill>
                  <a:srgbClr val="0B1F33"/>
                </a:solidFill>
                <a:latin typeface="Aptos"/>
              </a:rPr>
              <a:t>lekin</a:t>
            </a:r>
            <a:r>
              <a:rPr sz="1800" b="1" dirty="0">
                <a:solidFill>
                  <a:srgbClr val="0B1F33"/>
                </a:solidFill>
                <a:latin typeface="Aptos"/>
              </a:rPr>
              <a:t> </a:t>
            </a:r>
            <a:r>
              <a:rPr sz="1800" b="1" dirty="0" err="1">
                <a:solidFill>
                  <a:srgbClr val="0B1F33"/>
                </a:solidFill>
                <a:latin typeface="Aptos"/>
              </a:rPr>
              <a:t>koeffitsiyent</a:t>
            </a:r>
            <a:r>
              <a:rPr sz="1800" b="1" dirty="0">
                <a:solidFill>
                  <a:srgbClr val="0B1F33"/>
                </a:solidFill>
                <a:latin typeface="Aptos"/>
              </a:rPr>
              <a:t> </a:t>
            </a:r>
            <a:r>
              <a:rPr sz="1800" b="1" dirty="0" err="1">
                <a:solidFill>
                  <a:srgbClr val="0B1F33"/>
                </a:solidFill>
                <a:latin typeface="Aptos"/>
              </a:rPr>
              <a:t>bilan</a:t>
            </a:r>
            <a:r>
              <a:rPr sz="1800" b="1" dirty="0">
                <a:solidFill>
                  <a:srgbClr val="0B1F33"/>
                </a:solidFill>
                <a:latin typeface="Aptos"/>
              </a:rPr>
              <a:t> </a:t>
            </a:r>
            <a:r>
              <a:rPr sz="1800" b="1" dirty="0" err="1">
                <a:solidFill>
                  <a:srgbClr val="0B1F33"/>
                </a:solidFill>
                <a:latin typeface="Aptos"/>
              </a:rPr>
              <a:t>tugamaydi</a:t>
            </a:r>
            <a:r>
              <a:rPr sz="1800" b="1" dirty="0">
                <a:solidFill>
                  <a:srgbClr val="0B1F33"/>
                </a:solidFill>
                <a:latin typeface="Aptos"/>
              </a:rPr>
              <a:t>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70432" y="5345973"/>
            <a:ext cx="73152" cy="594360"/>
          </a:xfrm>
          <a:prstGeom prst="roundRect">
            <a:avLst/>
          </a:prstGeom>
          <a:solidFill>
            <a:srgbClr val="A3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594360"/>
            <a:ext cx="103327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 Display"/>
              </a:rPr>
              <a:t>Ekonometrik fikrlashning asosiy mantiqi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371600"/>
            <a:ext cx="2743200" cy="390144"/>
          </a:xfrm>
          <a:prstGeom prst="roundRect">
            <a:avLst/>
          </a:prstGeom>
          <a:solidFill>
            <a:srgbClr val="E5F6F4"/>
          </a:solidFill>
          <a:ln w="12700">
            <a:solidFill>
              <a:srgbClr val="C2A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B1F33"/>
                </a:solidFill>
                <a:latin typeface="Aptos"/>
              </a:rPr>
              <a:t>SAVOL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21408" y="1743456"/>
            <a:ext cx="14630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C2A56B"/>
                </a:solidFill>
                <a:latin typeface="Aptos"/>
              </a:rPr>
              <a:t>↓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71472"/>
            <a:ext cx="2743200" cy="3901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A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B1F33"/>
                </a:solidFill>
                <a:latin typeface="Aptos"/>
              </a:rPr>
              <a:t>NAZARIYA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21408" y="2243328"/>
            <a:ext cx="14630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C2A56B"/>
                </a:solidFill>
                <a:latin typeface="Aptos"/>
              </a:rPr>
              <a:t>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371344"/>
            <a:ext cx="2743200" cy="390144"/>
          </a:xfrm>
          <a:prstGeom prst="roundRect">
            <a:avLst/>
          </a:prstGeom>
          <a:solidFill>
            <a:srgbClr val="E5F6F4"/>
          </a:solidFill>
          <a:ln w="12700">
            <a:solidFill>
              <a:srgbClr val="C2A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B1F33"/>
                </a:solidFill>
                <a:latin typeface="Aptos"/>
              </a:rPr>
              <a:t>O‘ZGARUVCHILAR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21408" y="2743200"/>
            <a:ext cx="14630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C2A56B"/>
                </a:solidFill>
                <a:latin typeface="Aptos"/>
              </a:rPr>
              <a:t>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871216"/>
            <a:ext cx="2743200" cy="3901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A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B1F33"/>
                </a:solidFill>
                <a:latin typeface="Aptos"/>
              </a:rPr>
              <a:t>MA’LUMOT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21408" y="3243072"/>
            <a:ext cx="14630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C2A56B"/>
                </a:solidFill>
                <a:latin typeface="Aptos"/>
              </a:rPr>
              <a:t>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371088"/>
            <a:ext cx="2743200" cy="390144"/>
          </a:xfrm>
          <a:prstGeom prst="roundRect">
            <a:avLst/>
          </a:prstGeom>
          <a:solidFill>
            <a:srgbClr val="E5F6F4"/>
          </a:solidFill>
          <a:ln w="12700">
            <a:solidFill>
              <a:srgbClr val="C2A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B1F33"/>
                </a:solidFill>
                <a:latin typeface="Aptos"/>
              </a:rPr>
              <a:t>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21408" y="3742944"/>
            <a:ext cx="14630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C2A56B"/>
                </a:solidFill>
                <a:latin typeface="Aptos"/>
              </a:rPr>
              <a:t>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870960"/>
            <a:ext cx="2743200" cy="3901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A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B1F33"/>
                </a:solidFill>
                <a:latin typeface="Aptos"/>
              </a:rPr>
              <a:t>BAHOLASH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21408" y="4242816"/>
            <a:ext cx="14630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C2A56B"/>
                </a:solidFill>
                <a:latin typeface="Aptos"/>
              </a:rPr>
              <a:t>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370832"/>
            <a:ext cx="2743200" cy="390144"/>
          </a:xfrm>
          <a:prstGeom prst="roundRect">
            <a:avLst/>
          </a:prstGeom>
          <a:solidFill>
            <a:srgbClr val="E5F6F4"/>
          </a:solidFill>
          <a:ln w="12700">
            <a:solidFill>
              <a:srgbClr val="C2A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B1F33"/>
                </a:solidFill>
                <a:latin typeface="Aptos"/>
              </a:rPr>
              <a:t>TEKSHIRISH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21408" y="4742688"/>
            <a:ext cx="14630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C2A56B"/>
                </a:solidFill>
                <a:latin typeface="Aptos"/>
              </a:rPr>
              <a:t>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870704"/>
            <a:ext cx="2743200" cy="3901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A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B1F33"/>
                </a:solidFill>
                <a:latin typeface="Aptos"/>
              </a:rPr>
              <a:t>IQTISODIY TALQIN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21408" y="5242560"/>
            <a:ext cx="14630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C2A56B"/>
                </a:solidFill>
                <a:latin typeface="Aptos"/>
              </a:rPr>
              <a:t>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5370576"/>
            <a:ext cx="2743200" cy="390144"/>
          </a:xfrm>
          <a:prstGeom prst="roundRect">
            <a:avLst/>
          </a:prstGeom>
          <a:solidFill>
            <a:srgbClr val="E5F6F4"/>
          </a:solidFill>
          <a:ln w="12700">
            <a:solidFill>
              <a:srgbClr val="C2A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B1F33"/>
                </a:solidFill>
                <a:latin typeface="Aptos"/>
              </a:rPr>
              <a:t>PROGNOZ / QAROR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77639" y="1417320"/>
            <a:ext cx="69494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 Display"/>
              </a:rPr>
              <a:t>Ekonometrikaning maqsadi tenglama topish emas.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77639" y="2331720"/>
            <a:ext cx="69494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E1E8F0"/>
                </a:solidFill>
                <a:latin typeface="Aptos Display"/>
              </a:rPr>
              <a:t>Maqsad — iqtisodiy savolga ma’lumotlar asosida ishonchli javob izlash.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69080" y="3246120"/>
            <a:ext cx="6812280" cy="141732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0">
                <a:solidFill>
                  <a:srgbClr val="E1E8F0"/>
                </a:solidFill>
                <a:latin typeface="Aptos"/>
              </a:rPr>
              <a:t>• Model — real iqtisodiyotning soddalashtirilgan tasviri.</a:t>
            </a:r>
          </a:p>
          <a:p>
            <a:pPr algn="l">
              <a:spcAft>
                <a:spcPts val="500"/>
              </a:spcAft>
            </a:pPr>
            <a:r>
              <a:rPr sz="1800" b="0">
                <a:solidFill>
                  <a:srgbClr val="E1E8F0"/>
                </a:solidFill>
                <a:latin typeface="Aptos"/>
              </a:rPr>
              <a:t>• Ekonometrik modelda tasodifiylik mavjud.</a:t>
            </a:r>
          </a:p>
          <a:p>
            <a:pPr algn="l">
              <a:spcAft>
                <a:spcPts val="500"/>
              </a:spcAft>
            </a:pPr>
            <a:r>
              <a:rPr sz="1800" b="0">
                <a:solidFill>
                  <a:srgbClr val="E1E8F0"/>
                </a:solidFill>
                <a:latin typeface="Aptos"/>
              </a:rPr>
              <a:t>• Y va X ni to‘g‘ri aniqlash muhim.</a:t>
            </a:r>
          </a:p>
          <a:p>
            <a:pPr algn="l">
              <a:spcAft>
                <a:spcPts val="500"/>
              </a:spcAft>
            </a:pPr>
            <a:r>
              <a:rPr sz="1800" b="0">
                <a:solidFill>
                  <a:srgbClr val="E1E8F0"/>
                </a:solidFill>
                <a:latin typeface="Aptos"/>
              </a:rPr>
              <a:t>• Korrelyatsiya sababiy ta’sir degani emas.</a:t>
            </a:r>
          </a:p>
          <a:p>
            <a:pPr algn="l">
              <a:spcAft>
                <a:spcPts val="500"/>
              </a:spcAft>
            </a:pPr>
            <a:r>
              <a:rPr sz="1800" b="0">
                <a:solidFill>
                  <a:srgbClr val="E1E8F0"/>
                </a:solidFill>
                <a:latin typeface="Aptos"/>
              </a:rPr>
              <a:t>• Natija iqtisodiy talqinsiz yetarli emas.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069080" y="5102352"/>
            <a:ext cx="6766560" cy="566928"/>
          </a:xfrm>
          <a:prstGeom prst="roundRect">
            <a:avLst/>
          </a:prstGeom>
          <a:solidFill>
            <a:srgbClr val="123052"/>
          </a:solidFill>
          <a:ln w="12700">
            <a:solidFill>
              <a:srgbClr val="C2A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Keyingi bosqich: regression modelini baholash va koeffitsiyentlarni talqin qilish</a:t>
            </a:r>
          </a:p>
        </p:txBody>
      </p:sp>
      <p:pic>
        <p:nvPicPr>
          <p:cNvPr id="24" name="Picture 23" descr="tiu-whi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502920"/>
            <a:ext cx="1005840" cy="428488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512064" y="6446520"/>
            <a:ext cx="11201400" cy="15240"/>
          </a:xfrm>
          <a:prstGeom prst="rect">
            <a:avLst/>
          </a:prstGeom>
          <a:solidFill>
            <a:srgbClr val="D9D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66928" y="6510528"/>
            <a:ext cx="98755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TASHKENT INTERNATIONAL UNIVERSITY • EKONOMETRIKA • BAKALAVRIAT 3-KURS • by Sarvar Komilov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44784" y="6510528"/>
            <a:ext cx="8229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Aptos"/>
              </a:rPr>
              <a:t>57 / 57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4810</Words>
  <Application>Microsoft Office PowerPoint</Application>
  <PresentationFormat>Widescreen</PresentationFormat>
  <Paragraphs>775</Paragraphs>
  <Slides>57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3" baseType="lpstr">
      <vt:lpstr>Aptos</vt:lpstr>
      <vt:lpstr>Aptos Display</vt:lpstr>
      <vt:lpstr>Arial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User</dc:creator>
  <cp:keywords/>
  <dc:description>generated using python-pptx</dc:description>
  <cp:lastModifiedBy>Sarvarjon Komilov</cp:lastModifiedBy>
  <cp:revision>2</cp:revision>
  <dcterms:created xsi:type="dcterms:W3CDTF">2013-01-27T09:14:16Z</dcterms:created>
  <dcterms:modified xsi:type="dcterms:W3CDTF">2026-09-14T14:35:44Z</dcterms:modified>
  <cp:category/>
</cp:coreProperties>
</file>